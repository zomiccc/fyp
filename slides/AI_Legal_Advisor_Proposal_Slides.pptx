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Presentation" id="{234d6765-8437-c472-cb2a-56b30c7ab18a}">
          <p14:sldIdLst>
            <p14:sldId id="256"/>
            <p14:sldId id="257"/>
            <p14:sldId id="258"/>
            <p14:sldId id="259"/>
            <p14:sldId id="260"/>
            <p14:sldId id="261"/>
            <p14:sldId id="262"/>
            <p14:sldId id="263"/>
            <p14:sldId id="264"/>
            <p14:sldId id="265"/>
          </p14:sldIdLst>
        </p14:section>
        <p14:section name="Additional Slides" id="{fd1a2966-457a-211f-9637-834c0b879a01}">
          <p14:sldIdLst>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supervisor. One-line pitch: a case-centred AI platform that explains property and family law using verified Pakistani sources, shows its citations, and connects citizens to verified lawyers.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pain points. Stress the last one: in a legal setting an unverifiable answer is risky, which is exactly why we use RAG with 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from the proposal. Objective 2 (highlighted) is the core of this presentation: the RAG assistant. Scope is deliberately limited to property and family disputes so the knowledge base stays small, high-quality and verifiable.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combines three parts. The RAG assistant is the technical heart and is explained in detail on the next slides. Three user roles: citizen, lawyer, administrator.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steps from case creation to resolution. Steps 3 to 5 (dark) are where the AI and RAG pipeline do the work; the next slides zoom into those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that talk over HTTPS/REST. Two separate databases: MongoDB for application data, and a vector database that only stores legal-document embeddings for semantic retrieval. Keeping them separate lets each be optimised, scaled or replaced independently. The RAG service is the only component that talks to both the vector DB and the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phase runs once (and again whenever sources are added). The output is the vector database: each legal section becomes a chunk with metadata and an embedding vector. Nothing here involves the LLM. The LLM only enters in the online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numbers. 1: citizen sends the case. 2-3: the RAG service turns the question into a vector using the same embedding model used offline. 4-5: vector DB returns the k most similar chunks with their metadata. 6: the RAG service builds a grounded prompt and sends it to the LLM. 7: the LLM writes an answer that cites [S1], [S2]... 8: the service checks every cited source really was retrieved and supports the claim. 9: the plain-language answer with citations goes back to the citizen. Solid arrows are requests, dashed arrows are responses. The LLM and the vector DB never talk directly; the RAG service is the middleman.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question is embedded into the same vector space as the legal chunks. Chunks about the same topic cluster together, so the nearest neighbours of the query (ringed) are the tenancy/eviction sections. Right: those chunks are pasted into a structured prompt together with strict instructions and the clarified case facts. The LLM can only answer from what it is given, which keeps the answer grounded and citable. Act names in the example are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public descriptions (Stanford CodeX TechIndex, July 2026). 'Not stated' means the public description does not mention the feature, not that it is absent. We have not tested these products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if asked about tools. Dark cards are the RAG/AI components. Vector DB choice between FAISS, Chroma and Qdrant will be made after testing. Open-source LLM so it can be run and tested without a paid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Gold bars are the RAG-specific work (embeddings and RAG baseline by end of M3). Exact dates are not fixed yet; testing starts as soon as the first features are integrated. All three members share research, data collection, documentation and defense prep.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if asked 'why not just use ChatGPT?'. A plain LLM answers from memory, so it may not reflect Pakistani law and gives no way to verify. RAG retrieves verified sources first and the answer must cite them. Objective 6 evaluates exactly this comparison, plus usability with 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workflow step 5. Digital PDFs go through PyMuPDF; scanned files and photos go through OCR. Extracted clauses are attached to the case and, together with the retrieved legal sources, produce a case-specific evidence checklist. The checklist items here are illustrative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the Q&amp;A. Note: the 'no source matches' behaviour is our planned design choice and is not yet written in the proposal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5394960" cy="12801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2331720"/>
            <a:ext cx="5394960" cy="457200"/>
          </a:xfrm>
          <a:prstGeom prst="rect">
            <a:avLst/>
          </a:prstGeom>
          <a:noFill/>
          <a:ln/>
        </p:spPr>
        <p:txBody>
          <a:bodyPr wrap="square" rtlCol="0"/>
          <a:lstStyle>
            <a:lvl1pPr algn="l" indent="0" marL="0">
              <a:buNone/>
              <a:defRPr lang="en-US" sz="1600" i="1" dirty="0">
                <a:solidFill>
                  <a:schemeClr val="accent3"/>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accent5"/>
                </a:solidFill>
              </a:rPr>
              <a:t>AI Powered Legal Advisor and Analyzer  |  CUST FYP Fall 2026</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dditional">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5486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accent5"/>
                </a:solidFill>
              </a:rPr>
              <a:t>AI Powered Legal Advisor and Analyzer  |  CUST FYP Fall 2026</a:t>
            </a:r>
            <a:endParaRPr lang="en-US" sz="1000" dirty="0"/>
          </a:p>
        </p:txBody>
      </p:sp>
      <p:sp>
        <p:nvSpPr>
          <p:cNvPr id="4" name="Shape 1"/>
          <p:cNvSpPr/>
          <p:nvPr/>
        </p:nvSpPr>
        <p:spPr>
          <a:xfrm>
            <a:off x="7178040" y="393192"/>
            <a:ext cx="1508760" cy="310896"/>
          </a:xfrm>
          <a:prstGeom prst="rect">
            <a:avLst>
              <a:gd name="adj" fmla="val 50000"/>
            </a:avLst>
          </a:prstGeom>
          <a:solidFill>
            <a:schemeClr val="accent2"/>
          </a:solidFill>
          <a:ln/>
        </p:spPr>
      </p:sp>
      <p:sp>
        <p:nvSpPr>
          <p:cNvPr id="5" name="Text 2"/>
          <p:cNvSpPr/>
          <p:nvPr/>
        </p:nvSpPr>
        <p:spPr>
          <a:xfrm>
            <a:off x="7178040" y="393192"/>
            <a:ext cx="1508760" cy="310896"/>
          </a:xfrm>
          <a:prstGeom prst="rect">
            <a:avLst/>
          </a:prstGeom>
          <a:noFill/>
          <a:ln/>
        </p:spPr>
        <p:txBody>
          <a:bodyPr wrap="square" lIns="0" tIns="0" rIns="0" bIns="0" rtlCol="0" anchor="ctr"/>
          <a:lstStyle/>
          <a:p>
            <a:pPr algn="ctr" indent="0" marL="0">
              <a:buNone/>
            </a:pPr>
            <a:r>
              <a:rPr lang="en-US" sz="1000" b="1" spc="100" kern="0" dirty="0">
                <a:solidFill>
                  <a:schemeClr val="bg1"/>
                </a:solidFill>
              </a:rPr>
              <a:t>ADDITIONAL SLIDE</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4.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5394960" cy="1280160"/>
          </a:xfrm>
          <a:prstGeom prst="rect">
            <a:avLst/>
          </a:prstGeom>
          <a:noFill/>
          <a:ln/>
        </p:spPr>
        <p:txBody>
          <a:bodyPr wrap="square" lIns="0" tIns="0" rIns="0" bIns="0" rtlCol="0" anchor="b"/>
          <a:lstStyle/>
          <a:p>
            <a:pPr algn="l" indent="0" marL="0">
              <a:buNone/>
            </a:pPr>
            <a:r>
              <a:rPr lang="en-US" sz="3400" b="1" dirty="0">
                <a:solidFill>
                  <a:schemeClr val="bg1"/>
                </a:solidFill>
              </a:rPr>
              <a:t>AI Powered Legal Advisor and Analyzer</a:t>
            </a:r>
            <a:endParaRPr lang="en-US" sz="3400" dirty="0"/>
          </a:p>
        </p:txBody>
      </p:sp>
      <p:sp>
        <p:nvSpPr>
          <p:cNvPr id="3" name="Text 0"/>
          <p:cNvSpPr/>
          <p:nvPr>
            <p:ph idx="101" type="body" hasCustomPrompt="1"/>
          </p:nvPr>
        </p:nvSpPr>
        <p:spPr>
          <a:xfrm>
            <a:off x="548640" y="2331720"/>
            <a:ext cx="5394960" cy="457200"/>
          </a:xfrm>
          <a:prstGeom prst="rect">
            <a:avLst/>
          </a:prstGeom>
          <a:noFill/>
          <a:ln/>
        </p:spPr>
        <p:txBody>
          <a:bodyPr wrap="square" lIns="0" tIns="0" rIns="0" bIns="0" rtlCol="0" anchor="t"/>
          <a:lstStyle/>
          <a:p>
            <a:pPr algn="l" indent="0" marL="0">
              <a:buNone/>
            </a:pPr>
            <a:r>
              <a:rPr lang="en-US" sz="1600" i="1" dirty="0">
                <a:solidFill>
                  <a:schemeClr val="accent3"/>
                </a:solidFill>
              </a:rPr>
              <a:t>AI Legal Intelligence &amp; Assistance Platform for Pakistan</a:t>
            </a:r>
            <a:endParaRPr lang="en-US" sz="1600" dirty="0"/>
          </a:p>
        </p:txBody>
      </p:sp>
      <p:sp>
        <p:nvSpPr>
          <p:cNvPr id="4" name="text-1"/>
          <p:cNvSpPr txBox="1"/>
          <p:nvPr/>
        </p:nvSpPr>
        <p:spPr>
          <a:xfrm>
            <a:off x="548640" y="2880360"/>
            <a:ext cx="5486400" cy="274320"/>
          </a:xfrm>
          <a:prstGeom prst="rect">
            <a:avLst/>
          </a:prstGeom>
          <a:noFill/>
          <a:ln/>
        </p:spPr>
        <p:txBody>
          <a:bodyPr wrap="square" lIns="0" tIns="0" rIns="0" bIns="0" rtlCol="0" anchor="t"/>
          <a:lstStyle/>
          <a:p>
            <a:pPr indent="0" marL="0">
              <a:buNone/>
            </a:pPr>
            <a:r>
              <a:rPr lang="en-US" sz="1400" b="1" dirty="0">
                <a:solidFill>
                  <a:schemeClr val="bg1"/>
                </a:solidFill>
              </a:rPr>
              <a:t>Final Year Project Proposal  ·  Design Project (Part-I)</a:t>
            </a:r>
            <a:endParaRPr lang="en-US" sz="1400" dirty="0"/>
          </a:p>
        </p:txBody>
      </p:sp>
      <p:sp>
        <p:nvSpPr>
          <p:cNvPr id="5" name="text-2"/>
          <p:cNvSpPr txBox="1"/>
          <p:nvPr/>
        </p:nvSpPr>
        <p:spPr>
          <a:xfrm>
            <a:off x="548640" y="3291840"/>
            <a:ext cx="5852160" cy="1188720"/>
          </a:xfrm>
          <a:prstGeom prst="rect">
            <a:avLst/>
          </a:prstGeom>
          <a:noFill/>
          <a:ln/>
        </p:spPr>
        <p:txBody>
          <a:bodyPr wrap="square" lIns="0" tIns="0" rIns="0" bIns="0" rtlCol="0" anchor="t"/>
          <a:lstStyle/>
          <a:p>
            <a:pPr indent="0" marL="0">
              <a:spcAft>
                <a:spcPts val="400"/>
              </a:spcAft>
              <a:buNone/>
            </a:pPr>
            <a:r>
              <a:rPr lang="en-US" sz="1200" b="1" dirty="0">
                <a:solidFill>
                  <a:schemeClr val="accent2"/>
                </a:solidFill>
              </a:rPr>
              <a:t>Team: </a:t>
            </a:r>
            <a:pPr indent="0" marL="0">
              <a:spcAft>
                <a:spcPts val="400"/>
              </a:spcAft>
              <a:buNone/>
            </a:pPr>
            <a:r>
              <a:rPr lang="en-US" sz="1200" dirty="0">
                <a:solidFill>
                  <a:schemeClr val="bg1"/>
                </a:solidFill>
              </a:rPr>
              <a:t>Muhammad Nabeel (BCS233115)  ·  Ashir Qureshi (BCS233084)  ·  Muhammad Sharjeel (BCS233113)</a:t>
            </a:r>
            <a:endParaRPr lang="en-US" sz="1200" dirty="0"/>
          </a:p>
          <a:p>
            <a:pPr indent="0" marL="0">
              <a:spcAft>
                <a:spcPts val="400"/>
              </a:spcAft>
              <a:buNone/>
            </a:pPr>
            <a:r>
              <a:rPr lang="en-US" sz="1200" b="1" dirty="0">
                <a:solidFill>
                  <a:schemeClr val="accent2"/>
                </a:solidFill>
              </a:rPr>
              <a:t>Supervisor: </a:t>
            </a:r>
            <a:pPr indent="0" marL="0">
              <a:spcAft>
                <a:spcPts val="400"/>
              </a:spcAft>
              <a:buNone/>
            </a:pPr>
            <a:r>
              <a:rPr lang="en-US" sz="1200" dirty="0">
                <a:solidFill>
                  <a:schemeClr val="bg1"/>
                </a:solidFill>
              </a:rPr>
              <a:t>Ms. Khadija Iftikhar</a:t>
            </a:r>
            <a:endParaRPr lang="en-US" sz="1200" dirty="0"/>
          </a:p>
          <a:p>
            <a:pPr indent="0" marL="0">
              <a:spcAft>
                <a:spcPts val="400"/>
              </a:spcAft>
              <a:buNone/>
            </a:pPr>
            <a:r>
              <a:rPr lang="en-US" sz="1200" dirty="0">
                <a:solidFill>
                  <a:schemeClr val="bg1"/>
                </a:solidFill>
              </a:rPr>
              <a:t>Department of Computer Science, Capital University of Science &amp; Technology, Islamabad  ·  Fall 2026</a:t>
            </a:r>
            <a:endParaRPr lang="en-US" sz="1200" dirty="0"/>
          </a:p>
        </p:txBody>
      </p:sp>
      <p:sp>
        <p:nvSpPr>
          <p:cNvPr id="6" name="title-ring"/>
          <p:cNvSpPr/>
          <p:nvPr/>
        </p:nvSpPr>
        <p:spPr>
          <a:xfrm>
            <a:off x="6446520" y="1234440"/>
            <a:ext cx="2194560" cy="2194560"/>
          </a:xfrm>
          <a:prstGeom prst="ellipse">
            <a:avLst/>
          </a:prstGeom>
          <a:solidFill>
            <a:schemeClr val="bg1">
              <a:alpha val="8000"/>
            </a:schemeClr>
          </a:solidFill>
          <a:ln w="25400">
            <a:solidFill>
              <a:schemeClr val="accent2"/>
            </a:solidFill>
            <a:prstDash val="solid"/>
          </a:ln>
        </p:spPr>
      </p:sp>
      <p:pic>
        <p:nvPicPr>
          <p:cNvPr id="7" name="title-icon" descr="preencoded.png">    </p:cNvPr>
          <p:cNvPicPr>
            <a:picLocks noChangeAspect="1"/>
          </p:cNvPicPr>
          <p:nvPr/>
        </p:nvPicPr>
        <p:blipFill>
          <a:blip r:embed="rId1"/>
          <a:stretch>
            <a:fillRect/>
          </a:stretch>
        </p:blipFill>
        <p:spPr>
          <a:xfrm>
            <a:off x="6949440" y="1737360"/>
            <a:ext cx="1188720" cy="1188720"/>
          </a:xfrm>
          <a:prstGeom prst="rect">
            <a:avLst/>
          </a:prstGeom>
        </p:spPr>
      </p:pic>
      <p:sp>
        <p:nvSpPr>
          <p:cNvPr id="8" name="text-3"/>
          <p:cNvSpPr txBox="1"/>
          <p:nvPr/>
        </p:nvSpPr>
        <p:spPr>
          <a:xfrm>
            <a:off x="6035040" y="3611880"/>
            <a:ext cx="3017520" cy="274320"/>
          </a:xfrm>
          <a:prstGeom prst="rect">
            <a:avLst/>
          </a:prstGeom>
          <a:noFill/>
          <a:ln/>
        </p:spPr>
        <p:txBody>
          <a:bodyPr wrap="square" lIns="0" tIns="0" rIns="0" bIns="0" rtlCol="0" anchor="t"/>
          <a:lstStyle/>
          <a:p>
            <a:pPr algn="ctr" indent="0" marL="0">
              <a:buNone/>
            </a:pPr>
            <a:r>
              <a:rPr lang="en-US" sz="1200" b="1" dirty="0">
                <a:solidFill>
                  <a:schemeClr val="accent3"/>
                </a:solidFill>
              </a:rPr>
              <a:t>RAG  +  LLM  +  Verified Lawyers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The Problem: Law Is Hard to Reach for Citizens</a:t>
            </a:r>
            <a:endParaRPr lang="en-US" sz="2800" dirty="0"/>
          </a:p>
        </p:txBody>
      </p:sp>
      <p:sp>
        <p:nvSpPr>
          <p:cNvPr id="3" name="iconbg-4"/>
          <p:cNvSpPr/>
          <p:nvPr/>
        </p:nvSpPr>
        <p:spPr>
          <a:xfrm>
            <a:off x="457200" y="1097280"/>
            <a:ext cx="548640" cy="548640"/>
          </a:xfrm>
          <a:prstGeom prst="ellipse">
            <a:avLst/>
          </a:prstGeom>
          <a:solidFill>
            <a:schemeClr val="accent1"/>
          </a:solidFill>
          <a:ln/>
        </p:spPr>
      </p:sp>
      <p:pic>
        <p:nvPicPr>
          <p:cNvPr id="4" name="icon-5" descr="preencoded.png">    </p:cNvPr>
          <p:cNvPicPr>
            <a:picLocks noChangeAspect="1"/>
          </p:cNvPicPr>
          <p:nvPr/>
        </p:nvPicPr>
        <p:blipFill>
          <a:blip r:embed="rId1"/>
          <a:stretch>
            <a:fillRect/>
          </a:stretch>
        </p:blipFill>
        <p:spPr>
          <a:xfrm>
            <a:off x="577901" y="1217981"/>
            <a:ext cx="307238" cy="307238"/>
          </a:xfrm>
          <a:prstGeom prst="rect">
            <a:avLst/>
          </a:prstGeom>
        </p:spPr>
      </p:pic>
      <p:sp>
        <p:nvSpPr>
          <p:cNvPr id="5" name="text-6"/>
          <p:cNvSpPr txBox="1"/>
          <p:nvPr/>
        </p:nvSpPr>
        <p:spPr>
          <a:xfrm>
            <a:off x="1188720" y="1051560"/>
            <a:ext cx="4206240" cy="274320"/>
          </a:xfrm>
          <a:prstGeom prst="rect">
            <a:avLst/>
          </a:prstGeom>
          <a:noFill/>
          <a:ln/>
        </p:spPr>
        <p:txBody>
          <a:bodyPr wrap="square" lIns="0" tIns="0" rIns="0" bIns="0" rtlCol="0" anchor="t"/>
          <a:lstStyle/>
          <a:p>
            <a:pPr indent="0" marL="0">
              <a:buNone/>
            </a:pPr>
            <a:r>
              <a:rPr lang="en-US" sz="1500" b="1" dirty="0">
                <a:solidFill>
                  <a:schemeClr val="tx2"/>
                </a:solidFill>
              </a:rPr>
              <a:t>Scattered sources</a:t>
            </a:r>
            <a:endParaRPr lang="en-US" sz="1500" dirty="0"/>
          </a:p>
        </p:txBody>
      </p:sp>
      <p:sp>
        <p:nvSpPr>
          <p:cNvPr id="6" name="text-7"/>
          <p:cNvSpPr txBox="1"/>
          <p:nvPr/>
        </p:nvSpPr>
        <p:spPr>
          <a:xfrm>
            <a:off x="1188720" y="1325880"/>
            <a:ext cx="4206240" cy="566928"/>
          </a:xfrm>
          <a:prstGeom prst="rect">
            <a:avLst/>
          </a:prstGeom>
          <a:noFill/>
          <a:ln/>
        </p:spPr>
        <p:txBody>
          <a:bodyPr wrap="square" lIns="0" tIns="0" rIns="0" bIns="0" rtlCol="0" anchor="t"/>
          <a:lstStyle/>
          <a:p>
            <a:pPr indent="0" marL="0">
              <a:buNone/>
            </a:pPr>
            <a:r>
              <a:rPr lang="en-US" sz="1200" dirty="0">
                <a:solidFill>
                  <a:schemeClr val="tx1"/>
                </a:solidFill>
              </a:rPr>
              <a:t>Laws, rules and court procedures are spread across many different documents.</a:t>
            </a:r>
            <a:endParaRPr lang="en-US" sz="1200" dirty="0"/>
          </a:p>
        </p:txBody>
      </p:sp>
      <p:sp>
        <p:nvSpPr>
          <p:cNvPr id="7" name="iconbg-8"/>
          <p:cNvSpPr/>
          <p:nvPr/>
        </p:nvSpPr>
        <p:spPr>
          <a:xfrm>
            <a:off x="457200" y="1993392"/>
            <a:ext cx="548640" cy="548640"/>
          </a:xfrm>
          <a:prstGeom prst="ellipse">
            <a:avLst/>
          </a:prstGeom>
          <a:solidFill>
            <a:schemeClr val="accent1"/>
          </a:solidFill>
          <a:ln/>
        </p:spPr>
      </p:sp>
      <p:pic>
        <p:nvPicPr>
          <p:cNvPr id="8" name="icon-9" descr="preencoded.png">    </p:cNvPr>
          <p:cNvPicPr>
            <a:picLocks noChangeAspect="1"/>
          </p:cNvPicPr>
          <p:nvPr/>
        </p:nvPicPr>
        <p:blipFill>
          <a:blip r:embed="rId2"/>
          <a:stretch>
            <a:fillRect/>
          </a:stretch>
        </p:blipFill>
        <p:spPr>
          <a:xfrm>
            <a:off x="577901" y="2114093"/>
            <a:ext cx="307238" cy="307238"/>
          </a:xfrm>
          <a:prstGeom prst="rect">
            <a:avLst/>
          </a:prstGeom>
        </p:spPr>
      </p:pic>
      <p:sp>
        <p:nvSpPr>
          <p:cNvPr id="9" name="text-10"/>
          <p:cNvSpPr txBox="1"/>
          <p:nvPr/>
        </p:nvSpPr>
        <p:spPr>
          <a:xfrm>
            <a:off x="1188720" y="1947672"/>
            <a:ext cx="4206240" cy="274320"/>
          </a:xfrm>
          <a:prstGeom prst="rect">
            <a:avLst/>
          </a:prstGeom>
          <a:noFill/>
          <a:ln/>
        </p:spPr>
        <p:txBody>
          <a:bodyPr wrap="square" lIns="0" tIns="0" rIns="0" bIns="0" rtlCol="0" anchor="t"/>
          <a:lstStyle/>
          <a:p>
            <a:pPr indent="0" marL="0">
              <a:buNone/>
            </a:pPr>
            <a:r>
              <a:rPr lang="en-US" sz="1500" b="1" dirty="0">
                <a:solidFill>
                  <a:schemeClr val="tx2"/>
                </a:solidFill>
              </a:rPr>
              <a:t>Technical language</a:t>
            </a:r>
            <a:endParaRPr lang="en-US" sz="1500" dirty="0"/>
          </a:p>
        </p:txBody>
      </p:sp>
      <p:sp>
        <p:nvSpPr>
          <p:cNvPr id="10" name="text-11"/>
          <p:cNvSpPr txBox="1"/>
          <p:nvPr/>
        </p:nvSpPr>
        <p:spPr>
          <a:xfrm>
            <a:off x="1188720" y="2221992"/>
            <a:ext cx="4206240" cy="566928"/>
          </a:xfrm>
          <a:prstGeom prst="rect">
            <a:avLst/>
          </a:prstGeom>
          <a:noFill/>
          <a:ln/>
        </p:spPr>
        <p:txBody>
          <a:bodyPr wrap="square" lIns="0" tIns="0" rIns="0" bIns="0" rtlCol="0" anchor="t"/>
          <a:lstStyle/>
          <a:p>
            <a:pPr indent="0" marL="0">
              <a:buNone/>
            </a:pPr>
            <a:r>
              <a:rPr lang="en-US" sz="1200" dirty="0">
                <a:solidFill>
                  <a:schemeClr val="tx1"/>
                </a:solidFill>
              </a:rPr>
              <a:t>Legal text is written for professionals, not for ordinary citizens.</a:t>
            </a:r>
            <a:endParaRPr lang="en-US" sz="1200" dirty="0"/>
          </a:p>
        </p:txBody>
      </p:sp>
      <p:sp>
        <p:nvSpPr>
          <p:cNvPr id="11" name="iconbg-12"/>
          <p:cNvSpPr/>
          <p:nvPr/>
        </p:nvSpPr>
        <p:spPr>
          <a:xfrm>
            <a:off x="457200" y="2889504"/>
            <a:ext cx="548640" cy="548640"/>
          </a:xfrm>
          <a:prstGeom prst="ellipse">
            <a:avLst/>
          </a:prstGeom>
          <a:solidFill>
            <a:schemeClr val="accent1"/>
          </a:solidFill>
          <a:ln/>
        </p:spPr>
      </p:sp>
      <p:pic>
        <p:nvPicPr>
          <p:cNvPr id="12" name="icon-13" descr="preencoded.png">    </p:cNvPr>
          <p:cNvPicPr>
            <a:picLocks noChangeAspect="1"/>
          </p:cNvPicPr>
          <p:nvPr/>
        </p:nvPicPr>
        <p:blipFill>
          <a:blip r:embed="rId3"/>
          <a:stretch>
            <a:fillRect/>
          </a:stretch>
        </p:blipFill>
        <p:spPr>
          <a:xfrm>
            <a:off x="577901" y="3010205"/>
            <a:ext cx="307238" cy="307238"/>
          </a:xfrm>
          <a:prstGeom prst="rect">
            <a:avLst/>
          </a:prstGeom>
        </p:spPr>
      </p:pic>
      <p:sp>
        <p:nvSpPr>
          <p:cNvPr id="13" name="text-14"/>
          <p:cNvSpPr txBox="1"/>
          <p:nvPr/>
        </p:nvSpPr>
        <p:spPr>
          <a:xfrm>
            <a:off x="1188720" y="2843784"/>
            <a:ext cx="4206240" cy="274320"/>
          </a:xfrm>
          <a:prstGeom prst="rect">
            <a:avLst/>
          </a:prstGeom>
          <a:noFill/>
          <a:ln/>
        </p:spPr>
        <p:txBody>
          <a:bodyPr wrap="square" lIns="0" tIns="0" rIns="0" bIns="0" rtlCol="0" anchor="t"/>
          <a:lstStyle/>
          <a:p>
            <a:pPr indent="0" marL="0">
              <a:buNone/>
            </a:pPr>
            <a:r>
              <a:rPr lang="en-US" sz="1500" b="1" dirty="0">
                <a:solidFill>
                  <a:schemeClr val="tx2"/>
                </a:solidFill>
              </a:rPr>
              <a:t>No clear next step</a:t>
            </a:r>
            <a:endParaRPr lang="en-US" sz="1500" dirty="0"/>
          </a:p>
        </p:txBody>
      </p:sp>
      <p:sp>
        <p:nvSpPr>
          <p:cNvPr id="14" name="text-15"/>
          <p:cNvSpPr txBox="1"/>
          <p:nvPr/>
        </p:nvSpPr>
        <p:spPr>
          <a:xfrm>
            <a:off x="1188720" y="3118104"/>
            <a:ext cx="4206240" cy="566928"/>
          </a:xfrm>
          <a:prstGeom prst="rect">
            <a:avLst/>
          </a:prstGeom>
          <a:noFill/>
          <a:ln/>
        </p:spPr>
        <p:txBody>
          <a:bodyPr wrap="square" lIns="0" tIns="0" rIns="0" bIns="0" rtlCol="0" anchor="t"/>
          <a:lstStyle/>
          <a:p>
            <a:pPr indent="0" marL="0">
              <a:buNone/>
            </a:pPr>
            <a:r>
              <a:rPr lang="en-US" sz="1200" dirty="0">
                <a:solidFill>
                  <a:schemeClr val="tx1"/>
                </a:solidFill>
              </a:rPr>
              <a:t>People with tenancy, inheritance, divorce or custody issues don't know which law applies, what documents to collect, or which lawyer to contact.</a:t>
            </a:r>
            <a:endParaRPr lang="en-US" sz="1200" dirty="0"/>
          </a:p>
        </p:txBody>
      </p:sp>
      <p:sp>
        <p:nvSpPr>
          <p:cNvPr id="15" name="iconbg-16"/>
          <p:cNvSpPr/>
          <p:nvPr/>
        </p:nvSpPr>
        <p:spPr>
          <a:xfrm>
            <a:off x="457200" y="3785616"/>
            <a:ext cx="548640" cy="548640"/>
          </a:xfrm>
          <a:prstGeom prst="ellipse">
            <a:avLst/>
          </a:prstGeom>
          <a:solidFill>
            <a:schemeClr val="accent6"/>
          </a:solidFill>
          <a:ln/>
        </p:spPr>
      </p:sp>
      <p:pic>
        <p:nvPicPr>
          <p:cNvPr id="16" name="icon-17" descr="preencoded.png">    </p:cNvPr>
          <p:cNvPicPr>
            <a:picLocks noChangeAspect="1"/>
          </p:cNvPicPr>
          <p:nvPr/>
        </p:nvPicPr>
        <p:blipFill>
          <a:blip r:embed="rId4"/>
          <a:stretch>
            <a:fillRect/>
          </a:stretch>
        </p:blipFill>
        <p:spPr>
          <a:xfrm>
            <a:off x="577901" y="3906317"/>
            <a:ext cx="307238" cy="307238"/>
          </a:xfrm>
          <a:prstGeom prst="rect">
            <a:avLst/>
          </a:prstGeom>
        </p:spPr>
      </p:pic>
      <p:sp>
        <p:nvSpPr>
          <p:cNvPr id="17" name="text-18"/>
          <p:cNvSpPr txBox="1"/>
          <p:nvPr/>
        </p:nvSpPr>
        <p:spPr>
          <a:xfrm>
            <a:off x="1188720" y="3739896"/>
            <a:ext cx="4206240" cy="274320"/>
          </a:xfrm>
          <a:prstGeom prst="rect">
            <a:avLst/>
          </a:prstGeom>
          <a:noFill/>
          <a:ln/>
        </p:spPr>
        <p:txBody>
          <a:bodyPr wrap="square" lIns="0" tIns="0" rIns="0" bIns="0" rtlCol="0" anchor="t"/>
          <a:lstStyle/>
          <a:p>
            <a:pPr indent="0" marL="0">
              <a:buNone/>
            </a:pPr>
            <a:r>
              <a:rPr lang="en-US" sz="1500" b="1" dirty="0">
                <a:solidFill>
                  <a:schemeClr val="tx2"/>
                </a:solidFill>
              </a:rPr>
              <a:t>Ungrounded AI chatbots</a:t>
            </a:r>
            <a:endParaRPr lang="en-US" sz="1500" dirty="0"/>
          </a:p>
        </p:txBody>
      </p:sp>
      <p:sp>
        <p:nvSpPr>
          <p:cNvPr id="18" name="text-19"/>
          <p:cNvSpPr txBox="1"/>
          <p:nvPr/>
        </p:nvSpPr>
        <p:spPr>
          <a:xfrm>
            <a:off x="1188720" y="4014216"/>
            <a:ext cx="4206240" cy="566928"/>
          </a:xfrm>
          <a:prstGeom prst="rect">
            <a:avLst/>
          </a:prstGeom>
          <a:noFill/>
          <a:ln/>
        </p:spPr>
        <p:txBody>
          <a:bodyPr wrap="square" lIns="0" tIns="0" rIns="0" bIns="0" rtlCol="0" anchor="t"/>
          <a:lstStyle/>
          <a:p>
            <a:pPr indent="0" marL="0">
              <a:buNone/>
            </a:pPr>
            <a:r>
              <a:rPr lang="en-US" sz="1200" dirty="0">
                <a:solidFill>
                  <a:schemeClr val="tx1"/>
                </a:solidFill>
              </a:rPr>
              <a:t>General chatbots answer fast but may not use verified Pakistani sources, and can make statements that cannot be checked.</a:t>
            </a:r>
            <a:endParaRPr lang="en-US" sz="1200" dirty="0"/>
          </a:p>
        </p:txBody>
      </p:sp>
      <p:sp>
        <p:nvSpPr>
          <p:cNvPr id="19" name="box-20"/>
          <p:cNvSpPr/>
          <p:nvPr/>
        </p:nvSpPr>
        <p:spPr>
          <a:xfrm>
            <a:off x="5760720" y="1051560"/>
            <a:ext cx="2926080" cy="3520440"/>
          </a:xfrm>
          <a:prstGeom prst="roundRect">
            <a:avLst>
              <a:gd name="adj" fmla="val 3750"/>
            </a:avLst>
          </a:prstGeom>
          <a:solidFill>
            <a:schemeClr val="tx2"/>
          </a:solidFill>
          <a:ln/>
        </p:spPr>
      </p:sp>
      <p:sp>
        <p:nvSpPr>
          <p:cNvPr id="20" name="text-21"/>
          <p:cNvSpPr txBox="1"/>
          <p:nvPr/>
        </p:nvSpPr>
        <p:spPr>
          <a:xfrm>
            <a:off x="6035040" y="1280160"/>
            <a:ext cx="237744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PROJECT GOAL</a:t>
            </a:r>
            <a:endParaRPr lang="en-US" sz="1200" dirty="0"/>
          </a:p>
        </p:txBody>
      </p:sp>
      <p:sp>
        <p:nvSpPr>
          <p:cNvPr id="21" name="text-22"/>
          <p:cNvSpPr txBox="1"/>
          <p:nvPr/>
        </p:nvSpPr>
        <p:spPr>
          <a:xfrm>
            <a:off x="6035040" y="1645920"/>
            <a:ext cx="2423160" cy="2194560"/>
          </a:xfrm>
          <a:prstGeom prst="rect">
            <a:avLst/>
          </a:prstGeom>
          <a:noFill/>
          <a:ln/>
        </p:spPr>
        <p:txBody>
          <a:bodyPr wrap="square" lIns="0" tIns="0" rIns="0" bIns="0" rtlCol="0" anchor="t"/>
          <a:lstStyle/>
          <a:p>
            <a:pPr indent="0" marL="0">
              <a:buNone/>
            </a:pPr>
            <a:r>
              <a:rPr lang="en-US" sz="1500" i="1" dirty="0">
                <a:solidFill>
                  <a:schemeClr val="bg1"/>
                </a:solidFill>
                <a:latin typeface="Cambria" pitchFamily="34" charset="0"/>
                <a:ea typeface="Cambria" pitchFamily="34" charset="-122"/>
                <a:cs typeface="Cambria" pitchFamily="34" charset="-120"/>
              </a:rPr>
              <a:t>Build a case-centred AI platform that helps Pakistani citizens understand property and family legal issues using verified Pakistani legal sources, and helps them reach suitable lawyers.</a:t>
            </a:r>
            <a:endParaRPr lang="en-US" sz="1500" dirty="0"/>
          </a:p>
        </p:txBody>
      </p:sp>
      <p:sp>
        <p:nvSpPr>
          <p:cNvPr id="22" name="text-23"/>
          <p:cNvSpPr txBox="1"/>
          <p:nvPr/>
        </p:nvSpPr>
        <p:spPr>
          <a:xfrm>
            <a:off x="6035040" y="3931920"/>
            <a:ext cx="2423160" cy="457200"/>
          </a:xfrm>
          <a:prstGeom prst="rect">
            <a:avLst/>
          </a:prstGeom>
          <a:noFill/>
          <a:ln/>
        </p:spPr>
        <p:txBody>
          <a:bodyPr wrap="square" lIns="0" tIns="0" rIns="0" bIns="0" rtlCol="0" anchor="t"/>
          <a:lstStyle/>
          <a:p>
            <a:pPr indent="0" marL="0">
              <a:buNone/>
            </a:pPr>
            <a:r>
              <a:rPr lang="en-US" sz="1100" dirty="0">
                <a:solidFill>
                  <a:schemeClr val="accent3"/>
                </a:solidFill>
              </a:rPr>
              <a:t>Supports legal understanding; does not replace qualified lawyers.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Objectives and Scope</a:t>
            </a:r>
            <a:endParaRPr lang="en-US" sz="2800" dirty="0"/>
          </a:p>
        </p:txBody>
      </p:sp>
      <p:sp>
        <p:nvSpPr>
          <p:cNvPr id="3" name="num-24"/>
          <p:cNvSpPr/>
          <p:nvPr/>
        </p:nvSpPr>
        <p:spPr>
          <a:xfrm>
            <a:off x="457200" y="1097280"/>
            <a:ext cx="384048" cy="384048"/>
          </a:xfrm>
          <a:prstGeom prst="ellipse">
            <a:avLst/>
          </a:prstGeom>
          <a:solidFill>
            <a:schemeClr val="accent1"/>
          </a:solidFill>
          <a:ln/>
        </p:spPr>
      </p:sp>
      <p:sp>
        <p:nvSpPr>
          <p:cNvPr id="4" name="text-25"/>
          <p:cNvSpPr txBox="1"/>
          <p:nvPr/>
        </p:nvSpPr>
        <p:spPr>
          <a:xfrm>
            <a:off x="457200" y="1097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26"/>
          <p:cNvSpPr txBox="1"/>
          <p:nvPr/>
        </p:nvSpPr>
        <p:spPr>
          <a:xfrm>
            <a:off x="1005840" y="1024128"/>
            <a:ext cx="4206240" cy="530352"/>
          </a:xfrm>
          <a:prstGeom prst="rect">
            <a:avLst/>
          </a:prstGeom>
          <a:noFill/>
          <a:ln/>
        </p:spPr>
        <p:txBody>
          <a:bodyPr wrap="square" lIns="0" tIns="0" rIns="0" bIns="0" rtlCol="0" anchor="ctr"/>
          <a:lstStyle/>
          <a:p>
            <a:pPr indent="0" marL="0">
              <a:buNone/>
            </a:pPr>
            <a:r>
              <a:rPr lang="en-US" sz="1400" dirty="0">
                <a:solidFill>
                  <a:schemeClr val="tx1"/>
                </a:solidFill>
              </a:rPr>
              <a:t>Verified knowledge base of Pakistani property and family law sources</a:t>
            </a:r>
            <a:endParaRPr lang="en-US" sz="1400" dirty="0"/>
          </a:p>
        </p:txBody>
      </p:sp>
      <p:sp>
        <p:nvSpPr>
          <p:cNvPr id="6" name="num-27"/>
          <p:cNvSpPr/>
          <p:nvPr/>
        </p:nvSpPr>
        <p:spPr>
          <a:xfrm>
            <a:off x="457200" y="1700784"/>
            <a:ext cx="384048" cy="384048"/>
          </a:xfrm>
          <a:prstGeom prst="ellipse">
            <a:avLst/>
          </a:prstGeom>
          <a:solidFill>
            <a:schemeClr val="accent2"/>
          </a:solidFill>
          <a:ln/>
        </p:spPr>
      </p:sp>
      <p:sp>
        <p:nvSpPr>
          <p:cNvPr id="7" name="text-28"/>
          <p:cNvSpPr txBox="1"/>
          <p:nvPr/>
        </p:nvSpPr>
        <p:spPr>
          <a:xfrm>
            <a:off x="457200" y="170078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29"/>
          <p:cNvSpPr txBox="1"/>
          <p:nvPr/>
        </p:nvSpPr>
        <p:spPr>
          <a:xfrm>
            <a:off x="1005840" y="1627632"/>
            <a:ext cx="4206240" cy="530352"/>
          </a:xfrm>
          <a:prstGeom prst="rect">
            <a:avLst/>
          </a:prstGeom>
          <a:noFill/>
          <a:ln/>
        </p:spPr>
        <p:txBody>
          <a:bodyPr wrap="square" lIns="0" tIns="0" rIns="0" bIns="0" rtlCol="0" anchor="ctr"/>
          <a:lstStyle/>
          <a:p>
            <a:pPr indent="0" marL="0">
              <a:buNone/>
            </a:pPr>
            <a:r>
              <a:rPr lang="en-US" sz="1400" dirty="0">
                <a:solidFill>
                  <a:schemeClr val="tx1"/>
                </a:solidFill>
              </a:rPr>
              <a:t>RAG assistant that answers from retrieved legal text and always shows sources</a:t>
            </a:r>
            <a:endParaRPr lang="en-US" sz="1400" dirty="0"/>
          </a:p>
        </p:txBody>
      </p:sp>
      <p:sp>
        <p:nvSpPr>
          <p:cNvPr id="9" name="num-30"/>
          <p:cNvSpPr/>
          <p:nvPr/>
        </p:nvSpPr>
        <p:spPr>
          <a:xfrm>
            <a:off x="457200" y="2304288"/>
            <a:ext cx="384048" cy="384048"/>
          </a:xfrm>
          <a:prstGeom prst="ellipse">
            <a:avLst/>
          </a:prstGeom>
          <a:solidFill>
            <a:schemeClr val="accent1"/>
          </a:solidFill>
          <a:ln/>
        </p:spPr>
      </p:sp>
      <p:sp>
        <p:nvSpPr>
          <p:cNvPr id="10" name="text-31"/>
          <p:cNvSpPr txBox="1"/>
          <p:nvPr/>
        </p:nvSpPr>
        <p:spPr>
          <a:xfrm>
            <a:off x="457200" y="23042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32"/>
          <p:cNvSpPr txBox="1"/>
          <p:nvPr/>
        </p:nvSpPr>
        <p:spPr>
          <a:xfrm>
            <a:off x="1005840" y="2231136"/>
            <a:ext cx="4206240" cy="530352"/>
          </a:xfrm>
          <a:prstGeom prst="rect">
            <a:avLst/>
          </a:prstGeom>
          <a:noFill/>
          <a:ln/>
        </p:spPr>
        <p:txBody>
          <a:bodyPr wrap="square" lIns="0" tIns="0" rIns="0" bIns="0" rtlCol="0" anchor="ctr"/>
          <a:lstStyle/>
          <a:p>
            <a:pPr indent="0" marL="0">
              <a:buNone/>
            </a:pPr>
            <a:r>
              <a:rPr lang="en-US" sz="1400" dirty="0">
                <a:solidFill>
                  <a:schemeClr val="tx1"/>
                </a:solidFill>
              </a:rPr>
              <a:t>Ask only the follow-up questions needed to clarify a case</a:t>
            </a:r>
            <a:endParaRPr lang="en-US" sz="1400" dirty="0"/>
          </a:p>
        </p:txBody>
      </p:sp>
      <p:sp>
        <p:nvSpPr>
          <p:cNvPr id="12" name="num-33"/>
          <p:cNvSpPr/>
          <p:nvPr/>
        </p:nvSpPr>
        <p:spPr>
          <a:xfrm>
            <a:off x="457200" y="2907792"/>
            <a:ext cx="384048" cy="384048"/>
          </a:xfrm>
          <a:prstGeom prst="ellipse">
            <a:avLst/>
          </a:prstGeom>
          <a:solidFill>
            <a:schemeClr val="accent1"/>
          </a:solidFill>
          <a:ln/>
        </p:spPr>
      </p:sp>
      <p:sp>
        <p:nvSpPr>
          <p:cNvPr id="13" name="text-34"/>
          <p:cNvSpPr txBox="1"/>
          <p:nvPr/>
        </p:nvSpPr>
        <p:spPr>
          <a:xfrm>
            <a:off x="457200" y="29077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35"/>
          <p:cNvSpPr txBox="1"/>
          <p:nvPr/>
        </p:nvSpPr>
        <p:spPr>
          <a:xfrm>
            <a:off x="1005840" y="2834640"/>
            <a:ext cx="4206240" cy="530352"/>
          </a:xfrm>
          <a:prstGeom prst="rect">
            <a:avLst/>
          </a:prstGeom>
          <a:noFill/>
          <a:ln/>
        </p:spPr>
        <p:txBody>
          <a:bodyPr wrap="square" lIns="0" tIns="0" rIns="0" bIns="0" rtlCol="0" anchor="ctr"/>
          <a:lstStyle/>
          <a:p>
            <a:pPr indent="0" marL="0">
              <a:buNone/>
            </a:pPr>
            <a:r>
              <a:rPr lang="en-US" sz="1400" dirty="0">
                <a:solidFill>
                  <a:schemeClr val="tx1"/>
                </a:solidFill>
              </a:rPr>
              <a:t>Process PDFs and scanned images; generate a case-specific evidence checklist</a:t>
            </a:r>
            <a:endParaRPr lang="en-US" sz="1400" dirty="0"/>
          </a:p>
        </p:txBody>
      </p:sp>
      <p:sp>
        <p:nvSpPr>
          <p:cNvPr id="15" name="num-36"/>
          <p:cNvSpPr/>
          <p:nvPr/>
        </p:nvSpPr>
        <p:spPr>
          <a:xfrm>
            <a:off x="457200" y="3511296"/>
            <a:ext cx="384048" cy="384048"/>
          </a:xfrm>
          <a:prstGeom prst="ellipse">
            <a:avLst/>
          </a:prstGeom>
          <a:solidFill>
            <a:schemeClr val="accent1"/>
          </a:solidFill>
          <a:ln/>
        </p:spPr>
      </p:sp>
      <p:sp>
        <p:nvSpPr>
          <p:cNvPr id="16" name="text-37"/>
          <p:cNvSpPr txBox="1"/>
          <p:nvPr/>
        </p:nvSpPr>
        <p:spPr>
          <a:xfrm>
            <a:off x="457200" y="35112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7" name="text-38"/>
          <p:cNvSpPr txBox="1"/>
          <p:nvPr/>
        </p:nvSpPr>
        <p:spPr>
          <a:xfrm>
            <a:off x="1005840" y="3438144"/>
            <a:ext cx="4206240" cy="530352"/>
          </a:xfrm>
          <a:prstGeom prst="rect">
            <a:avLst/>
          </a:prstGeom>
          <a:noFill/>
          <a:ln/>
        </p:spPr>
        <p:txBody>
          <a:bodyPr wrap="square" lIns="0" tIns="0" rIns="0" bIns="0" rtlCol="0" anchor="ctr"/>
          <a:lstStyle/>
          <a:p>
            <a:pPr indent="0" marL="0">
              <a:buNone/>
            </a:pPr>
            <a:r>
              <a:rPr lang="en-US" sz="1400" dirty="0">
                <a:solidFill>
                  <a:schemeClr val="tx1"/>
                </a:solidFill>
              </a:rPr>
              <a:t>Verified lawyer directory with filters, plus case tracking to resolution</a:t>
            </a:r>
            <a:endParaRPr lang="en-US" sz="1400" dirty="0"/>
          </a:p>
        </p:txBody>
      </p:sp>
      <p:sp>
        <p:nvSpPr>
          <p:cNvPr id="18" name="num-39"/>
          <p:cNvSpPr/>
          <p:nvPr/>
        </p:nvSpPr>
        <p:spPr>
          <a:xfrm>
            <a:off x="457200" y="4114800"/>
            <a:ext cx="384048" cy="384048"/>
          </a:xfrm>
          <a:prstGeom prst="ellipse">
            <a:avLst/>
          </a:prstGeom>
          <a:solidFill>
            <a:schemeClr val="accent1"/>
          </a:solidFill>
          <a:ln/>
        </p:spPr>
      </p:sp>
      <p:sp>
        <p:nvSpPr>
          <p:cNvPr id="19" name="text-40"/>
          <p:cNvSpPr txBox="1"/>
          <p:nvPr/>
        </p:nvSpPr>
        <p:spPr>
          <a:xfrm>
            <a:off x="457200" y="4114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0" name="text-41"/>
          <p:cNvSpPr txBox="1"/>
          <p:nvPr/>
        </p:nvSpPr>
        <p:spPr>
          <a:xfrm>
            <a:off x="1005840" y="4041648"/>
            <a:ext cx="4206240" cy="530352"/>
          </a:xfrm>
          <a:prstGeom prst="rect">
            <a:avLst/>
          </a:prstGeom>
          <a:noFill/>
          <a:ln/>
        </p:spPr>
        <p:txBody>
          <a:bodyPr wrap="square" lIns="0" tIns="0" rIns="0" bIns="0" rtlCol="0" anchor="ctr"/>
          <a:lstStyle/>
          <a:p>
            <a:pPr indent="0" marL="0">
              <a:buNone/>
            </a:pPr>
            <a:r>
              <a:rPr lang="en-US" sz="1400" dirty="0">
                <a:solidFill>
                  <a:schemeClr val="tx1"/>
                </a:solidFill>
              </a:rPr>
              <a:t>Evaluate against a standard LLM baseline (quality and usability)</a:t>
            </a:r>
            <a:endParaRPr lang="en-US" sz="1400" dirty="0"/>
          </a:p>
        </p:txBody>
      </p:sp>
      <p:sp>
        <p:nvSpPr>
          <p:cNvPr id="21" name="text-42"/>
          <p:cNvSpPr txBox="1"/>
          <p:nvPr/>
        </p:nvSpPr>
        <p:spPr>
          <a:xfrm>
            <a:off x="5577840" y="1024128"/>
            <a:ext cx="310896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INITIAL LEGAL SCOPE</a:t>
            </a:r>
            <a:endParaRPr lang="en-US" sz="1200" dirty="0"/>
          </a:p>
        </p:txBody>
      </p:sp>
      <p:sp>
        <p:nvSpPr>
          <p:cNvPr id="22" name="box-43"/>
          <p:cNvSpPr/>
          <p:nvPr/>
        </p:nvSpPr>
        <p:spPr>
          <a:xfrm>
            <a:off x="5577840" y="1371600"/>
            <a:ext cx="3108960" cy="1508760"/>
          </a:xfrm>
          <a:prstGeom prst="roundRect">
            <a:avLst>
              <a:gd name="adj" fmla="val 4848"/>
            </a:avLst>
          </a:prstGeom>
          <a:solidFill>
            <a:schemeClr val="bg2"/>
          </a:solidFill>
          <a:ln/>
        </p:spPr>
      </p:sp>
      <p:sp>
        <p:nvSpPr>
          <p:cNvPr id="23" name="iconbg-44"/>
          <p:cNvSpPr/>
          <p:nvPr/>
        </p:nvSpPr>
        <p:spPr>
          <a:xfrm>
            <a:off x="5715000" y="1508760"/>
            <a:ext cx="411480" cy="411480"/>
          </a:xfrm>
          <a:prstGeom prst="ellipse">
            <a:avLst/>
          </a:prstGeom>
          <a:solidFill>
            <a:schemeClr val="accent1"/>
          </a:solidFill>
          <a:ln/>
        </p:spPr>
      </p:sp>
      <p:pic>
        <p:nvPicPr>
          <p:cNvPr id="24" name="icon-45" descr="preencoded.png">    </p:cNvPr>
          <p:cNvPicPr>
            <a:picLocks noChangeAspect="1"/>
          </p:cNvPicPr>
          <p:nvPr/>
        </p:nvPicPr>
        <p:blipFill>
          <a:blip r:embed="rId1"/>
          <a:stretch>
            <a:fillRect/>
          </a:stretch>
        </p:blipFill>
        <p:spPr>
          <a:xfrm>
            <a:off x="5805526" y="1599286"/>
            <a:ext cx="230429" cy="230429"/>
          </a:xfrm>
          <a:prstGeom prst="rect">
            <a:avLst/>
          </a:prstGeom>
        </p:spPr>
      </p:pic>
      <p:sp>
        <p:nvSpPr>
          <p:cNvPr id="25" name="text-46"/>
          <p:cNvSpPr txBox="1"/>
          <p:nvPr/>
        </p:nvSpPr>
        <p:spPr>
          <a:xfrm>
            <a:off x="6217920" y="1527048"/>
            <a:ext cx="2377440" cy="365760"/>
          </a:xfrm>
          <a:prstGeom prst="rect">
            <a:avLst/>
          </a:prstGeom>
          <a:noFill/>
          <a:ln/>
        </p:spPr>
        <p:txBody>
          <a:bodyPr wrap="square" lIns="0" tIns="0" rIns="0" bIns="0" rtlCol="0" anchor="ctr"/>
          <a:lstStyle/>
          <a:p>
            <a:pPr indent="0" marL="0">
              <a:buNone/>
            </a:pPr>
            <a:r>
              <a:rPr lang="en-US" sz="1500" b="1" dirty="0">
                <a:solidFill>
                  <a:schemeClr val="tx2"/>
                </a:solidFill>
              </a:rPr>
              <a:t>Property Disputes</a:t>
            </a:r>
            <a:endParaRPr lang="en-US" sz="1500" dirty="0"/>
          </a:p>
        </p:txBody>
      </p:sp>
      <p:sp>
        <p:nvSpPr>
          <p:cNvPr id="26" name="text-47"/>
          <p:cNvSpPr txBox="1"/>
          <p:nvPr/>
        </p:nvSpPr>
        <p:spPr>
          <a:xfrm>
            <a:off x="5715000" y="1993392"/>
            <a:ext cx="2880360" cy="822960"/>
          </a:xfrm>
          <a:prstGeom prst="rect">
            <a:avLst/>
          </a:prstGeom>
          <a:noFill/>
          <a:ln/>
        </p:spPr>
        <p:txBody>
          <a:bodyPr wrap="square" lIns="0" tIns="0" rIns="0" bIns="0" rtlCol="0" anchor="t"/>
          <a:lstStyle/>
          <a:p>
            <a:pPr indent="0" marL="0">
              <a:buNone/>
            </a:pPr>
            <a:r>
              <a:rPr lang="en-US" sz="1100" dirty="0">
                <a:solidFill>
                  <a:schemeClr val="tx1"/>
                </a:solidFill>
              </a:rPr>
              <a:t>Ownership / title · Illegal possession and encroachment · Boundary disputes · Tenancy and eviction · Land sale issues · Agreements · Inheritance</a:t>
            </a:r>
            <a:endParaRPr lang="en-US" sz="1100" dirty="0"/>
          </a:p>
        </p:txBody>
      </p:sp>
      <p:sp>
        <p:nvSpPr>
          <p:cNvPr id="27" name="box-48"/>
          <p:cNvSpPr/>
          <p:nvPr/>
        </p:nvSpPr>
        <p:spPr>
          <a:xfrm>
            <a:off x="5577840" y="3017520"/>
            <a:ext cx="3108960" cy="1508760"/>
          </a:xfrm>
          <a:prstGeom prst="roundRect">
            <a:avLst>
              <a:gd name="adj" fmla="val 4848"/>
            </a:avLst>
          </a:prstGeom>
          <a:solidFill>
            <a:schemeClr val="bg2"/>
          </a:solidFill>
          <a:ln/>
        </p:spPr>
      </p:sp>
      <p:sp>
        <p:nvSpPr>
          <p:cNvPr id="28" name="iconbg-49"/>
          <p:cNvSpPr/>
          <p:nvPr/>
        </p:nvSpPr>
        <p:spPr>
          <a:xfrm>
            <a:off x="5715000" y="3154680"/>
            <a:ext cx="411480" cy="411480"/>
          </a:xfrm>
          <a:prstGeom prst="ellipse">
            <a:avLst/>
          </a:prstGeom>
          <a:solidFill>
            <a:schemeClr val="accent1"/>
          </a:solidFill>
          <a:ln/>
        </p:spPr>
      </p:sp>
      <p:pic>
        <p:nvPicPr>
          <p:cNvPr id="29" name="icon-50" descr="preencoded.png">    </p:cNvPr>
          <p:cNvPicPr>
            <a:picLocks noChangeAspect="1"/>
          </p:cNvPicPr>
          <p:nvPr/>
        </p:nvPicPr>
        <p:blipFill>
          <a:blip r:embed="rId2"/>
          <a:stretch>
            <a:fillRect/>
          </a:stretch>
        </p:blipFill>
        <p:spPr>
          <a:xfrm>
            <a:off x="5805526" y="3245206"/>
            <a:ext cx="230429" cy="230429"/>
          </a:xfrm>
          <a:prstGeom prst="rect">
            <a:avLst/>
          </a:prstGeom>
        </p:spPr>
      </p:pic>
      <p:sp>
        <p:nvSpPr>
          <p:cNvPr id="30" name="text-51"/>
          <p:cNvSpPr txBox="1"/>
          <p:nvPr/>
        </p:nvSpPr>
        <p:spPr>
          <a:xfrm>
            <a:off x="6217920" y="3172968"/>
            <a:ext cx="2377440" cy="365760"/>
          </a:xfrm>
          <a:prstGeom prst="rect">
            <a:avLst/>
          </a:prstGeom>
          <a:noFill/>
          <a:ln/>
        </p:spPr>
        <p:txBody>
          <a:bodyPr wrap="square" lIns="0" tIns="0" rIns="0" bIns="0" rtlCol="0" anchor="ctr"/>
          <a:lstStyle/>
          <a:p>
            <a:pPr indent="0" marL="0">
              <a:buNone/>
            </a:pPr>
            <a:r>
              <a:rPr lang="en-US" sz="1500" b="1" dirty="0">
                <a:solidFill>
                  <a:schemeClr val="tx2"/>
                </a:solidFill>
              </a:rPr>
              <a:t>Family Disputes</a:t>
            </a:r>
            <a:endParaRPr lang="en-US" sz="1500" dirty="0"/>
          </a:p>
        </p:txBody>
      </p:sp>
      <p:sp>
        <p:nvSpPr>
          <p:cNvPr id="31" name="text-52"/>
          <p:cNvSpPr txBox="1"/>
          <p:nvPr/>
        </p:nvSpPr>
        <p:spPr>
          <a:xfrm>
            <a:off x="5715000" y="3639312"/>
            <a:ext cx="2880360" cy="822960"/>
          </a:xfrm>
          <a:prstGeom prst="rect">
            <a:avLst/>
          </a:prstGeom>
          <a:noFill/>
          <a:ln/>
        </p:spPr>
        <p:txBody>
          <a:bodyPr wrap="square" lIns="0" tIns="0" rIns="0" bIns="0" rtlCol="0" anchor="t"/>
          <a:lstStyle/>
          <a:p>
            <a:pPr indent="0" marL="0">
              <a:buNone/>
            </a:pPr>
            <a:r>
              <a:rPr lang="en-US" sz="1100" dirty="0">
                <a:solidFill>
                  <a:schemeClr val="tx1"/>
                </a:solidFill>
              </a:rPr>
              <a:t>Marriage / Nikah registration · Divorce / Khula · Dower / Haq Mehr · Maintenance / Nafaqa · Child custody / visitation · Family court procedures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Proposed Solution: Three Parts, One Case</a:t>
            </a:r>
            <a:endParaRPr lang="en-US" sz="2800" dirty="0"/>
          </a:p>
        </p:txBody>
      </p:sp>
      <p:sp>
        <p:nvSpPr>
          <p:cNvPr id="3" name="box-53"/>
          <p:cNvSpPr/>
          <p:nvPr/>
        </p:nvSpPr>
        <p:spPr>
          <a:xfrm>
            <a:off x="457200" y="1051560"/>
            <a:ext cx="2560320" cy="2057400"/>
          </a:xfrm>
          <a:prstGeom prst="roundRect">
            <a:avLst>
              <a:gd name="adj" fmla="val 3556"/>
            </a:avLst>
          </a:prstGeom>
          <a:solidFill>
            <a:schemeClr val="tx2"/>
          </a:solidFill>
          <a:ln/>
          <a:effectLst>
            <a:outerShdw sx="100000" sy="100000" kx="0" ky="0" algn="bl" rotWithShape="0" blurRad="50800" dist="19050" dir="5400000">
              <a:srgbClr val="000000">
                <a:alpha val="15000"/>
              </a:srgbClr>
            </a:outerShdw>
          </a:effectLst>
        </p:spPr>
      </p:sp>
      <p:sp>
        <p:nvSpPr>
          <p:cNvPr id="4" name="iconbg-54"/>
          <p:cNvSpPr/>
          <p:nvPr/>
        </p:nvSpPr>
        <p:spPr>
          <a:xfrm>
            <a:off x="640080" y="1216152"/>
            <a:ext cx="502920" cy="502920"/>
          </a:xfrm>
          <a:prstGeom prst="ellipse">
            <a:avLst/>
          </a:prstGeom>
          <a:solidFill>
            <a:schemeClr val="accent2"/>
          </a:solidFill>
          <a:ln/>
        </p:spPr>
      </p:sp>
      <p:pic>
        <p:nvPicPr>
          <p:cNvPr id="5" name="icon-55" descr="preencoded.png">    </p:cNvPr>
          <p:cNvPicPr>
            <a:picLocks noChangeAspect="1"/>
          </p:cNvPicPr>
          <p:nvPr/>
        </p:nvPicPr>
        <p:blipFill>
          <a:blip r:embed="rId1"/>
          <a:stretch>
            <a:fillRect/>
          </a:stretch>
        </p:blipFill>
        <p:spPr>
          <a:xfrm>
            <a:off x="750722" y="1326794"/>
            <a:ext cx="281635" cy="281635"/>
          </a:xfrm>
          <a:prstGeom prst="rect">
            <a:avLst/>
          </a:prstGeom>
        </p:spPr>
      </p:pic>
      <p:sp>
        <p:nvSpPr>
          <p:cNvPr id="6" name="text-56"/>
          <p:cNvSpPr txBox="1"/>
          <p:nvPr/>
        </p:nvSpPr>
        <p:spPr>
          <a:xfrm>
            <a:off x="1234440" y="1216152"/>
            <a:ext cx="1691640" cy="502920"/>
          </a:xfrm>
          <a:prstGeom prst="rect">
            <a:avLst/>
          </a:prstGeom>
          <a:noFill/>
          <a:ln/>
        </p:spPr>
        <p:txBody>
          <a:bodyPr wrap="square" lIns="0" tIns="0" rIns="0" bIns="0" rtlCol="0" anchor="ctr"/>
          <a:lstStyle/>
          <a:p>
            <a:pPr indent="0" marL="0">
              <a:buNone/>
            </a:pPr>
            <a:r>
              <a:rPr lang="en-US" sz="1500" b="1" dirty="0">
                <a:solidFill>
                  <a:schemeClr val="bg1"/>
                </a:solidFill>
              </a:rPr>
              <a:t>RAG Legal Assistant</a:t>
            </a:r>
            <a:endParaRPr lang="en-US" sz="1500" dirty="0"/>
          </a:p>
        </p:txBody>
      </p:sp>
      <p:sp>
        <p:nvSpPr>
          <p:cNvPr id="7" name="text-57"/>
          <p:cNvSpPr txBox="1"/>
          <p:nvPr/>
        </p:nvSpPr>
        <p:spPr>
          <a:xfrm>
            <a:off x="640080" y="1856232"/>
            <a:ext cx="2240280" cy="1188720"/>
          </a:xfrm>
          <a:prstGeom prst="rect">
            <a:avLst/>
          </a:prstGeom>
          <a:noFill/>
          <a:ln/>
        </p:spPr>
        <p:txBody>
          <a:bodyPr wrap="square" lIns="0" tIns="0" rIns="0" bIns="0" rtlCol="0" anchor="t"/>
          <a:lstStyle/>
          <a:p>
            <a:pPr indent="0" marL="0">
              <a:buNone/>
            </a:pPr>
            <a:r>
              <a:rPr lang="en-US" sz="1200" dirty="0">
                <a:solidFill>
                  <a:schemeClr val="bg1"/>
                </a:solidFill>
              </a:rPr>
              <a:t>Answers from a verified legal knowledge base, not from the model's memory. Every answer shows its sources so it can be checked.</a:t>
            </a:r>
            <a:endParaRPr lang="en-US" sz="1200" dirty="0"/>
          </a:p>
        </p:txBody>
      </p:sp>
      <p:sp>
        <p:nvSpPr>
          <p:cNvPr id="8" name="box-58"/>
          <p:cNvSpPr/>
          <p:nvPr/>
        </p:nvSpPr>
        <p:spPr>
          <a:xfrm>
            <a:off x="3291840" y="1051560"/>
            <a:ext cx="2560320" cy="2057400"/>
          </a:xfrm>
          <a:prstGeom prst="roundRect">
            <a:avLst>
              <a:gd name="adj" fmla="val 3556"/>
            </a:avLst>
          </a:prstGeom>
          <a:solidFill>
            <a:schemeClr val="bg2"/>
          </a:solidFill>
          <a:ln/>
          <a:effectLst>
            <a:outerShdw sx="100000" sy="100000" kx="0" ky="0" algn="bl" rotWithShape="0" blurRad="50800" dist="19050" dir="5400000">
              <a:srgbClr val="000000">
                <a:alpha val="15000"/>
              </a:srgbClr>
            </a:outerShdw>
          </a:effectLst>
        </p:spPr>
      </p:sp>
      <p:sp>
        <p:nvSpPr>
          <p:cNvPr id="9" name="iconbg-59"/>
          <p:cNvSpPr/>
          <p:nvPr/>
        </p:nvSpPr>
        <p:spPr>
          <a:xfrm>
            <a:off x="3474720" y="1216152"/>
            <a:ext cx="502920" cy="502920"/>
          </a:xfrm>
          <a:prstGeom prst="ellipse">
            <a:avLst/>
          </a:prstGeom>
          <a:solidFill>
            <a:schemeClr val="accent1"/>
          </a:solidFill>
          <a:ln/>
        </p:spPr>
      </p:sp>
      <p:pic>
        <p:nvPicPr>
          <p:cNvPr id="10" name="icon-60" descr="preencoded.png">    </p:cNvPr>
          <p:cNvPicPr>
            <a:picLocks noChangeAspect="1"/>
          </p:cNvPicPr>
          <p:nvPr/>
        </p:nvPicPr>
        <p:blipFill>
          <a:blip r:embed="rId2"/>
          <a:stretch>
            <a:fillRect/>
          </a:stretch>
        </p:blipFill>
        <p:spPr>
          <a:xfrm>
            <a:off x="3585362" y="1326794"/>
            <a:ext cx="281635" cy="281635"/>
          </a:xfrm>
          <a:prstGeom prst="rect">
            <a:avLst/>
          </a:prstGeom>
        </p:spPr>
      </p:pic>
      <p:sp>
        <p:nvSpPr>
          <p:cNvPr id="11" name="text-61"/>
          <p:cNvSpPr txBox="1"/>
          <p:nvPr/>
        </p:nvSpPr>
        <p:spPr>
          <a:xfrm>
            <a:off x="4069080" y="1216152"/>
            <a:ext cx="1691640" cy="502920"/>
          </a:xfrm>
          <a:prstGeom prst="rect">
            <a:avLst/>
          </a:prstGeom>
          <a:noFill/>
          <a:ln/>
        </p:spPr>
        <p:txBody>
          <a:bodyPr wrap="square" lIns="0" tIns="0" rIns="0" bIns="0" rtlCol="0" anchor="ctr"/>
          <a:lstStyle/>
          <a:p>
            <a:pPr indent="0" marL="0">
              <a:buNone/>
            </a:pPr>
            <a:r>
              <a:rPr lang="en-US" sz="1500" b="1" dirty="0">
                <a:solidFill>
                  <a:schemeClr val="tx2"/>
                </a:solidFill>
              </a:rPr>
              <a:t>Verified Lawyer Directory</a:t>
            </a:r>
            <a:endParaRPr lang="en-US" sz="1500" dirty="0"/>
          </a:p>
        </p:txBody>
      </p:sp>
      <p:sp>
        <p:nvSpPr>
          <p:cNvPr id="12" name="text-62"/>
          <p:cNvSpPr txBox="1"/>
          <p:nvPr/>
        </p:nvSpPr>
        <p:spPr>
          <a:xfrm>
            <a:off x="3474720" y="1856232"/>
            <a:ext cx="2240280" cy="1188720"/>
          </a:xfrm>
          <a:prstGeom prst="rect">
            <a:avLst/>
          </a:prstGeom>
          <a:noFill/>
          <a:ln/>
        </p:spPr>
        <p:txBody>
          <a:bodyPr wrap="square" lIns="0" tIns="0" rIns="0" bIns="0" rtlCol="0" anchor="t"/>
          <a:lstStyle/>
          <a:p>
            <a:pPr indent="0" marL="0">
              <a:buNone/>
            </a:pPr>
            <a:r>
              <a:rPr lang="en-US" sz="1200" dirty="0">
                <a:solidFill>
                  <a:schemeClr val="tx1"/>
                </a:solidFill>
              </a:rPr>
              <a:t>Administrator-verified profiles. Filter by specialization, city, fee, experience, language and rating.</a:t>
            </a:r>
            <a:endParaRPr lang="en-US" sz="1200" dirty="0"/>
          </a:p>
        </p:txBody>
      </p:sp>
      <p:sp>
        <p:nvSpPr>
          <p:cNvPr id="13" name="box-63"/>
          <p:cNvSpPr/>
          <p:nvPr/>
        </p:nvSpPr>
        <p:spPr>
          <a:xfrm>
            <a:off x="6126480" y="1051560"/>
            <a:ext cx="2560320" cy="2057400"/>
          </a:xfrm>
          <a:prstGeom prst="roundRect">
            <a:avLst>
              <a:gd name="adj" fmla="val 3556"/>
            </a:avLst>
          </a:prstGeom>
          <a:solidFill>
            <a:schemeClr val="bg2"/>
          </a:solidFill>
          <a:ln/>
          <a:effectLst>
            <a:outerShdw sx="100000" sy="100000" kx="0" ky="0" algn="bl" rotWithShape="0" blurRad="50800" dist="19050" dir="5400000">
              <a:srgbClr val="000000">
                <a:alpha val="15000"/>
              </a:srgbClr>
            </a:outerShdw>
          </a:effectLst>
        </p:spPr>
      </p:sp>
      <p:sp>
        <p:nvSpPr>
          <p:cNvPr id="14" name="iconbg-64"/>
          <p:cNvSpPr/>
          <p:nvPr/>
        </p:nvSpPr>
        <p:spPr>
          <a:xfrm>
            <a:off x="6309360" y="1216152"/>
            <a:ext cx="502920" cy="502920"/>
          </a:xfrm>
          <a:prstGeom prst="ellipse">
            <a:avLst/>
          </a:prstGeom>
          <a:solidFill>
            <a:schemeClr val="accent1"/>
          </a:solidFill>
          <a:ln/>
        </p:spPr>
      </p:sp>
      <p:pic>
        <p:nvPicPr>
          <p:cNvPr id="15" name="icon-65" descr="preencoded.png">    </p:cNvPr>
          <p:cNvPicPr>
            <a:picLocks noChangeAspect="1"/>
          </p:cNvPicPr>
          <p:nvPr/>
        </p:nvPicPr>
        <p:blipFill>
          <a:blip r:embed="rId3"/>
          <a:stretch>
            <a:fillRect/>
          </a:stretch>
        </p:blipFill>
        <p:spPr>
          <a:xfrm>
            <a:off x="6420002" y="1326794"/>
            <a:ext cx="281635" cy="281635"/>
          </a:xfrm>
          <a:prstGeom prst="rect">
            <a:avLst/>
          </a:prstGeom>
        </p:spPr>
      </p:pic>
      <p:sp>
        <p:nvSpPr>
          <p:cNvPr id="16" name="text-66"/>
          <p:cNvSpPr txBox="1"/>
          <p:nvPr/>
        </p:nvSpPr>
        <p:spPr>
          <a:xfrm>
            <a:off x="6903720" y="1216152"/>
            <a:ext cx="1691640" cy="502920"/>
          </a:xfrm>
          <a:prstGeom prst="rect">
            <a:avLst/>
          </a:prstGeom>
          <a:noFill/>
          <a:ln/>
        </p:spPr>
        <p:txBody>
          <a:bodyPr wrap="square" lIns="0" tIns="0" rIns="0" bIns="0" rtlCol="0" anchor="ctr"/>
          <a:lstStyle/>
          <a:p>
            <a:pPr indent="0" marL="0">
              <a:buNone/>
            </a:pPr>
            <a:r>
              <a:rPr lang="en-US" sz="1500" b="1" dirty="0">
                <a:solidFill>
                  <a:schemeClr val="tx2"/>
                </a:solidFill>
              </a:rPr>
              <a:t>Case Tracking</a:t>
            </a:r>
            <a:endParaRPr lang="en-US" sz="1500" dirty="0"/>
          </a:p>
        </p:txBody>
      </p:sp>
      <p:sp>
        <p:nvSpPr>
          <p:cNvPr id="17" name="text-67"/>
          <p:cNvSpPr txBox="1"/>
          <p:nvPr/>
        </p:nvSpPr>
        <p:spPr>
          <a:xfrm>
            <a:off x="6309360" y="1856232"/>
            <a:ext cx="2240280" cy="1188720"/>
          </a:xfrm>
          <a:prstGeom prst="rect">
            <a:avLst/>
          </a:prstGeom>
          <a:noFill/>
          <a:ln/>
        </p:spPr>
        <p:txBody>
          <a:bodyPr wrap="square" lIns="0" tIns="0" rIns="0" bIns="0" rtlCol="0" anchor="t"/>
          <a:lstStyle/>
          <a:p>
            <a:pPr indent="0" marL="0">
              <a:buNone/>
            </a:pPr>
            <a:r>
              <a:rPr lang="en-US" sz="1200" dirty="0">
                <a:solidFill>
                  <a:schemeClr val="tx1"/>
                </a:solidFill>
              </a:rPr>
              <a:t>Each case is followed from the first query to resolution, so the user always knows the status and next step.</a:t>
            </a:r>
            <a:endParaRPr lang="en-US" sz="1200" dirty="0"/>
          </a:p>
        </p:txBody>
      </p:sp>
      <p:sp>
        <p:nvSpPr>
          <p:cNvPr id="18" name="text-68"/>
          <p:cNvSpPr txBox="1"/>
          <p:nvPr/>
        </p:nvSpPr>
        <p:spPr>
          <a:xfrm>
            <a:off x="457200" y="3310128"/>
            <a:ext cx="274320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WHO USES IT</a:t>
            </a:r>
            <a:endParaRPr lang="en-US" sz="1200" dirty="0"/>
          </a:p>
        </p:txBody>
      </p:sp>
      <p:sp>
        <p:nvSpPr>
          <p:cNvPr id="19" name="iconbg-69"/>
          <p:cNvSpPr/>
          <p:nvPr/>
        </p:nvSpPr>
        <p:spPr>
          <a:xfrm>
            <a:off x="457200" y="3657600"/>
            <a:ext cx="457200" cy="457200"/>
          </a:xfrm>
          <a:prstGeom prst="ellipse">
            <a:avLst/>
          </a:prstGeom>
          <a:solidFill>
            <a:schemeClr val="accent5"/>
          </a:solidFill>
          <a:ln/>
        </p:spPr>
      </p:sp>
      <p:pic>
        <p:nvPicPr>
          <p:cNvPr id="20" name="icon-70" descr="preencoded.png">    </p:cNvPr>
          <p:cNvPicPr>
            <a:picLocks noChangeAspect="1"/>
          </p:cNvPicPr>
          <p:nvPr/>
        </p:nvPicPr>
        <p:blipFill>
          <a:blip r:embed="rId4"/>
          <a:stretch>
            <a:fillRect/>
          </a:stretch>
        </p:blipFill>
        <p:spPr>
          <a:xfrm>
            <a:off x="557784" y="3758184"/>
            <a:ext cx="256032" cy="256032"/>
          </a:xfrm>
          <a:prstGeom prst="rect">
            <a:avLst/>
          </a:prstGeom>
        </p:spPr>
      </p:pic>
      <p:sp>
        <p:nvSpPr>
          <p:cNvPr id="21" name="text-71"/>
          <p:cNvSpPr txBox="1"/>
          <p:nvPr/>
        </p:nvSpPr>
        <p:spPr>
          <a:xfrm>
            <a:off x="1024128" y="3630168"/>
            <a:ext cx="2011680" cy="256032"/>
          </a:xfrm>
          <a:prstGeom prst="rect">
            <a:avLst/>
          </a:prstGeom>
          <a:noFill/>
          <a:ln/>
        </p:spPr>
        <p:txBody>
          <a:bodyPr wrap="square" lIns="0" tIns="0" rIns="0" bIns="0" rtlCol="0" anchor="t"/>
          <a:lstStyle/>
          <a:p>
            <a:pPr indent="0" marL="0">
              <a:buNone/>
            </a:pPr>
            <a:r>
              <a:rPr lang="en-US" sz="1400" b="1" dirty="0">
                <a:solidFill>
                  <a:schemeClr val="tx2"/>
                </a:solidFill>
              </a:rPr>
              <a:t>Citizen</a:t>
            </a:r>
            <a:endParaRPr lang="en-US" sz="1400" dirty="0"/>
          </a:p>
        </p:txBody>
      </p:sp>
      <p:sp>
        <p:nvSpPr>
          <p:cNvPr id="22" name="text-72"/>
          <p:cNvSpPr txBox="1"/>
          <p:nvPr/>
        </p:nvSpPr>
        <p:spPr>
          <a:xfrm>
            <a:off x="1024128" y="3904488"/>
            <a:ext cx="2057400" cy="685800"/>
          </a:xfrm>
          <a:prstGeom prst="rect">
            <a:avLst/>
          </a:prstGeom>
          <a:noFill/>
          <a:ln/>
        </p:spPr>
        <p:txBody>
          <a:bodyPr wrap="square" lIns="0" tIns="0" rIns="0" bIns="0" rtlCol="0" anchor="t"/>
          <a:lstStyle/>
          <a:p>
            <a:pPr indent="0" marL="0">
              <a:buNone/>
            </a:pPr>
            <a:r>
              <a:rPr lang="en-US" sz="1100" dirty="0">
                <a:solidFill>
                  <a:schemeClr val="tx1"/>
                </a:solidFill>
              </a:rPr>
              <a:t>Creates cases, answers follow-ups, uploads documents, reads guidance, finds lawyers</a:t>
            </a:r>
            <a:endParaRPr lang="en-US" sz="1100" dirty="0"/>
          </a:p>
        </p:txBody>
      </p:sp>
      <p:sp>
        <p:nvSpPr>
          <p:cNvPr id="23" name="iconbg-73"/>
          <p:cNvSpPr/>
          <p:nvPr/>
        </p:nvSpPr>
        <p:spPr>
          <a:xfrm>
            <a:off x="3291840" y="3657600"/>
            <a:ext cx="457200" cy="457200"/>
          </a:xfrm>
          <a:prstGeom prst="ellipse">
            <a:avLst/>
          </a:prstGeom>
          <a:solidFill>
            <a:schemeClr val="accent5"/>
          </a:solidFill>
          <a:ln/>
        </p:spPr>
      </p:sp>
      <p:pic>
        <p:nvPicPr>
          <p:cNvPr id="24" name="icon-74" descr="preencoded.png">    </p:cNvPr>
          <p:cNvPicPr>
            <a:picLocks noChangeAspect="1"/>
          </p:cNvPicPr>
          <p:nvPr/>
        </p:nvPicPr>
        <p:blipFill>
          <a:blip r:embed="rId5"/>
          <a:stretch>
            <a:fillRect/>
          </a:stretch>
        </p:blipFill>
        <p:spPr>
          <a:xfrm>
            <a:off x="3392424" y="3758184"/>
            <a:ext cx="256032" cy="256032"/>
          </a:xfrm>
          <a:prstGeom prst="rect">
            <a:avLst/>
          </a:prstGeom>
        </p:spPr>
      </p:pic>
      <p:sp>
        <p:nvSpPr>
          <p:cNvPr id="25" name="text-75"/>
          <p:cNvSpPr txBox="1"/>
          <p:nvPr/>
        </p:nvSpPr>
        <p:spPr>
          <a:xfrm>
            <a:off x="3858768" y="3630168"/>
            <a:ext cx="2011680" cy="256032"/>
          </a:xfrm>
          <a:prstGeom prst="rect">
            <a:avLst/>
          </a:prstGeom>
          <a:noFill/>
          <a:ln/>
        </p:spPr>
        <p:txBody>
          <a:bodyPr wrap="square" lIns="0" tIns="0" rIns="0" bIns="0" rtlCol="0" anchor="t"/>
          <a:lstStyle/>
          <a:p>
            <a:pPr indent="0" marL="0">
              <a:buNone/>
            </a:pPr>
            <a:r>
              <a:rPr lang="en-US" sz="1400" b="1" dirty="0">
                <a:solidFill>
                  <a:schemeClr val="tx2"/>
                </a:solidFill>
              </a:rPr>
              <a:t>Lawyer</a:t>
            </a:r>
            <a:endParaRPr lang="en-US" sz="1400" dirty="0"/>
          </a:p>
        </p:txBody>
      </p:sp>
      <p:sp>
        <p:nvSpPr>
          <p:cNvPr id="26" name="text-76"/>
          <p:cNvSpPr txBox="1"/>
          <p:nvPr/>
        </p:nvSpPr>
        <p:spPr>
          <a:xfrm>
            <a:off x="3858768" y="3904488"/>
            <a:ext cx="2057400" cy="685800"/>
          </a:xfrm>
          <a:prstGeom prst="rect">
            <a:avLst/>
          </a:prstGeom>
          <a:noFill/>
          <a:ln/>
        </p:spPr>
        <p:txBody>
          <a:bodyPr wrap="square" lIns="0" tIns="0" rIns="0" bIns="0" rtlCol="0" anchor="t"/>
          <a:lstStyle/>
          <a:p>
            <a:pPr indent="0" marL="0">
              <a:buNone/>
            </a:pPr>
            <a:r>
              <a:rPr lang="en-US" sz="1100" dirty="0">
                <a:solidFill>
                  <a:schemeClr val="tx1"/>
                </a:solidFill>
              </a:rPr>
              <a:t>Keeps a profile; sees cases a citizen chooses to share</a:t>
            </a:r>
            <a:endParaRPr lang="en-US" sz="1100" dirty="0"/>
          </a:p>
        </p:txBody>
      </p:sp>
      <p:sp>
        <p:nvSpPr>
          <p:cNvPr id="27" name="iconbg-77"/>
          <p:cNvSpPr/>
          <p:nvPr/>
        </p:nvSpPr>
        <p:spPr>
          <a:xfrm>
            <a:off x="6126480" y="3657600"/>
            <a:ext cx="457200" cy="457200"/>
          </a:xfrm>
          <a:prstGeom prst="ellipse">
            <a:avLst/>
          </a:prstGeom>
          <a:solidFill>
            <a:schemeClr val="accent5"/>
          </a:solidFill>
          <a:ln/>
        </p:spPr>
      </p:sp>
      <p:pic>
        <p:nvPicPr>
          <p:cNvPr id="28" name="icon-78" descr="preencoded.png">    </p:cNvPr>
          <p:cNvPicPr>
            <a:picLocks noChangeAspect="1"/>
          </p:cNvPicPr>
          <p:nvPr/>
        </p:nvPicPr>
        <p:blipFill>
          <a:blip r:embed="rId6"/>
          <a:stretch>
            <a:fillRect/>
          </a:stretch>
        </p:blipFill>
        <p:spPr>
          <a:xfrm>
            <a:off x="6227064" y="3758184"/>
            <a:ext cx="256032" cy="256032"/>
          </a:xfrm>
          <a:prstGeom prst="rect">
            <a:avLst/>
          </a:prstGeom>
        </p:spPr>
      </p:pic>
      <p:sp>
        <p:nvSpPr>
          <p:cNvPr id="29" name="text-79"/>
          <p:cNvSpPr txBox="1"/>
          <p:nvPr/>
        </p:nvSpPr>
        <p:spPr>
          <a:xfrm>
            <a:off x="6693408" y="3630168"/>
            <a:ext cx="2011680" cy="256032"/>
          </a:xfrm>
          <a:prstGeom prst="rect">
            <a:avLst/>
          </a:prstGeom>
          <a:noFill/>
          <a:ln/>
        </p:spPr>
        <p:txBody>
          <a:bodyPr wrap="square" lIns="0" tIns="0" rIns="0" bIns="0" rtlCol="0" anchor="t"/>
          <a:lstStyle/>
          <a:p>
            <a:pPr indent="0" marL="0">
              <a:buNone/>
            </a:pPr>
            <a:r>
              <a:rPr lang="en-US" sz="1400" b="1" dirty="0">
                <a:solidFill>
                  <a:schemeClr val="tx2"/>
                </a:solidFill>
              </a:rPr>
              <a:t>Administrator</a:t>
            </a:r>
            <a:endParaRPr lang="en-US" sz="1400" dirty="0"/>
          </a:p>
        </p:txBody>
      </p:sp>
      <p:sp>
        <p:nvSpPr>
          <p:cNvPr id="30" name="text-80"/>
          <p:cNvSpPr txBox="1"/>
          <p:nvPr/>
        </p:nvSpPr>
        <p:spPr>
          <a:xfrm>
            <a:off x="6693408" y="3904488"/>
            <a:ext cx="2057400" cy="685800"/>
          </a:xfrm>
          <a:prstGeom prst="rect">
            <a:avLst/>
          </a:prstGeom>
          <a:noFill/>
          <a:ln/>
        </p:spPr>
        <p:txBody>
          <a:bodyPr wrap="square" lIns="0" tIns="0" rIns="0" bIns="0" rtlCol="0" anchor="t"/>
          <a:lstStyle/>
          <a:p>
            <a:pPr indent="0" marL="0">
              <a:buNone/>
            </a:pPr>
            <a:r>
              <a:rPr lang="en-US" sz="1100" dirty="0">
                <a:solidFill>
                  <a:schemeClr val="tx1"/>
                </a:solidFill>
              </a:rPr>
              <a:t>Verifies lawyers; manages users, cases and legal content</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End-to-End Case Workflow</a:t>
            </a:r>
            <a:endParaRPr lang="en-US" sz="2800" dirty="0"/>
          </a:p>
        </p:txBody>
      </p:sp>
      <p:sp>
        <p:nvSpPr>
          <p:cNvPr id="3" name="box-81"/>
          <p:cNvSpPr/>
          <p:nvPr/>
        </p:nvSpPr>
        <p:spPr>
          <a:xfrm>
            <a:off x="457200" y="1097280"/>
            <a:ext cx="1463040" cy="1051560"/>
          </a:xfrm>
          <a:prstGeom prst="roundRect">
            <a:avLst>
              <a:gd name="adj" fmla="val 6957"/>
            </a:avLst>
          </a:prstGeom>
          <a:solidFill>
            <a:schemeClr val="accent3"/>
          </a:solidFill>
          <a:ln/>
        </p:spPr>
      </p:sp>
      <p:sp>
        <p:nvSpPr>
          <p:cNvPr id="4" name="text-82"/>
          <p:cNvSpPr txBox="1"/>
          <p:nvPr/>
        </p:nvSpPr>
        <p:spPr>
          <a:xfrm>
            <a:off x="530352" y="1170432"/>
            <a:ext cx="1316736" cy="384048"/>
          </a:xfrm>
          <a:prstGeom prst="rect">
            <a:avLst/>
          </a:prstGeom>
          <a:noFill/>
          <a:ln/>
        </p:spPr>
        <p:txBody>
          <a:bodyPr wrap="square" lIns="0" tIns="0" rIns="0" bIns="0" rtlCol="0" anchor="ctr"/>
          <a:lstStyle/>
          <a:p>
            <a:pPr indent="0" marL="0">
              <a:buNone/>
            </a:pPr>
            <a:r>
              <a:rPr lang="en-US" sz="1200" b="1" dirty="0">
                <a:solidFill>
                  <a:schemeClr val="tx2"/>
                </a:solidFill>
              </a:rPr>
              <a:t>1  Case creation</a:t>
            </a:r>
            <a:endParaRPr lang="en-US" sz="1200" dirty="0"/>
          </a:p>
        </p:txBody>
      </p:sp>
      <p:sp>
        <p:nvSpPr>
          <p:cNvPr id="5" name="text-83"/>
          <p:cNvSpPr txBox="1"/>
          <p:nvPr/>
        </p:nvSpPr>
        <p:spPr>
          <a:xfrm>
            <a:off x="530352" y="1572768"/>
            <a:ext cx="1316736" cy="530352"/>
          </a:xfrm>
          <a:prstGeom prst="rect">
            <a:avLst/>
          </a:prstGeom>
          <a:noFill/>
          <a:ln/>
        </p:spPr>
        <p:txBody>
          <a:bodyPr wrap="square" lIns="0" tIns="0" rIns="0" bIns="0" rtlCol="0" anchor="t"/>
          <a:lstStyle/>
          <a:p>
            <a:pPr indent="0" marL="0">
              <a:buNone/>
            </a:pPr>
            <a:r>
              <a:rPr lang="en-US" sz="1000" dirty="0">
                <a:solidFill>
                  <a:schemeClr val="tx2"/>
                </a:solidFill>
              </a:rPr>
              <a:t>User describes the problem in simple words</a:t>
            </a:r>
            <a:endParaRPr lang="en-US" sz="1000" dirty="0"/>
          </a:p>
        </p:txBody>
      </p:sp>
      <p:sp>
        <p:nvSpPr>
          <p:cNvPr id="6" name="box-84"/>
          <p:cNvSpPr/>
          <p:nvPr/>
        </p:nvSpPr>
        <p:spPr>
          <a:xfrm>
            <a:off x="2148840" y="1097280"/>
            <a:ext cx="1463040" cy="1051560"/>
          </a:xfrm>
          <a:prstGeom prst="roundRect">
            <a:avLst>
              <a:gd name="adj" fmla="val 6957"/>
            </a:avLst>
          </a:prstGeom>
          <a:solidFill>
            <a:schemeClr val="accent3"/>
          </a:solidFill>
          <a:ln/>
        </p:spPr>
      </p:sp>
      <p:sp>
        <p:nvSpPr>
          <p:cNvPr id="7" name="text-85"/>
          <p:cNvSpPr txBox="1"/>
          <p:nvPr/>
        </p:nvSpPr>
        <p:spPr>
          <a:xfrm>
            <a:off x="2221992" y="1170432"/>
            <a:ext cx="1316736" cy="384048"/>
          </a:xfrm>
          <a:prstGeom prst="rect">
            <a:avLst/>
          </a:prstGeom>
          <a:noFill/>
          <a:ln/>
        </p:spPr>
        <p:txBody>
          <a:bodyPr wrap="square" lIns="0" tIns="0" rIns="0" bIns="0" rtlCol="0" anchor="ctr"/>
          <a:lstStyle/>
          <a:p>
            <a:pPr indent="0" marL="0">
              <a:buNone/>
            </a:pPr>
            <a:r>
              <a:rPr lang="en-US" sz="1200" b="1" dirty="0">
                <a:solidFill>
                  <a:schemeClr val="tx2"/>
                </a:solidFill>
              </a:rPr>
              <a:t>2  Fact clarification</a:t>
            </a:r>
            <a:endParaRPr lang="en-US" sz="1200" dirty="0"/>
          </a:p>
        </p:txBody>
      </p:sp>
      <p:sp>
        <p:nvSpPr>
          <p:cNvPr id="8" name="text-86"/>
          <p:cNvSpPr txBox="1"/>
          <p:nvPr/>
        </p:nvSpPr>
        <p:spPr>
          <a:xfrm>
            <a:off x="2221992" y="1572768"/>
            <a:ext cx="1316736" cy="530352"/>
          </a:xfrm>
          <a:prstGeom prst="rect">
            <a:avLst/>
          </a:prstGeom>
          <a:noFill/>
          <a:ln/>
        </p:spPr>
        <p:txBody>
          <a:bodyPr wrap="square" lIns="0" tIns="0" rIns="0" bIns="0" rtlCol="0" anchor="t"/>
          <a:lstStyle/>
          <a:p>
            <a:pPr indent="0" marL="0">
              <a:buNone/>
            </a:pPr>
            <a:r>
              <a:rPr lang="en-US" sz="1000" dirty="0">
                <a:solidFill>
                  <a:schemeClr val="tx2"/>
                </a:solidFill>
              </a:rPr>
              <a:t>Only the follow-up questions that are needed</a:t>
            </a:r>
            <a:endParaRPr lang="en-US" sz="1000" dirty="0"/>
          </a:p>
        </p:txBody>
      </p:sp>
      <p:sp>
        <p:nvSpPr>
          <p:cNvPr id="9" name="arrow-87"/>
          <p:cNvSpPr/>
          <p:nvPr/>
        </p:nvSpPr>
        <p:spPr>
          <a:xfrm>
            <a:off x="1938528" y="1623060"/>
            <a:ext cx="192024" cy="0"/>
          </a:xfrm>
          <a:prstGeom prst="line">
            <a:avLst/>
          </a:prstGeom>
          <a:noFill/>
          <a:ln w="19050">
            <a:solidFill>
              <a:schemeClr val="accent5"/>
            </a:solidFill>
            <a:prstDash val="solid"/>
            <a:tailEnd type="triangle"/>
          </a:ln>
        </p:spPr>
      </p:sp>
      <p:sp>
        <p:nvSpPr>
          <p:cNvPr id="10" name="box-88"/>
          <p:cNvSpPr/>
          <p:nvPr/>
        </p:nvSpPr>
        <p:spPr>
          <a:xfrm>
            <a:off x="3840480" y="1097280"/>
            <a:ext cx="1463040" cy="1051560"/>
          </a:xfrm>
          <a:prstGeom prst="roundRect">
            <a:avLst>
              <a:gd name="adj" fmla="val 6957"/>
            </a:avLst>
          </a:prstGeom>
          <a:solidFill>
            <a:schemeClr val="tx2"/>
          </a:solidFill>
          <a:ln/>
        </p:spPr>
      </p:sp>
      <p:sp>
        <p:nvSpPr>
          <p:cNvPr id="11" name="text-89"/>
          <p:cNvSpPr txBox="1"/>
          <p:nvPr/>
        </p:nvSpPr>
        <p:spPr>
          <a:xfrm>
            <a:off x="3913632" y="1170432"/>
            <a:ext cx="1316736" cy="384048"/>
          </a:xfrm>
          <a:prstGeom prst="rect">
            <a:avLst/>
          </a:prstGeom>
          <a:noFill/>
          <a:ln/>
        </p:spPr>
        <p:txBody>
          <a:bodyPr wrap="square" lIns="0" tIns="0" rIns="0" bIns="0" rtlCol="0" anchor="ctr"/>
          <a:lstStyle/>
          <a:p>
            <a:pPr indent="0" marL="0">
              <a:buNone/>
            </a:pPr>
            <a:r>
              <a:rPr lang="en-US" sz="1200" b="1" dirty="0">
                <a:solidFill>
                  <a:schemeClr val="bg1"/>
                </a:solidFill>
              </a:rPr>
              <a:t>3  AI analysis</a:t>
            </a:r>
            <a:endParaRPr lang="en-US" sz="1200" dirty="0"/>
          </a:p>
        </p:txBody>
      </p:sp>
      <p:sp>
        <p:nvSpPr>
          <p:cNvPr id="12" name="text-90"/>
          <p:cNvSpPr txBox="1"/>
          <p:nvPr/>
        </p:nvSpPr>
        <p:spPr>
          <a:xfrm>
            <a:off x="3913632" y="1572768"/>
            <a:ext cx="1316736" cy="530352"/>
          </a:xfrm>
          <a:prstGeom prst="rect">
            <a:avLst/>
          </a:prstGeom>
          <a:noFill/>
          <a:ln/>
        </p:spPr>
        <p:txBody>
          <a:bodyPr wrap="square" lIns="0" tIns="0" rIns="0" bIns="0" rtlCol="0" anchor="t"/>
          <a:lstStyle/>
          <a:p>
            <a:pPr indent="0" marL="0">
              <a:buNone/>
            </a:pPr>
            <a:r>
              <a:rPr lang="en-US" sz="1000" dirty="0">
                <a:solidFill>
                  <a:schemeClr val="bg1"/>
                </a:solidFill>
              </a:rPr>
              <a:t>Decides which legal topics are involved</a:t>
            </a:r>
            <a:endParaRPr lang="en-US" sz="1000" dirty="0"/>
          </a:p>
        </p:txBody>
      </p:sp>
      <p:sp>
        <p:nvSpPr>
          <p:cNvPr id="13" name="arrow-91"/>
          <p:cNvSpPr/>
          <p:nvPr/>
        </p:nvSpPr>
        <p:spPr>
          <a:xfrm>
            <a:off x="3630168" y="1623060"/>
            <a:ext cx="192024" cy="0"/>
          </a:xfrm>
          <a:prstGeom prst="line">
            <a:avLst/>
          </a:prstGeom>
          <a:noFill/>
          <a:ln w="19050">
            <a:solidFill>
              <a:schemeClr val="accent5"/>
            </a:solidFill>
            <a:prstDash val="solid"/>
            <a:tailEnd type="triangle"/>
          </a:ln>
        </p:spPr>
      </p:sp>
      <p:sp>
        <p:nvSpPr>
          <p:cNvPr id="14" name="box-92"/>
          <p:cNvSpPr/>
          <p:nvPr/>
        </p:nvSpPr>
        <p:spPr>
          <a:xfrm>
            <a:off x="5532120" y="1097280"/>
            <a:ext cx="1463040" cy="1051560"/>
          </a:xfrm>
          <a:prstGeom prst="roundRect">
            <a:avLst>
              <a:gd name="adj" fmla="val 6957"/>
            </a:avLst>
          </a:prstGeom>
          <a:solidFill>
            <a:schemeClr val="tx2"/>
          </a:solidFill>
          <a:ln/>
        </p:spPr>
      </p:sp>
      <p:sp>
        <p:nvSpPr>
          <p:cNvPr id="15" name="text-93"/>
          <p:cNvSpPr txBox="1"/>
          <p:nvPr/>
        </p:nvSpPr>
        <p:spPr>
          <a:xfrm>
            <a:off x="5605272" y="1170432"/>
            <a:ext cx="1316736" cy="384048"/>
          </a:xfrm>
          <a:prstGeom prst="rect">
            <a:avLst/>
          </a:prstGeom>
          <a:noFill/>
          <a:ln/>
        </p:spPr>
        <p:txBody>
          <a:bodyPr wrap="square" lIns="0" tIns="0" rIns="0" bIns="0" rtlCol="0" anchor="ctr"/>
          <a:lstStyle/>
          <a:p>
            <a:pPr indent="0" marL="0">
              <a:buNone/>
            </a:pPr>
            <a:r>
              <a:rPr lang="en-US" sz="1200" b="1" dirty="0">
                <a:solidFill>
                  <a:schemeClr val="bg1"/>
                </a:solidFill>
              </a:rPr>
              <a:t>4  Legal source retrieval</a:t>
            </a:r>
            <a:endParaRPr lang="en-US" sz="1200" dirty="0"/>
          </a:p>
        </p:txBody>
      </p:sp>
      <p:sp>
        <p:nvSpPr>
          <p:cNvPr id="16" name="text-94"/>
          <p:cNvSpPr txBox="1"/>
          <p:nvPr/>
        </p:nvSpPr>
        <p:spPr>
          <a:xfrm>
            <a:off x="5605272" y="1572768"/>
            <a:ext cx="1316736" cy="530352"/>
          </a:xfrm>
          <a:prstGeom prst="rect">
            <a:avLst/>
          </a:prstGeom>
          <a:noFill/>
          <a:ln/>
        </p:spPr>
        <p:txBody>
          <a:bodyPr wrap="square" lIns="0" tIns="0" rIns="0" bIns="0" rtlCol="0" anchor="t"/>
          <a:lstStyle/>
          <a:p>
            <a:pPr indent="0" marL="0">
              <a:buNone/>
            </a:pPr>
            <a:r>
              <a:rPr lang="en-US" sz="1000" dirty="0">
                <a:solidFill>
                  <a:schemeClr val="bg1"/>
                </a:solidFill>
              </a:rPr>
              <a:t>RAG fetches the most relevant sources</a:t>
            </a:r>
            <a:endParaRPr lang="en-US" sz="1000" dirty="0"/>
          </a:p>
        </p:txBody>
      </p:sp>
      <p:sp>
        <p:nvSpPr>
          <p:cNvPr id="17" name="arrow-95"/>
          <p:cNvSpPr/>
          <p:nvPr/>
        </p:nvSpPr>
        <p:spPr>
          <a:xfrm>
            <a:off x="5321808" y="1623060"/>
            <a:ext cx="192024" cy="0"/>
          </a:xfrm>
          <a:prstGeom prst="line">
            <a:avLst/>
          </a:prstGeom>
          <a:noFill/>
          <a:ln w="19050">
            <a:solidFill>
              <a:schemeClr val="accent5"/>
            </a:solidFill>
            <a:prstDash val="solid"/>
            <a:tailEnd type="triangle"/>
          </a:ln>
        </p:spPr>
      </p:sp>
      <p:sp>
        <p:nvSpPr>
          <p:cNvPr id="18" name="box-96"/>
          <p:cNvSpPr/>
          <p:nvPr/>
        </p:nvSpPr>
        <p:spPr>
          <a:xfrm>
            <a:off x="7223760" y="1097280"/>
            <a:ext cx="1463040" cy="1051560"/>
          </a:xfrm>
          <a:prstGeom prst="roundRect">
            <a:avLst>
              <a:gd name="adj" fmla="val 6957"/>
            </a:avLst>
          </a:prstGeom>
          <a:solidFill>
            <a:schemeClr val="tx2"/>
          </a:solidFill>
          <a:ln/>
        </p:spPr>
      </p:sp>
      <p:sp>
        <p:nvSpPr>
          <p:cNvPr id="19" name="text-97"/>
          <p:cNvSpPr txBox="1"/>
          <p:nvPr/>
        </p:nvSpPr>
        <p:spPr>
          <a:xfrm>
            <a:off x="7296912" y="1170432"/>
            <a:ext cx="1316736" cy="384048"/>
          </a:xfrm>
          <a:prstGeom prst="rect">
            <a:avLst/>
          </a:prstGeom>
          <a:noFill/>
          <a:ln/>
        </p:spPr>
        <p:txBody>
          <a:bodyPr wrap="square" lIns="0" tIns="0" rIns="0" bIns="0" rtlCol="0" anchor="ctr"/>
          <a:lstStyle/>
          <a:p>
            <a:pPr indent="0" marL="0">
              <a:buNone/>
            </a:pPr>
            <a:r>
              <a:rPr lang="en-US" sz="1200" b="1" dirty="0">
                <a:solidFill>
                  <a:schemeClr val="bg1"/>
                </a:solidFill>
              </a:rPr>
              <a:t>5  Document analysis</a:t>
            </a:r>
            <a:endParaRPr lang="en-US" sz="1200" dirty="0"/>
          </a:p>
        </p:txBody>
      </p:sp>
      <p:sp>
        <p:nvSpPr>
          <p:cNvPr id="20" name="text-98"/>
          <p:cNvSpPr txBox="1"/>
          <p:nvPr/>
        </p:nvSpPr>
        <p:spPr>
          <a:xfrm>
            <a:off x="7296912" y="1572768"/>
            <a:ext cx="1316736" cy="530352"/>
          </a:xfrm>
          <a:prstGeom prst="rect">
            <a:avLst/>
          </a:prstGeom>
          <a:noFill/>
          <a:ln/>
        </p:spPr>
        <p:txBody>
          <a:bodyPr wrap="square" lIns="0" tIns="0" rIns="0" bIns="0" rtlCol="0" anchor="t"/>
          <a:lstStyle/>
          <a:p>
            <a:pPr indent="0" marL="0">
              <a:buNone/>
            </a:pPr>
            <a:r>
              <a:rPr lang="en-US" sz="1000" dirty="0">
                <a:solidFill>
                  <a:schemeClr val="bg1"/>
                </a:solidFill>
              </a:rPr>
              <a:t>PyMuPDF + OCR extract text and clauses</a:t>
            </a:r>
            <a:endParaRPr lang="en-US" sz="1000" dirty="0"/>
          </a:p>
        </p:txBody>
      </p:sp>
      <p:sp>
        <p:nvSpPr>
          <p:cNvPr id="21" name="arrow-99"/>
          <p:cNvSpPr/>
          <p:nvPr/>
        </p:nvSpPr>
        <p:spPr>
          <a:xfrm>
            <a:off x="7013448" y="1623060"/>
            <a:ext cx="192024" cy="0"/>
          </a:xfrm>
          <a:prstGeom prst="line">
            <a:avLst/>
          </a:prstGeom>
          <a:noFill/>
          <a:ln w="19050">
            <a:solidFill>
              <a:schemeClr val="accent5"/>
            </a:solidFill>
            <a:prstDash val="solid"/>
            <a:tailEnd type="triangle"/>
          </a:ln>
        </p:spPr>
      </p:sp>
      <p:sp>
        <p:nvSpPr>
          <p:cNvPr id="22" name="box-100"/>
          <p:cNvSpPr/>
          <p:nvPr/>
        </p:nvSpPr>
        <p:spPr>
          <a:xfrm>
            <a:off x="1303020" y="2743200"/>
            <a:ext cx="1463040" cy="1051560"/>
          </a:xfrm>
          <a:prstGeom prst="roundRect">
            <a:avLst>
              <a:gd name="adj" fmla="val 6957"/>
            </a:avLst>
          </a:prstGeom>
          <a:solidFill>
            <a:schemeClr val="accent3"/>
          </a:solidFill>
          <a:ln/>
        </p:spPr>
      </p:sp>
      <p:sp>
        <p:nvSpPr>
          <p:cNvPr id="23" name="text-101"/>
          <p:cNvSpPr txBox="1"/>
          <p:nvPr/>
        </p:nvSpPr>
        <p:spPr>
          <a:xfrm>
            <a:off x="1376172" y="2816352"/>
            <a:ext cx="1316736" cy="384048"/>
          </a:xfrm>
          <a:prstGeom prst="rect">
            <a:avLst/>
          </a:prstGeom>
          <a:noFill/>
          <a:ln/>
        </p:spPr>
        <p:txBody>
          <a:bodyPr wrap="square" lIns="0" tIns="0" rIns="0" bIns="0" rtlCol="0" anchor="ctr"/>
          <a:lstStyle/>
          <a:p>
            <a:pPr indent="0" marL="0">
              <a:buNone/>
            </a:pPr>
            <a:r>
              <a:rPr lang="en-US" sz="1200" b="1" dirty="0">
                <a:solidFill>
                  <a:schemeClr val="tx2"/>
                </a:solidFill>
              </a:rPr>
              <a:t>6  Legal guidance</a:t>
            </a:r>
            <a:endParaRPr lang="en-US" sz="1200" dirty="0"/>
          </a:p>
        </p:txBody>
      </p:sp>
      <p:sp>
        <p:nvSpPr>
          <p:cNvPr id="24" name="text-102"/>
          <p:cNvSpPr txBox="1"/>
          <p:nvPr/>
        </p:nvSpPr>
        <p:spPr>
          <a:xfrm>
            <a:off x="1376172" y="3218688"/>
            <a:ext cx="1316736" cy="530352"/>
          </a:xfrm>
          <a:prstGeom prst="rect">
            <a:avLst/>
          </a:prstGeom>
          <a:noFill/>
          <a:ln/>
        </p:spPr>
        <p:txBody>
          <a:bodyPr wrap="square" lIns="0" tIns="0" rIns="0" bIns="0" rtlCol="0" anchor="t"/>
          <a:lstStyle/>
          <a:p>
            <a:pPr indent="0" marL="0">
              <a:buNone/>
            </a:pPr>
            <a:r>
              <a:rPr lang="en-US" sz="1000" dirty="0">
                <a:solidFill>
                  <a:schemeClr val="tx2"/>
                </a:solidFill>
              </a:rPr>
              <a:t>Plain-language answer, citations, evidence checklist</a:t>
            </a:r>
            <a:endParaRPr lang="en-US" sz="1000" dirty="0"/>
          </a:p>
        </p:txBody>
      </p:sp>
      <p:sp>
        <p:nvSpPr>
          <p:cNvPr id="25" name="box-103"/>
          <p:cNvSpPr/>
          <p:nvPr/>
        </p:nvSpPr>
        <p:spPr>
          <a:xfrm>
            <a:off x="2994660" y="2743200"/>
            <a:ext cx="1463040" cy="1051560"/>
          </a:xfrm>
          <a:prstGeom prst="roundRect">
            <a:avLst>
              <a:gd name="adj" fmla="val 6957"/>
            </a:avLst>
          </a:prstGeom>
          <a:solidFill>
            <a:schemeClr val="accent2"/>
          </a:solidFill>
          <a:ln/>
        </p:spPr>
      </p:sp>
      <p:sp>
        <p:nvSpPr>
          <p:cNvPr id="26" name="text-104"/>
          <p:cNvSpPr txBox="1"/>
          <p:nvPr/>
        </p:nvSpPr>
        <p:spPr>
          <a:xfrm>
            <a:off x="3067812" y="2816352"/>
            <a:ext cx="1316736" cy="384048"/>
          </a:xfrm>
          <a:prstGeom prst="rect">
            <a:avLst/>
          </a:prstGeom>
          <a:noFill/>
          <a:ln/>
        </p:spPr>
        <p:txBody>
          <a:bodyPr wrap="square" lIns="0" tIns="0" rIns="0" bIns="0" rtlCol="0" anchor="ctr"/>
          <a:lstStyle/>
          <a:p>
            <a:pPr indent="0" marL="0">
              <a:buNone/>
            </a:pPr>
            <a:r>
              <a:rPr lang="en-US" sz="1200" b="1" dirty="0">
                <a:solidFill>
                  <a:schemeClr val="bg1"/>
                </a:solidFill>
              </a:rPr>
              <a:t>7  Lawyer assistance</a:t>
            </a:r>
            <a:endParaRPr lang="en-US" sz="1200" dirty="0"/>
          </a:p>
        </p:txBody>
      </p:sp>
      <p:sp>
        <p:nvSpPr>
          <p:cNvPr id="27" name="text-105"/>
          <p:cNvSpPr txBox="1"/>
          <p:nvPr/>
        </p:nvSpPr>
        <p:spPr>
          <a:xfrm>
            <a:off x="3067812" y="3218688"/>
            <a:ext cx="1316736" cy="530352"/>
          </a:xfrm>
          <a:prstGeom prst="rect">
            <a:avLst/>
          </a:prstGeom>
          <a:noFill/>
          <a:ln/>
        </p:spPr>
        <p:txBody>
          <a:bodyPr wrap="square" lIns="0" tIns="0" rIns="0" bIns="0" rtlCol="0" anchor="t"/>
          <a:lstStyle/>
          <a:p>
            <a:pPr indent="0" marL="0">
              <a:buNone/>
            </a:pPr>
            <a:r>
              <a:rPr lang="en-US" sz="1000" dirty="0">
                <a:solidFill>
                  <a:schemeClr val="bg1"/>
                </a:solidFill>
              </a:rPr>
              <a:t>Find a verified lawyer and share the case with consent</a:t>
            </a:r>
            <a:endParaRPr lang="en-US" sz="1000" dirty="0"/>
          </a:p>
        </p:txBody>
      </p:sp>
      <p:sp>
        <p:nvSpPr>
          <p:cNvPr id="28" name="arrow-106"/>
          <p:cNvSpPr/>
          <p:nvPr/>
        </p:nvSpPr>
        <p:spPr>
          <a:xfrm>
            <a:off x="2784348" y="3268980"/>
            <a:ext cx="192024" cy="0"/>
          </a:xfrm>
          <a:prstGeom prst="line">
            <a:avLst/>
          </a:prstGeom>
          <a:noFill/>
          <a:ln w="19050">
            <a:solidFill>
              <a:schemeClr val="accent5"/>
            </a:solidFill>
            <a:prstDash val="solid"/>
            <a:tailEnd type="triangle"/>
          </a:ln>
        </p:spPr>
      </p:sp>
      <p:sp>
        <p:nvSpPr>
          <p:cNvPr id="29" name="box-107"/>
          <p:cNvSpPr/>
          <p:nvPr/>
        </p:nvSpPr>
        <p:spPr>
          <a:xfrm>
            <a:off x="4686300" y="2743200"/>
            <a:ext cx="1463040" cy="1051560"/>
          </a:xfrm>
          <a:prstGeom prst="roundRect">
            <a:avLst>
              <a:gd name="adj" fmla="val 6957"/>
            </a:avLst>
          </a:prstGeom>
          <a:solidFill>
            <a:schemeClr val="accent3"/>
          </a:solidFill>
          <a:ln/>
        </p:spPr>
      </p:sp>
      <p:sp>
        <p:nvSpPr>
          <p:cNvPr id="30" name="text-108"/>
          <p:cNvSpPr txBox="1"/>
          <p:nvPr/>
        </p:nvSpPr>
        <p:spPr>
          <a:xfrm>
            <a:off x="4759452" y="2816352"/>
            <a:ext cx="1316736" cy="384048"/>
          </a:xfrm>
          <a:prstGeom prst="rect">
            <a:avLst/>
          </a:prstGeom>
          <a:noFill/>
          <a:ln/>
        </p:spPr>
        <p:txBody>
          <a:bodyPr wrap="square" lIns="0" tIns="0" rIns="0" bIns="0" rtlCol="0" anchor="ctr"/>
          <a:lstStyle/>
          <a:p>
            <a:pPr indent="0" marL="0">
              <a:buNone/>
            </a:pPr>
            <a:r>
              <a:rPr lang="en-US" sz="1200" b="1" dirty="0">
                <a:solidFill>
                  <a:schemeClr val="tx2"/>
                </a:solidFill>
              </a:rPr>
              <a:t>8  Case tracking</a:t>
            </a:r>
            <a:endParaRPr lang="en-US" sz="1200" dirty="0"/>
          </a:p>
        </p:txBody>
      </p:sp>
      <p:sp>
        <p:nvSpPr>
          <p:cNvPr id="31" name="text-109"/>
          <p:cNvSpPr txBox="1"/>
          <p:nvPr/>
        </p:nvSpPr>
        <p:spPr>
          <a:xfrm>
            <a:off x="4759452" y="3218688"/>
            <a:ext cx="1316736" cy="530352"/>
          </a:xfrm>
          <a:prstGeom prst="rect">
            <a:avLst/>
          </a:prstGeom>
          <a:noFill/>
          <a:ln/>
        </p:spPr>
        <p:txBody>
          <a:bodyPr wrap="square" lIns="0" tIns="0" rIns="0" bIns="0" rtlCol="0" anchor="t"/>
          <a:lstStyle/>
          <a:p>
            <a:pPr indent="0" marL="0">
              <a:buNone/>
            </a:pPr>
            <a:r>
              <a:rPr lang="en-US" sz="1000" dirty="0">
                <a:solidFill>
                  <a:schemeClr val="tx2"/>
                </a:solidFill>
              </a:rPr>
              <a:t>Follow the status on the platform</a:t>
            </a:r>
            <a:endParaRPr lang="en-US" sz="1000" dirty="0"/>
          </a:p>
        </p:txBody>
      </p:sp>
      <p:sp>
        <p:nvSpPr>
          <p:cNvPr id="32" name="arrow-110"/>
          <p:cNvSpPr/>
          <p:nvPr/>
        </p:nvSpPr>
        <p:spPr>
          <a:xfrm>
            <a:off x="4475988" y="3268980"/>
            <a:ext cx="192024" cy="0"/>
          </a:xfrm>
          <a:prstGeom prst="line">
            <a:avLst/>
          </a:prstGeom>
          <a:noFill/>
          <a:ln w="19050">
            <a:solidFill>
              <a:schemeClr val="accent5"/>
            </a:solidFill>
            <a:prstDash val="solid"/>
            <a:tailEnd type="triangle"/>
          </a:ln>
        </p:spPr>
      </p:sp>
      <p:sp>
        <p:nvSpPr>
          <p:cNvPr id="33" name="box-111"/>
          <p:cNvSpPr/>
          <p:nvPr/>
        </p:nvSpPr>
        <p:spPr>
          <a:xfrm>
            <a:off x="6377940" y="2743200"/>
            <a:ext cx="1463040" cy="1051560"/>
          </a:xfrm>
          <a:prstGeom prst="roundRect">
            <a:avLst>
              <a:gd name="adj" fmla="val 6957"/>
            </a:avLst>
          </a:prstGeom>
          <a:solidFill>
            <a:schemeClr val="accent5"/>
          </a:solidFill>
          <a:ln/>
        </p:spPr>
      </p:sp>
      <p:sp>
        <p:nvSpPr>
          <p:cNvPr id="34" name="text-112"/>
          <p:cNvSpPr txBox="1"/>
          <p:nvPr/>
        </p:nvSpPr>
        <p:spPr>
          <a:xfrm>
            <a:off x="6451092" y="2816352"/>
            <a:ext cx="1316736" cy="384048"/>
          </a:xfrm>
          <a:prstGeom prst="rect">
            <a:avLst/>
          </a:prstGeom>
          <a:noFill/>
          <a:ln/>
        </p:spPr>
        <p:txBody>
          <a:bodyPr wrap="square" lIns="0" tIns="0" rIns="0" bIns="0" rtlCol="0" anchor="ctr"/>
          <a:lstStyle/>
          <a:p>
            <a:pPr indent="0" marL="0">
              <a:buNone/>
            </a:pPr>
            <a:r>
              <a:rPr lang="en-US" sz="1200" b="1" dirty="0">
                <a:solidFill>
                  <a:schemeClr val="bg1"/>
                </a:solidFill>
              </a:rPr>
              <a:t>9  Resolution</a:t>
            </a:r>
            <a:endParaRPr lang="en-US" sz="1200" dirty="0"/>
          </a:p>
        </p:txBody>
      </p:sp>
      <p:sp>
        <p:nvSpPr>
          <p:cNvPr id="35" name="text-113"/>
          <p:cNvSpPr txBox="1"/>
          <p:nvPr/>
        </p:nvSpPr>
        <p:spPr>
          <a:xfrm>
            <a:off x="6451092" y="3218688"/>
            <a:ext cx="1316736" cy="530352"/>
          </a:xfrm>
          <a:prstGeom prst="rect">
            <a:avLst/>
          </a:prstGeom>
          <a:noFill/>
          <a:ln/>
        </p:spPr>
        <p:txBody>
          <a:bodyPr wrap="square" lIns="0" tIns="0" rIns="0" bIns="0" rtlCol="0" anchor="t"/>
          <a:lstStyle/>
          <a:p>
            <a:pPr indent="0" marL="0">
              <a:buNone/>
            </a:pPr>
            <a:r>
              <a:rPr lang="en-US" sz="1000" dirty="0">
                <a:solidFill>
                  <a:schemeClr val="bg1"/>
                </a:solidFill>
              </a:rPr>
              <a:t>Case closed once resolved</a:t>
            </a:r>
            <a:endParaRPr lang="en-US" sz="1000" dirty="0"/>
          </a:p>
        </p:txBody>
      </p:sp>
      <p:sp>
        <p:nvSpPr>
          <p:cNvPr id="36" name="arrow-114"/>
          <p:cNvSpPr/>
          <p:nvPr/>
        </p:nvSpPr>
        <p:spPr>
          <a:xfrm>
            <a:off x="6167628" y="3268980"/>
            <a:ext cx="192024" cy="0"/>
          </a:xfrm>
          <a:prstGeom prst="line">
            <a:avLst/>
          </a:prstGeom>
          <a:noFill/>
          <a:ln w="19050">
            <a:solidFill>
              <a:schemeClr val="accent5"/>
            </a:solidFill>
            <a:prstDash val="solid"/>
            <a:tailEnd type="triangle"/>
          </a:ln>
        </p:spPr>
      </p:sp>
      <p:sp>
        <p:nvSpPr>
          <p:cNvPr id="37" name="arrow-115"/>
          <p:cNvSpPr/>
          <p:nvPr/>
        </p:nvSpPr>
        <p:spPr>
          <a:xfrm>
            <a:off x="7955280" y="2148840"/>
            <a:ext cx="0" cy="292608"/>
          </a:xfrm>
          <a:prstGeom prst="line">
            <a:avLst/>
          </a:prstGeom>
          <a:noFill/>
          <a:ln w="19050">
            <a:solidFill>
              <a:schemeClr val="accent5"/>
            </a:solidFill>
            <a:prstDash val="solid"/>
          </a:ln>
        </p:spPr>
      </p:sp>
      <p:sp>
        <p:nvSpPr>
          <p:cNvPr id="38" name="arrow-116"/>
          <p:cNvSpPr/>
          <p:nvPr/>
        </p:nvSpPr>
        <p:spPr>
          <a:xfrm flipH="1">
            <a:off x="2034540" y="2441448"/>
            <a:ext cx="5920740" cy="0"/>
          </a:xfrm>
          <a:prstGeom prst="line">
            <a:avLst/>
          </a:prstGeom>
          <a:noFill/>
          <a:ln w="19050">
            <a:solidFill>
              <a:schemeClr val="accent5"/>
            </a:solidFill>
            <a:prstDash val="solid"/>
          </a:ln>
        </p:spPr>
      </p:sp>
      <p:sp>
        <p:nvSpPr>
          <p:cNvPr id="39" name="arrow-117"/>
          <p:cNvSpPr/>
          <p:nvPr/>
        </p:nvSpPr>
        <p:spPr>
          <a:xfrm>
            <a:off x="2034540" y="2441448"/>
            <a:ext cx="0" cy="283464"/>
          </a:xfrm>
          <a:prstGeom prst="line">
            <a:avLst/>
          </a:prstGeom>
          <a:noFill/>
          <a:ln w="19050">
            <a:solidFill>
              <a:schemeClr val="accent5"/>
            </a:solidFill>
            <a:prstDash val="solid"/>
            <a:tailEnd type="triangle"/>
          </a:ln>
        </p:spPr>
      </p:sp>
      <p:sp>
        <p:nvSpPr>
          <p:cNvPr id="40" name="legend-118"/>
          <p:cNvSpPr/>
          <p:nvPr/>
        </p:nvSpPr>
        <p:spPr>
          <a:xfrm>
            <a:off x="457200" y="4224528"/>
            <a:ext cx="274320" cy="201168"/>
          </a:xfrm>
          <a:prstGeom prst="roundRect">
            <a:avLst>
              <a:gd name="adj" fmla="val 22727"/>
            </a:avLst>
          </a:prstGeom>
          <a:solidFill>
            <a:schemeClr val="accent3"/>
          </a:solidFill>
          <a:ln/>
        </p:spPr>
      </p:sp>
      <p:sp>
        <p:nvSpPr>
          <p:cNvPr id="41" name="text-119"/>
          <p:cNvSpPr txBox="1"/>
          <p:nvPr/>
        </p:nvSpPr>
        <p:spPr>
          <a:xfrm>
            <a:off x="822960" y="4197096"/>
            <a:ext cx="1737360" cy="256032"/>
          </a:xfrm>
          <a:prstGeom prst="rect">
            <a:avLst/>
          </a:prstGeom>
          <a:noFill/>
          <a:ln/>
        </p:spPr>
        <p:txBody>
          <a:bodyPr wrap="square" lIns="0" tIns="0" rIns="0" bIns="0" rtlCol="0" anchor="ctr"/>
          <a:lstStyle/>
          <a:p>
            <a:pPr indent="0" marL="0">
              <a:buNone/>
            </a:pPr>
            <a:r>
              <a:rPr lang="en-US" sz="1100" dirty="0">
                <a:solidFill>
                  <a:schemeClr val="tx1"/>
                </a:solidFill>
              </a:rPr>
              <a:t>Citizen (1, 2, 6, 8)</a:t>
            </a:r>
            <a:endParaRPr lang="en-US" sz="1100" dirty="0"/>
          </a:p>
        </p:txBody>
      </p:sp>
      <p:sp>
        <p:nvSpPr>
          <p:cNvPr id="42" name="legend-120"/>
          <p:cNvSpPr/>
          <p:nvPr/>
        </p:nvSpPr>
        <p:spPr>
          <a:xfrm>
            <a:off x="2560320" y="4224528"/>
            <a:ext cx="274320" cy="201168"/>
          </a:xfrm>
          <a:prstGeom prst="roundRect">
            <a:avLst>
              <a:gd name="adj" fmla="val 22727"/>
            </a:avLst>
          </a:prstGeom>
          <a:solidFill>
            <a:schemeClr val="tx2"/>
          </a:solidFill>
          <a:ln/>
        </p:spPr>
      </p:sp>
      <p:sp>
        <p:nvSpPr>
          <p:cNvPr id="43" name="text-121"/>
          <p:cNvSpPr txBox="1"/>
          <p:nvPr/>
        </p:nvSpPr>
        <p:spPr>
          <a:xfrm>
            <a:off x="2926080" y="4197096"/>
            <a:ext cx="1737360" cy="256032"/>
          </a:xfrm>
          <a:prstGeom prst="rect">
            <a:avLst/>
          </a:prstGeom>
          <a:noFill/>
          <a:ln/>
        </p:spPr>
        <p:txBody>
          <a:bodyPr wrap="square" lIns="0" tIns="0" rIns="0" bIns="0" rtlCol="0" anchor="ctr"/>
          <a:lstStyle/>
          <a:p>
            <a:pPr indent="0" marL="0">
              <a:buNone/>
            </a:pPr>
            <a:r>
              <a:rPr lang="en-US" sz="1100" dirty="0">
                <a:solidFill>
                  <a:schemeClr val="tx1"/>
                </a:solidFill>
              </a:rPr>
              <a:t>AI / RAG (3 to 5)</a:t>
            </a:r>
            <a:endParaRPr lang="en-US" sz="1100" dirty="0"/>
          </a:p>
        </p:txBody>
      </p:sp>
      <p:sp>
        <p:nvSpPr>
          <p:cNvPr id="44" name="legend-122"/>
          <p:cNvSpPr/>
          <p:nvPr/>
        </p:nvSpPr>
        <p:spPr>
          <a:xfrm>
            <a:off x="4663440" y="4224528"/>
            <a:ext cx="274320" cy="201168"/>
          </a:xfrm>
          <a:prstGeom prst="roundRect">
            <a:avLst>
              <a:gd name="adj" fmla="val 22727"/>
            </a:avLst>
          </a:prstGeom>
          <a:solidFill>
            <a:schemeClr val="accent2"/>
          </a:solidFill>
          <a:ln/>
        </p:spPr>
      </p:sp>
      <p:sp>
        <p:nvSpPr>
          <p:cNvPr id="45" name="text-123"/>
          <p:cNvSpPr txBox="1"/>
          <p:nvPr/>
        </p:nvSpPr>
        <p:spPr>
          <a:xfrm>
            <a:off x="5029200" y="4197096"/>
            <a:ext cx="1737360" cy="256032"/>
          </a:xfrm>
          <a:prstGeom prst="rect">
            <a:avLst/>
          </a:prstGeom>
          <a:noFill/>
          <a:ln/>
        </p:spPr>
        <p:txBody>
          <a:bodyPr wrap="square" lIns="0" tIns="0" rIns="0" bIns="0" rtlCol="0" anchor="ctr"/>
          <a:lstStyle/>
          <a:p>
            <a:pPr indent="0" marL="0">
              <a:buNone/>
            </a:pPr>
            <a:r>
              <a:rPr lang="en-US" sz="1100" dirty="0">
                <a:solidFill>
                  <a:schemeClr val="tx1"/>
                </a:solidFill>
              </a:rPr>
              <a:t>Lawyer (7)</a:t>
            </a:r>
            <a:endParaRPr lang="en-US" sz="1100" dirty="0"/>
          </a:p>
        </p:txBody>
      </p:sp>
      <p:sp>
        <p:nvSpPr>
          <p:cNvPr id="46" name="legend-124"/>
          <p:cNvSpPr/>
          <p:nvPr/>
        </p:nvSpPr>
        <p:spPr>
          <a:xfrm>
            <a:off x="6766560" y="4224528"/>
            <a:ext cx="274320" cy="201168"/>
          </a:xfrm>
          <a:prstGeom prst="roundRect">
            <a:avLst>
              <a:gd name="adj" fmla="val 22727"/>
            </a:avLst>
          </a:prstGeom>
          <a:solidFill>
            <a:schemeClr val="accent5"/>
          </a:solidFill>
          <a:ln/>
        </p:spPr>
      </p:sp>
      <p:sp>
        <p:nvSpPr>
          <p:cNvPr id="47" name="text-125"/>
          <p:cNvSpPr txBox="1"/>
          <p:nvPr/>
        </p:nvSpPr>
        <p:spPr>
          <a:xfrm>
            <a:off x="7132320" y="4197096"/>
            <a:ext cx="1737360" cy="256032"/>
          </a:xfrm>
          <a:prstGeom prst="rect">
            <a:avLst/>
          </a:prstGeom>
          <a:noFill/>
          <a:ln/>
        </p:spPr>
        <p:txBody>
          <a:bodyPr wrap="square" lIns="0" tIns="0" rIns="0" bIns="0" rtlCol="0" anchor="ctr"/>
          <a:lstStyle/>
          <a:p>
            <a:pPr indent="0" marL="0">
              <a:buNone/>
            </a:pPr>
            <a:r>
              <a:rPr lang="en-US" sz="1100" dirty="0">
                <a:solidFill>
                  <a:schemeClr val="tx1"/>
                </a:solidFill>
              </a:rPr>
              <a:t>Admin monitors the whole flow</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System Architecture: Three Layers</a:t>
            </a:r>
            <a:endParaRPr lang="en-US" sz="2800" dirty="0"/>
          </a:p>
        </p:txBody>
      </p:sp>
      <p:sp>
        <p:nvSpPr>
          <p:cNvPr id="3" name="box-126"/>
          <p:cNvSpPr/>
          <p:nvPr/>
        </p:nvSpPr>
        <p:spPr>
          <a:xfrm>
            <a:off x="457200" y="914400"/>
            <a:ext cx="8229600" cy="868680"/>
          </a:xfrm>
          <a:prstGeom prst="roundRect">
            <a:avLst>
              <a:gd name="adj" fmla="val 6316"/>
            </a:avLst>
          </a:prstGeom>
          <a:solidFill>
            <a:schemeClr val="bg2"/>
          </a:solidFill>
          <a:ln/>
        </p:spPr>
      </p:sp>
      <p:sp>
        <p:nvSpPr>
          <p:cNvPr id="4" name="text-127"/>
          <p:cNvSpPr txBox="1"/>
          <p:nvPr/>
        </p:nvSpPr>
        <p:spPr>
          <a:xfrm>
            <a:off x="594360" y="960120"/>
            <a:ext cx="548640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PRESENTATION LAYER  ·  React / Next.js</a:t>
            </a:r>
            <a:endParaRPr lang="en-US" sz="1100" dirty="0"/>
          </a:p>
        </p:txBody>
      </p:sp>
      <p:sp>
        <p:nvSpPr>
          <p:cNvPr id="5" name="box-128"/>
          <p:cNvSpPr/>
          <p:nvPr/>
        </p:nvSpPr>
        <p:spPr>
          <a:xfrm>
            <a:off x="457200" y="2103120"/>
            <a:ext cx="8229600" cy="1234440"/>
          </a:xfrm>
          <a:prstGeom prst="roundRect">
            <a:avLst>
              <a:gd name="adj" fmla="val 4444"/>
            </a:avLst>
          </a:prstGeom>
          <a:solidFill>
            <a:schemeClr val="bg2"/>
          </a:solidFill>
          <a:ln/>
        </p:spPr>
      </p:sp>
      <p:sp>
        <p:nvSpPr>
          <p:cNvPr id="6" name="text-129"/>
          <p:cNvSpPr txBox="1"/>
          <p:nvPr/>
        </p:nvSpPr>
        <p:spPr>
          <a:xfrm>
            <a:off x="594360" y="2148840"/>
            <a:ext cx="548640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APPLICATION LAYER  ·  Python FastAPI (REST APIs)</a:t>
            </a:r>
            <a:endParaRPr lang="en-US" sz="1100" dirty="0"/>
          </a:p>
        </p:txBody>
      </p:sp>
      <p:sp>
        <p:nvSpPr>
          <p:cNvPr id="7" name="box-130"/>
          <p:cNvSpPr/>
          <p:nvPr/>
        </p:nvSpPr>
        <p:spPr>
          <a:xfrm>
            <a:off x="457200" y="3611880"/>
            <a:ext cx="8229600" cy="1097280"/>
          </a:xfrm>
          <a:prstGeom prst="roundRect">
            <a:avLst>
              <a:gd name="adj" fmla="val 5000"/>
            </a:avLst>
          </a:prstGeom>
          <a:solidFill>
            <a:schemeClr val="bg2"/>
          </a:solidFill>
          <a:ln/>
        </p:spPr>
      </p:sp>
      <p:sp>
        <p:nvSpPr>
          <p:cNvPr id="8" name="text-131"/>
          <p:cNvSpPr txBox="1"/>
          <p:nvPr/>
        </p:nvSpPr>
        <p:spPr>
          <a:xfrm>
            <a:off x="594360" y="3657600"/>
            <a:ext cx="548640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DATA LAYER</a:t>
            </a:r>
            <a:endParaRPr lang="en-US" sz="1100" dirty="0"/>
          </a:p>
        </p:txBody>
      </p:sp>
      <p:sp>
        <p:nvSpPr>
          <p:cNvPr id="9" name="box-132"/>
          <p:cNvSpPr/>
          <p:nvPr/>
        </p:nvSpPr>
        <p:spPr>
          <a:xfrm>
            <a:off x="822960" y="1216152"/>
            <a:ext cx="2240280" cy="457200"/>
          </a:xfrm>
          <a:prstGeom prst="roundRect">
            <a:avLst>
              <a:gd name="adj" fmla="val 16000"/>
            </a:avLst>
          </a:prstGeom>
          <a:solidFill>
            <a:schemeClr val="bg1"/>
          </a:solidFill>
          <a:ln w="12700">
            <a:solidFill>
              <a:schemeClr val="accent1"/>
            </a:solidFill>
            <a:prstDash val="solid"/>
          </a:ln>
        </p:spPr>
      </p:sp>
      <p:sp>
        <p:nvSpPr>
          <p:cNvPr id="10" name="boxtext-133"/>
          <p:cNvSpPr txBox="1"/>
          <p:nvPr/>
        </p:nvSpPr>
        <p:spPr>
          <a:xfrm>
            <a:off x="822960" y="1216152"/>
            <a:ext cx="2240280" cy="457200"/>
          </a:xfrm>
          <a:prstGeom prst="rect">
            <a:avLst/>
          </a:prstGeom>
          <a:noFill/>
          <a:ln/>
        </p:spPr>
        <p:txBody>
          <a:bodyPr wrap="square" lIns="762" tIns="762" rIns="762" bIns="762" rtlCol="0" anchor="ctr"/>
          <a:lstStyle/>
          <a:p>
            <a:pPr algn="ctr" indent="0" marL="0">
              <a:buNone/>
            </a:pPr>
            <a:r>
              <a:rPr lang="en-US" sz="1300" b="1" dirty="0">
                <a:solidFill>
                  <a:schemeClr val="tx2"/>
                </a:solidFill>
              </a:rPr>
              <a:t>Citizen Portal</a:t>
            </a:r>
            <a:endParaRPr lang="en-US" sz="1300" dirty="0"/>
          </a:p>
        </p:txBody>
      </p:sp>
      <p:sp>
        <p:nvSpPr>
          <p:cNvPr id="11" name="box-134"/>
          <p:cNvSpPr/>
          <p:nvPr/>
        </p:nvSpPr>
        <p:spPr>
          <a:xfrm>
            <a:off x="3520440" y="1216152"/>
            <a:ext cx="2240280" cy="457200"/>
          </a:xfrm>
          <a:prstGeom prst="roundRect">
            <a:avLst>
              <a:gd name="adj" fmla="val 16000"/>
            </a:avLst>
          </a:prstGeom>
          <a:solidFill>
            <a:schemeClr val="bg1"/>
          </a:solidFill>
          <a:ln w="12700">
            <a:solidFill>
              <a:schemeClr val="accent1"/>
            </a:solidFill>
            <a:prstDash val="solid"/>
          </a:ln>
        </p:spPr>
      </p:sp>
      <p:sp>
        <p:nvSpPr>
          <p:cNvPr id="12" name="boxtext-135"/>
          <p:cNvSpPr txBox="1"/>
          <p:nvPr/>
        </p:nvSpPr>
        <p:spPr>
          <a:xfrm>
            <a:off x="3520440" y="1216152"/>
            <a:ext cx="2240280" cy="457200"/>
          </a:xfrm>
          <a:prstGeom prst="rect">
            <a:avLst/>
          </a:prstGeom>
          <a:noFill/>
          <a:ln/>
        </p:spPr>
        <p:txBody>
          <a:bodyPr wrap="square" lIns="762" tIns="762" rIns="762" bIns="762" rtlCol="0" anchor="ctr"/>
          <a:lstStyle/>
          <a:p>
            <a:pPr algn="ctr" indent="0" marL="0">
              <a:buNone/>
            </a:pPr>
            <a:r>
              <a:rPr lang="en-US" sz="1300" b="1" dirty="0">
                <a:solidFill>
                  <a:schemeClr val="tx2"/>
                </a:solidFill>
              </a:rPr>
              <a:t>Lawyer Portal</a:t>
            </a:r>
            <a:endParaRPr lang="en-US" sz="1300" dirty="0"/>
          </a:p>
        </p:txBody>
      </p:sp>
      <p:sp>
        <p:nvSpPr>
          <p:cNvPr id="13" name="box-136"/>
          <p:cNvSpPr/>
          <p:nvPr/>
        </p:nvSpPr>
        <p:spPr>
          <a:xfrm>
            <a:off x="6217920" y="1216152"/>
            <a:ext cx="2240280" cy="457200"/>
          </a:xfrm>
          <a:prstGeom prst="roundRect">
            <a:avLst>
              <a:gd name="adj" fmla="val 16000"/>
            </a:avLst>
          </a:prstGeom>
          <a:solidFill>
            <a:schemeClr val="bg1"/>
          </a:solidFill>
          <a:ln w="12700">
            <a:solidFill>
              <a:schemeClr val="accent1"/>
            </a:solidFill>
            <a:prstDash val="solid"/>
          </a:ln>
        </p:spPr>
      </p:sp>
      <p:sp>
        <p:nvSpPr>
          <p:cNvPr id="14" name="boxtext-137"/>
          <p:cNvSpPr txBox="1"/>
          <p:nvPr/>
        </p:nvSpPr>
        <p:spPr>
          <a:xfrm>
            <a:off x="6217920" y="1216152"/>
            <a:ext cx="2240280" cy="457200"/>
          </a:xfrm>
          <a:prstGeom prst="rect">
            <a:avLst/>
          </a:prstGeom>
          <a:noFill/>
          <a:ln/>
        </p:spPr>
        <p:txBody>
          <a:bodyPr wrap="square" lIns="762" tIns="762" rIns="762" bIns="762" rtlCol="0" anchor="ctr"/>
          <a:lstStyle/>
          <a:p>
            <a:pPr algn="ctr" indent="0" marL="0">
              <a:buNone/>
            </a:pPr>
            <a:r>
              <a:rPr lang="en-US" sz="1300" b="1" dirty="0">
                <a:solidFill>
                  <a:schemeClr val="tx2"/>
                </a:solidFill>
              </a:rPr>
              <a:t>Admin Portal</a:t>
            </a:r>
            <a:endParaRPr lang="en-US" sz="1300" dirty="0"/>
          </a:p>
        </p:txBody>
      </p:sp>
      <p:sp>
        <p:nvSpPr>
          <p:cNvPr id="15" name="arrow-138"/>
          <p:cNvSpPr/>
          <p:nvPr/>
        </p:nvSpPr>
        <p:spPr>
          <a:xfrm>
            <a:off x="4572000" y="1792224"/>
            <a:ext cx="0" cy="301752"/>
          </a:xfrm>
          <a:prstGeom prst="line">
            <a:avLst/>
          </a:prstGeom>
          <a:noFill/>
          <a:ln w="25400">
            <a:solidFill>
              <a:schemeClr val="accent1"/>
            </a:solidFill>
            <a:prstDash val="solid"/>
            <a:headEnd type="triangle"/>
            <a:tailEnd type="triangle"/>
          </a:ln>
        </p:spPr>
      </p:sp>
      <p:sp>
        <p:nvSpPr>
          <p:cNvPr id="16" name="text-139"/>
          <p:cNvSpPr txBox="1"/>
          <p:nvPr/>
        </p:nvSpPr>
        <p:spPr>
          <a:xfrm>
            <a:off x="4709160" y="1828800"/>
            <a:ext cx="1371600" cy="228600"/>
          </a:xfrm>
          <a:prstGeom prst="rect">
            <a:avLst/>
          </a:prstGeom>
          <a:noFill/>
          <a:ln/>
        </p:spPr>
        <p:txBody>
          <a:bodyPr wrap="square" lIns="0" tIns="0" rIns="0" bIns="0" rtlCol="0" anchor="ctr"/>
          <a:lstStyle/>
          <a:p>
            <a:pPr indent="0" marL="0">
              <a:buNone/>
            </a:pPr>
            <a:r>
              <a:rPr lang="en-US" sz="1000" i="1" dirty="0">
                <a:solidFill>
                  <a:schemeClr val="accent5"/>
                </a:solidFill>
              </a:rPr>
              <a:t>HTTPS / REST</a:t>
            </a:r>
            <a:endParaRPr lang="en-US" sz="1000" dirty="0"/>
          </a:p>
        </p:txBody>
      </p:sp>
      <p:sp>
        <p:nvSpPr>
          <p:cNvPr id="17" name="box-140"/>
          <p:cNvSpPr/>
          <p:nvPr/>
        </p:nvSpPr>
        <p:spPr>
          <a:xfrm>
            <a:off x="594360" y="2395728"/>
            <a:ext cx="1444752" cy="868680"/>
          </a:xfrm>
          <a:prstGeom prst="roundRect">
            <a:avLst>
              <a:gd name="adj" fmla="val 8421"/>
            </a:avLst>
          </a:prstGeom>
          <a:solidFill>
            <a:schemeClr val="bg1"/>
          </a:solidFill>
          <a:ln w="12700">
            <a:solidFill>
              <a:schemeClr val="accent1"/>
            </a:solidFill>
            <a:prstDash val="solid"/>
          </a:ln>
        </p:spPr>
      </p:sp>
      <p:sp>
        <p:nvSpPr>
          <p:cNvPr id="18" name="boxtext-141"/>
          <p:cNvSpPr txBox="1"/>
          <p:nvPr/>
        </p:nvSpPr>
        <p:spPr>
          <a:xfrm>
            <a:off x="594360" y="2395728"/>
            <a:ext cx="1444752" cy="868680"/>
          </a:xfrm>
          <a:prstGeom prst="rect">
            <a:avLst/>
          </a:prstGeom>
          <a:noFill/>
          <a:ln/>
        </p:spPr>
        <p:txBody>
          <a:bodyPr wrap="square" lIns="762" tIns="762" rIns="762" bIns="762" rtlCol="0" anchor="ctr"/>
          <a:lstStyle/>
          <a:p>
            <a:pPr algn="ctr" indent="0" marL="0">
              <a:buNone/>
            </a:pPr>
            <a:r>
              <a:rPr lang="en-US" sz="1100" dirty="0">
                <a:solidFill>
                  <a:schemeClr val="tx2"/>
                </a:solidFill>
              </a:rPr>
              <a:t>Authentication and users</a:t>
            </a:r>
            <a:endParaRPr lang="en-US" sz="1100" dirty="0"/>
          </a:p>
        </p:txBody>
      </p:sp>
      <p:sp>
        <p:nvSpPr>
          <p:cNvPr id="19" name="box-142"/>
          <p:cNvSpPr/>
          <p:nvPr/>
        </p:nvSpPr>
        <p:spPr>
          <a:xfrm>
            <a:off x="2221992" y="2395728"/>
            <a:ext cx="1444752" cy="868680"/>
          </a:xfrm>
          <a:prstGeom prst="roundRect">
            <a:avLst>
              <a:gd name="adj" fmla="val 8421"/>
            </a:avLst>
          </a:prstGeom>
          <a:solidFill>
            <a:schemeClr val="bg1"/>
          </a:solidFill>
          <a:ln w="12700">
            <a:solidFill>
              <a:schemeClr val="accent1"/>
            </a:solidFill>
            <a:prstDash val="solid"/>
          </a:ln>
        </p:spPr>
      </p:sp>
      <p:sp>
        <p:nvSpPr>
          <p:cNvPr id="20" name="boxtext-143"/>
          <p:cNvSpPr txBox="1"/>
          <p:nvPr/>
        </p:nvSpPr>
        <p:spPr>
          <a:xfrm>
            <a:off x="2221992" y="2395728"/>
            <a:ext cx="1444752" cy="868680"/>
          </a:xfrm>
          <a:prstGeom prst="rect">
            <a:avLst/>
          </a:prstGeom>
          <a:noFill/>
          <a:ln/>
        </p:spPr>
        <p:txBody>
          <a:bodyPr wrap="square" lIns="762" tIns="762" rIns="762" bIns="762" rtlCol="0" anchor="ctr"/>
          <a:lstStyle/>
          <a:p>
            <a:pPr algn="ctr" indent="0" marL="0">
              <a:buNone/>
            </a:pPr>
            <a:r>
              <a:rPr lang="en-US" sz="1100" dirty="0">
                <a:solidFill>
                  <a:schemeClr val="tx2"/>
                </a:solidFill>
              </a:rPr>
              <a:t>Case workflow and tracking</a:t>
            </a:r>
            <a:endParaRPr lang="en-US" sz="1100" dirty="0"/>
          </a:p>
        </p:txBody>
      </p:sp>
      <p:sp>
        <p:nvSpPr>
          <p:cNvPr id="21" name="box-144"/>
          <p:cNvSpPr/>
          <p:nvPr/>
        </p:nvSpPr>
        <p:spPr>
          <a:xfrm>
            <a:off x="3849624" y="2395728"/>
            <a:ext cx="1444752" cy="868680"/>
          </a:xfrm>
          <a:prstGeom prst="roundRect">
            <a:avLst>
              <a:gd name="adj" fmla="val 8421"/>
            </a:avLst>
          </a:prstGeom>
          <a:solidFill>
            <a:schemeClr val="bg1"/>
          </a:solidFill>
          <a:ln w="12700">
            <a:solidFill>
              <a:schemeClr val="accent1"/>
            </a:solidFill>
            <a:prstDash val="solid"/>
          </a:ln>
        </p:spPr>
      </p:sp>
      <p:sp>
        <p:nvSpPr>
          <p:cNvPr id="22" name="boxtext-145"/>
          <p:cNvSpPr txBox="1"/>
          <p:nvPr/>
        </p:nvSpPr>
        <p:spPr>
          <a:xfrm>
            <a:off x="3849624" y="2395728"/>
            <a:ext cx="1444752" cy="868680"/>
          </a:xfrm>
          <a:prstGeom prst="rect">
            <a:avLst/>
          </a:prstGeom>
          <a:noFill/>
          <a:ln/>
        </p:spPr>
        <p:txBody>
          <a:bodyPr wrap="square" lIns="762" tIns="762" rIns="762" bIns="762" rtlCol="0" anchor="ctr"/>
          <a:lstStyle/>
          <a:p>
            <a:pPr algn="ctr" indent="0" marL="0">
              <a:buNone/>
            </a:pPr>
            <a:r>
              <a:rPr lang="en-US" sz="1100" dirty="0">
                <a:solidFill>
                  <a:schemeClr val="tx2"/>
                </a:solidFill>
              </a:rPr>
              <a:t>Document processing (PyMuPDF, OCR)</a:t>
            </a:r>
            <a:endParaRPr lang="en-US" sz="1100" dirty="0"/>
          </a:p>
        </p:txBody>
      </p:sp>
      <p:sp>
        <p:nvSpPr>
          <p:cNvPr id="23" name="box-146"/>
          <p:cNvSpPr/>
          <p:nvPr/>
        </p:nvSpPr>
        <p:spPr>
          <a:xfrm>
            <a:off x="5477256" y="2395728"/>
            <a:ext cx="1444752" cy="868680"/>
          </a:xfrm>
          <a:prstGeom prst="roundRect">
            <a:avLst>
              <a:gd name="adj" fmla="val 8421"/>
            </a:avLst>
          </a:prstGeom>
          <a:solidFill>
            <a:schemeClr val="bg1"/>
          </a:solidFill>
          <a:ln w="12700">
            <a:solidFill>
              <a:schemeClr val="accent1"/>
            </a:solidFill>
            <a:prstDash val="solid"/>
          </a:ln>
        </p:spPr>
      </p:sp>
      <p:sp>
        <p:nvSpPr>
          <p:cNvPr id="24" name="boxtext-147"/>
          <p:cNvSpPr txBox="1"/>
          <p:nvPr/>
        </p:nvSpPr>
        <p:spPr>
          <a:xfrm>
            <a:off x="5477256" y="2395728"/>
            <a:ext cx="1444752" cy="868680"/>
          </a:xfrm>
          <a:prstGeom prst="rect">
            <a:avLst/>
          </a:prstGeom>
          <a:noFill/>
          <a:ln/>
        </p:spPr>
        <p:txBody>
          <a:bodyPr wrap="square" lIns="762" tIns="762" rIns="762" bIns="762" rtlCol="0" anchor="ctr"/>
          <a:lstStyle/>
          <a:p>
            <a:pPr algn="ctr" indent="0" marL="0">
              <a:buNone/>
            </a:pPr>
            <a:r>
              <a:rPr lang="en-US" sz="1100" dirty="0">
                <a:solidFill>
                  <a:schemeClr val="tx2"/>
                </a:solidFill>
              </a:rPr>
              <a:t>Query and follow-up questions</a:t>
            </a:r>
            <a:endParaRPr lang="en-US" sz="1100" dirty="0"/>
          </a:p>
        </p:txBody>
      </p:sp>
      <p:sp>
        <p:nvSpPr>
          <p:cNvPr id="25" name="box-148"/>
          <p:cNvSpPr/>
          <p:nvPr/>
        </p:nvSpPr>
        <p:spPr>
          <a:xfrm>
            <a:off x="7104888" y="2395728"/>
            <a:ext cx="1444752" cy="868680"/>
          </a:xfrm>
          <a:prstGeom prst="roundRect">
            <a:avLst>
              <a:gd name="adj" fmla="val 8421"/>
            </a:avLst>
          </a:prstGeom>
          <a:solidFill>
            <a:schemeClr val="tx2"/>
          </a:solidFill>
          <a:ln/>
        </p:spPr>
      </p:sp>
      <p:sp>
        <p:nvSpPr>
          <p:cNvPr id="26" name="boxtext-149"/>
          <p:cNvSpPr txBox="1"/>
          <p:nvPr/>
        </p:nvSpPr>
        <p:spPr>
          <a:xfrm>
            <a:off x="7104888" y="2395728"/>
            <a:ext cx="1444752" cy="868680"/>
          </a:xfrm>
          <a:prstGeom prst="rect">
            <a:avLst/>
          </a:prstGeom>
          <a:noFill/>
          <a:ln/>
        </p:spPr>
        <p:txBody>
          <a:bodyPr wrap="square" lIns="762" tIns="762" rIns="762" bIns="762" rtlCol="0" anchor="ctr"/>
          <a:lstStyle/>
          <a:p>
            <a:pPr algn="ctr" indent="0" marL="0">
              <a:buNone/>
            </a:pPr>
            <a:r>
              <a:rPr lang="en-US" sz="1100" b="1" dirty="0">
                <a:solidFill>
                  <a:schemeClr val="bg1"/>
                </a:solidFill>
              </a:rPr>
              <a:t>RAG service (Sentence Transformers + open-source LLM)</a:t>
            </a:r>
            <a:endParaRPr lang="en-US" sz="1100" dirty="0"/>
          </a:p>
        </p:txBody>
      </p:sp>
      <p:sp>
        <p:nvSpPr>
          <p:cNvPr id="27" name="arrow-150"/>
          <p:cNvSpPr/>
          <p:nvPr/>
        </p:nvSpPr>
        <p:spPr>
          <a:xfrm>
            <a:off x="6931152" y="2830068"/>
            <a:ext cx="164592" cy="0"/>
          </a:xfrm>
          <a:prstGeom prst="line">
            <a:avLst/>
          </a:prstGeom>
          <a:noFill/>
          <a:ln w="19050">
            <a:solidFill>
              <a:schemeClr val="accent1"/>
            </a:solidFill>
            <a:prstDash val="solid"/>
            <a:tailEnd type="triangle"/>
          </a:ln>
        </p:spPr>
      </p:sp>
      <p:sp>
        <p:nvSpPr>
          <p:cNvPr id="28" name="box-151"/>
          <p:cNvSpPr/>
          <p:nvPr/>
        </p:nvSpPr>
        <p:spPr>
          <a:xfrm>
            <a:off x="594360" y="3904488"/>
            <a:ext cx="3072384" cy="713232"/>
          </a:xfrm>
          <a:prstGeom prst="roundRect">
            <a:avLst>
              <a:gd name="adj" fmla="val 10256"/>
            </a:avLst>
          </a:prstGeom>
          <a:solidFill>
            <a:schemeClr val="bg1"/>
          </a:solidFill>
          <a:ln w="12700">
            <a:solidFill>
              <a:schemeClr val="accent5"/>
            </a:solidFill>
            <a:prstDash val="solid"/>
          </a:ln>
        </p:spPr>
      </p:sp>
      <p:sp>
        <p:nvSpPr>
          <p:cNvPr id="29" name="boxtext-152"/>
          <p:cNvSpPr txBox="1"/>
          <p:nvPr/>
        </p:nvSpPr>
        <p:spPr>
          <a:xfrm>
            <a:off x="594360" y="3904488"/>
            <a:ext cx="3072384" cy="713232"/>
          </a:xfrm>
          <a:prstGeom prst="rect">
            <a:avLst/>
          </a:prstGeom>
          <a:noFill/>
          <a:ln/>
        </p:spPr>
        <p:txBody>
          <a:bodyPr wrap="square" lIns="762" tIns="762" rIns="762" bIns="762" rtlCol="0" anchor="ctr"/>
          <a:lstStyle/>
          <a:p>
            <a:pPr algn="ctr" indent="0" marL="0">
              <a:buNone/>
            </a:pPr>
            <a:r>
              <a:rPr lang="en-US" sz="1300" b="1" dirty="0">
                <a:solidFill>
                  <a:schemeClr val="tx2"/>
                </a:solidFill>
              </a:rPr>
              <a:t>MongoDB</a:t>
            </a:r>
            <a:endParaRPr lang="en-US" sz="1200" dirty="0"/>
          </a:p>
          <a:p>
            <a:pPr algn="ctr" indent="0" marL="0">
              <a:buNone/>
            </a:pPr>
            <a:r>
              <a:rPr lang="en-US" sz="1000" dirty="0">
                <a:solidFill>
                  <a:schemeClr val="tx2"/>
                </a:solidFill>
              </a:rPr>
              <a:t>users, lawyers, profiles, cases, application data</a:t>
            </a:r>
            <a:endParaRPr lang="en-US" sz="1200" dirty="0"/>
          </a:p>
        </p:txBody>
      </p:sp>
      <p:sp>
        <p:nvSpPr>
          <p:cNvPr id="30" name="box-153"/>
          <p:cNvSpPr/>
          <p:nvPr/>
        </p:nvSpPr>
        <p:spPr>
          <a:xfrm>
            <a:off x="3849624" y="3904488"/>
            <a:ext cx="1444752" cy="713232"/>
          </a:xfrm>
          <a:prstGeom prst="roundRect">
            <a:avLst>
              <a:gd name="adj" fmla="val 10256"/>
            </a:avLst>
          </a:prstGeom>
          <a:solidFill>
            <a:schemeClr val="bg1"/>
          </a:solidFill>
          <a:ln w="12700">
            <a:solidFill>
              <a:schemeClr val="accent5"/>
            </a:solidFill>
            <a:prstDash val="solid"/>
          </a:ln>
        </p:spPr>
      </p:sp>
      <p:sp>
        <p:nvSpPr>
          <p:cNvPr id="31" name="boxtext-154"/>
          <p:cNvSpPr txBox="1"/>
          <p:nvPr/>
        </p:nvSpPr>
        <p:spPr>
          <a:xfrm>
            <a:off x="3849624" y="3904488"/>
            <a:ext cx="1444752" cy="713232"/>
          </a:xfrm>
          <a:prstGeom prst="rect">
            <a:avLst/>
          </a:prstGeom>
          <a:noFill/>
          <a:ln/>
        </p:spPr>
        <p:txBody>
          <a:bodyPr wrap="square" lIns="762" tIns="762" rIns="762" bIns="762" rtlCol="0" anchor="ctr"/>
          <a:lstStyle/>
          <a:p>
            <a:pPr algn="ctr" indent="0" marL="0">
              <a:buNone/>
            </a:pPr>
            <a:r>
              <a:rPr lang="en-US" sz="1200" b="1" dirty="0">
                <a:solidFill>
                  <a:schemeClr val="tx2"/>
                </a:solidFill>
              </a:rPr>
              <a:t>Uploaded</a:t>
            </a:r>
            <a:endParaRPr lang="en-US" sz="1200" dirty="0"/>
          </a:p>
          <a:p>
            <a:pPr algn="ctr" indent="0" marL="0">
              <a:buNone/>
            </a:pPr>
            <a:r>
              <a:rPr lang="en-US" sz="1000" dirty="0">
                <a:solidFill>
                  <a:schemeClr val="tx2"/>
                </a:solidFill>
              </a:rPr>
              <a:t>document store</a:t>
            </a:r>
            <a:endParaRPr lang="en-US" sz="1200" dirty="0"/>
          </a:p>
        </p:txBody>
      </p:sp>
      <p:sp>
        <p:nvSpPr>
          <p:cNvPr id="32" name="box-155"/>
          <p:cNvSpPr/>
          <p:nvPr/>
        </p:nvSpPr>
        <p:spPr>
          <a:xfrm>
            <a:off x="6922008" y="3904488"/>
            <a:ext cx="1627632" cy="713232"/>
          </a:xfrm>
          <a:prstGeom prst="roundRect">
            <a:avLst>
              <a:gd name="adj" fmla="val 10256"/>
            </a:avLst>
          </a:prstGeom>
          <a:solidFill>
            <a:schemeClr val="accent2"/>
          </a:solidFill>
          <a:ln/>
        </p:spPr>
      </p:sp>
      <p:sp>
        <p:nvSpPr>
          <p:cNvPr id="33" name="boxtext-156"/>
          <p:cNvSpPr txBox="1"/>
          <p:nvPr/>
        </p:nvSpPr>
        <p:spPr>
          <a:xfrm>
            <a:off x="6922008" y="3904488"/>
            <a:ext cx="1627632" cy="713232"/>
          </a:xfrm>
          <a:prstGeom prst="rect">
            <a:avLst/>
          </a:prstGeom>
          <a:noFill/>
          <a:ln/>
        </p:spPr>
        <p:txBody>
          <a:bodyPr wrap="square" lIns="762" tIns="762" rIns="762" bIns="762" rtlCol="0" anchor="ctr"/>
          <a:lstStyle/>
          <a:p>
            <a:pPr algn="ctr" indent="0" marL="0">
              <a:buNone/>
            </a:pPr>
            <a:r>
              <a:rPr lang="en-US" sz="1200" b="1" dirty="0">
                <a:solidFill>
                  <a:schemeClr val="bg1"/>
                </a:solidFill>
              </a:rPr>
              <a:t>Vector database</a:t>
            </a:r>
            <a:endParaRPr lang="en-US" sz="1200" dirty="0"/>
          </a:p>
          <a:p>
            <a:pPr algn="ctr" indent="0" marL="0">
              <a:buNone/>
            </a:pPr>
            <a:r>
              <a:rPr lang="en-US" sz="1000" dirty="0">
                <a:solidFill>
                  <a:schemeClr val="bg1"/>
                </a:solidFill>
              </a:rPr>
              <a:t>FAISS / Chroma / Qdrant: legal embeddings</a:t>
            </a:r>
            <a:endParaRPr lang="en-US" sz="1200" dirty="0"/>
          </a:p>
        </p:txBody>
      </p:sp>
      <p:sp>
        <p:nvSpPr>
          <p:cNvPr id="34" name="arrow-157"/>
          <p:cNvSpPr/>
          <p:nvPr/>
        </p:nvSpPr>
        <p:spPr>
          <a:xfrm>
            <a:off x="1600200" y="3273552"/>
            <a:ext cx="0" cy="621792"/>
          </a:xfrm>
          <a:prstGeom prst="line">
            <a:avLst/>
          </a:prstGeom>
          <a:noFill/>
          <a:ln w="19050">
            <a:solidFill>
              <a:schemeClr val="accent5"/>
            </a:solidFill>
            <a:prstDash val="solid"/>
            <a:headEnd type="triangle"/>
            <a:tailEnd type="triangle"/>
          </a:ln>
        </p:spPr>
      </p:sp>
      <p:sp>
        <p:nvSpPr>
          <p:cNvPr id="35" name="arrow-158"/>
          <p:cNvSpPr/>
          <p:nvPr/>
        </p:nvSpPr>
        <p:spPr>
          <a:xfrm>
            <a:off x="2944368" y="3273552"/>
            <a:ext cx="0" cy="621792"/>
          </a:xfrm>
          <a:prstGeom prst="line">
            <a:avLst/>
          </a:prstGeom>
          <a:noFill/>
          <a:ln w="19050">
            <a:solidFill>
              <a:schemeClr val="accent5"/>
            </a:solidFill>
            <a:prstDash val="solid"/>
            <a:headEnd type="triangle"/>
            <a:tailEnd type="triangle"/>
          </a:ln>
        </p:spPr>
      </p:sp>
      <p:sp>
        <p:nvSpPr>
          <p:cNvPr id="36" name="arrow-159"/>
          <p:cNvSpPr/>
          <p:nvPr/>
        </p:nvSpPr>
        <p:spPr>
          <a:xfrm>
            <a:off x="4572000" y="3273552"/>
            <a:ext cx="0" cy="621792"/>
          </a:xfrm>
          <a:prstGeom prst="line">
            <a:avLst/>
          </a:prstGeom>
          <a:noFill/>
          <a:ln w="19050">
            <a:solidFill>
              <a:schemeClr val="accent5"/>
            </a:solidFill>
            <a:prstDash val="solid"/>
            <a:headEnd type="triangle"/>
            <a:tailEnd type="triangle"/>
          </a:ln>
        </p:spPr>
      </p:sp>
      <p:sp>
        <p:nvSpPr>
          <p:cNvPr id="37" name="arrow-160"/>
          <p:cNvSpPr/>
          <p:nvPr/>
        </p:nvSpPr>
        <p:spPr>
          <a:xfrm>
            <a:off x="7827264" y="3273552"/>
            <a:ext cx="0" cy="621792"/>
          </a:xfrm>
          <a:prstGeom prst="line">
            <a:avLst/>
          </a:prstGeom>
          <a:noFill/>
          <a:ln w="19050">
            <a:solidFill>
              <a:schemeClr val="accent5"/>
            </a:solidFill>
            <a:prstDash val="solid"/>
            <a:headEnd type="triangle"/>
            <a:tailEnd type="triangle"/>
          </a:ln>
        </p:spPr>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RAG Phase 1 (Offline): Building the Knowledge Base</a:t>
            </a:r>
            <a:endParaRPr lang="en-US" sz="2800" dirty="0"/>
          </a:p>
        </p:txBody>
      </p:sp>
      <p:sp>
        <p:nvSpPr>
          <p:cNvPr id="3" name="iconbg-161"/>
          <p:cNvSpPr/>
          <p:nvPr/>
        </p:nvSpPr>
        <p:spPr>
          <a:xfrm>
            <a:off x="800100" y="1005840"/>
            <a:ext cx="548640" cy="548640"/>
          </a:xfrm>
          <a:prstGeom prst="ellipse">
            <a:avLst/>
          </a:prstGeom>
          <a:solidFill>
            <a:schemeClr val="accent1"/>
          </a:solidFill>
          <a:ln/>
        </p:spPr>
      </p:sp>
      <p:pic>
        <p:nvPicPr>
          <p:cNvPr id="4" name="icon-162" descr="preencoded.png">    </p:cNvPr>
          <p:cNvPicPr>
            <a:picLocks noChangeAspect="1"/>
          </p:cNvPicPr>
          <p:nvPr/>
        </p:nvPicPr>
        <p:blipFill>
          <a:blip r:embed="rId1"/>
          <a:stretch>
            <a:fillRect/>
          </a:stretch>
        </p:blipFill>
        <p:spPr>
          <a:xfrm>
            <a:off x="920801" y="1126541"/>
            <a:ext cx="307238" cy="307238"/>
          </a:xfrm>
          <a:prstGeom prst="rect">
            <a:avLst/>
          </a:prstGeom>
        </p:spPr>
      </p:pic>
      <p:sp>
        <p:nvSpPr>
          <p:cNvPr id="5" name="box-163"/>
          <p:cNvSpPr/>
          <p:nvPr/>
        </p:nvSpPr>
        <p:spPr>
          <a:xfrm>
            <a:off x="457200" y="1691640"/>
            <a:ext cx="1234440" cy="777240"/>
          </a:xfrm>
          <a:prstGeom prst="roundRect">
            <a:avLst>
              <a:gd name="adj" fmla="val 9412"/>
            </a:avLst>
          </a:prstGeom>
          <a:solidFill>
            <a:schemeClr val="bg2"/>
          </a:solidFill>
          <a:ln/>
        </p:spPr>
      </p:sp>
      <p:sp>
        <p:nvSpPr>
          <p:cNvPr id="6" name="boxtext-164"/>
          <p:cNvSpPr txBox="1"/>
          <p:nvPr/>
        </p:nvSpPr>
        <p:spPr>
          <a:xfrm>
            <a:off x="457200" y="1691640"/>
            <a:ext cx="1234440" cy="777240"/>
          </a:xfrm>
          <a:prstGeom prst="rect">
            <a:avLst/>
          </a:prstGeom>
          <a:noFill/>
          <a:ln/>
        </p:spPr>
        <p:txBody>
          <a:bodyPr wrap="square" lIns="762" tIns="762" rIns="762" bIns="762" rtlCol="0" anchor="ctr"/>
          <a:lstStyle/>
          <a:p>
            <a:pPr algn="ctr" indent="0" marL="0">
              <a:buNone/>
            </a:pPr>
            <a:r>
              <a:rPr lang="en-US" sz="1200" b="1" dirty="0">
                <a:solidFill>
                  <a:schemeClr val="tx2"/>
                </a:solidFill>
              </a:rPr>
              <a:t>Verified Pakistani legal sources</a:t>
            </a:r>
            <a:endParaRPr lang="en-US" sz="1200" dirty="0"/>
          </a:p>
        </p:txBody>
      </p:sp>
      <p:sp>
        <p:nvSpPr>
          <p:cNvPr id="7" name="iconbg-165"/>
          <p:cNvSpPr/>
          <p:nvPr/>
        </p:nvSpPr>
        <p:spPr>
          <a:xfrm>
            <a:off x="2199132" y="1005840"/>
            <a:ext cx="548640" cy="548640"/>
          </a:xfrm>
          <a:prstGeom prst="ellipse">
            <a:avLst/>
          </a:prstGeom>
          <a:solidFill>
            <a:schemeClr val="accent1"/>
          </a:solidFill>
          <a:ln/>
        </p:spPr>
      </p:sp>
      <p:pic>
        <p:nvPicPr>
          <p:cNvPr id="8" name="icon-166" descr="preencoded.png">    </p:cNvPr>
          <p:cNvPicPr>
            <a:picLocks noChangeAspect="1"/>
          </p:cNvPicPr>
          <p:nvPr/>
        </p:nvPicPr>
        <p:blipFill>
          <a:blip r:embed="rId2"/>
          <a:stretch>
            <a:fillRect/>
          </a:stretch>
        </p:blipFill>
        <p:spPr>
          <a:xfrm>
            <a:off x="2319833" y="1126541"/>
            <a:ext cx="307238" cy="307238"/>
          </a:xfrm>
          <a:prstGeom prst="rect">
            <a:avLst/>
          </a:prstGeom>
        </p:spPr>
      </p:pic>
      <p:sp>
        <p:nvSpPr>
          <p:cNvPr id="9" name="box-167"/>
          <p:cNvSpPr/>
          <p:nvPr/>
        </p:nvSpPr>
        <p:spPr>
          <a:xfrm>
            <a:off x="1856232" y="1691640"/>
            <a:ext cx="1234440" cy="777240"/>
          </a:xfrm>
          <a:prstGeom prst="roundRect">
            <a:avLst>
              <a:gd name="adj" fmla="val 9412"/>
            </a:avLst>
          </a:prstGeom>
          <a:solidFill>
            <a:schemeClr val="bg2"/>
          </a:solidFill>
          <a:ln/>
        </p:spPr>
      </p:sp>
      <p:sp>
        <p:nvSpPr>
          <p:cNvPr id="10" name="boxtext-168"/>
          <p:cNvSpPr txBox="1"/>
          <p:nvPr/>
        </p:nvSpPr>
        <p:spPr>
          <a:xfrm>
            <a:off x="1856232" y="1691640"/>
            <a:ext cx="1234440" cy="777240"/>
          </a:xfrm>
          <a:prstGeom prst="rect">
            <a:avLst/>
          </a:prstGeom>
          <a:noFill/>
          <a:ln/>
        </p:spPr>
        <p:txBody>
          <a:bodyPr wrap="square" lIns="762" tIns="762" rIns="762" bIns="762" rtlCol="0" anchor="ctr"/>
          <a:lstStyle/>
          <a:p>
            <a:pPr algn="ctr" indent="0" marL="0">
              <a:buNone/>
            </a:pPr>
            <a:r>
              <a:rPr lang="en-US" sz="1200" b="1" dirty="0">
                <a:solidFill>
                  <a:schemeClr val="tx2"/>
                </a:solidFill>
              </a:rPr>
              <a:t>Collect, clean and verify</a:t>
            </a:r>
            <a:endParaRPr lang="en-US" sz="1200" dirty="0"/>
          </a:p>
        </p:txBody>
      </p:sp>
      <p:sp>
        <p:nvSpPr>
          <p:cNvPr id="11" name="arrow-169"/>
          <p:cNvSpPr/>
          <p:nvPr/>
        </p:nvSpPr>
        <p:spPr>
          <a:xfrm>
            <a:off x="1700784" y="2080260"/>
            <a:ext cx="146304" cy="0"/>
          </a:xfrm>
          <a:prstGeom prst="line">
            <a:avLst/>
          </a:prstGeom>
          <a:noFill/>
          <a:ln w="19050">
            <a:solidFill>
              <a:schemeClr val="accent1"/>
            </a:solidFill>
            <a:prstDash val="solid"/>
            <a:tailEnd type="triangle"/>
          </a:ln>
        </p:spPr>
      </p:sp>
      <p:sp>
        <p:nvSpPr>
          <p:cNvPr id="12" name="iconbg-170"/>
          <p:cNvSpPr/>
          <p:nvPr/>
        </p:nvSpPr>
        <p:spPr>
          <a:xfrm>
            <a:off x="3598164" y="1005840"/>
            <a:ext cx="548640" cy="548640"/>
          </a:xfrm>
          <a:prstGeom prst="ellipse">
            <a:avLst/>
          </a:prstGeom>
          <a:solidFill>
            <a:schemeClr val="accent1"/>
          </a:solidFill>
          <a:ln/>
        </p:spPr>
      </p:sp>
      <p:pic>
        <p:nvPicPr>
          <p:cNvPr id="13" name="icon-171" descr="preencoded.png">    </p:cNvPr>
          <p:cNvPicPr>
            <a:picLocks noChangeAspect="1"/>
          </p:cNvPicPr>
          <p:nvPr/>
        </p:nvPicPr>
        <p:blipFill>
          <a:blip r:embed="rId3"/>
          <a:stretch>
            <a:fillRect/>
          </a:stretch>
        </p:blipFill>
        <p:spPr>
          <a:xfrm>
            <a:off x="3718865" y="1126541"/>
            <a:ext cx="307238" cy="307238"/>
          </a:xfrm>
          <a:prstGeom prst="rect">
            <a:avLst/>
          </a:prstGeom>
        </p:spPr>
      </p:pic>
      <p:sp>
        <p:nvSpPr>
          <p:cNvPr id="14" name="box-172"/>
          <p:cNvSpPr/>
          <p:nvPr/>
        </p:nvSpPr>
        <p:spPr>
          <a:xfrm>
            <a:off x="3255264" y="1691640"/>
            <a:ext cx="1234440" cy="777240"/>
          </a:xfrm>
          <a:prstGeom prst="roundRect">
            <a:avLst>
              <a:gd name="adj" fmla="val 9412"/>
            </a:avLst>
          </a:prstGeom>
          <a:solidFill>
            <a:schemeClr val="bg2"/>
          </a:solidFill>
          <a:ln/>
        </p:spPr>
      </p:sp>
      <p:sp>
        <p:nvSpPr>
          <p:cNvPr id="15" name="boxtext-173"/>
          <p:cNvSpPr txBox="1"/>
          <p:nvPr/>
        </p:nvSpPr>
        <p:spPr>
          <a:xfrm>
            <a:off x="3255264" y="1691640"/>
            <a:ext cx="1234440" cy="777240"/>
          </a:xfrm>
          <a:prstGeom prst="rect">
            <a:avLst/>
          </a:prstGeom>
          <a:noFill/>
          <a:ln/>
        </p:spPr>
        <p:txBody>
          <a:bodyPr wrap="square" lIns="762" tIns="762" rIns="762" bIns="762" rtlCol="0" anchor="ctr"/>
          <a:lstStyle/>
          <a:p>
            <a:pPr algn="ctr" indent="0" marL="0">
              <a:buNone/>
            </a:pPr>
            <a:r>
              <a:rPr lang="en-US" sz="1200" b="1" dirty="0">
                <a:solidFill>
                  <a:schemeClr val="tx2"/>
                </a:solidFill>
              </a:rPr>
              <a:t>Text extraction (PyMuPDF, OCR)</a:t>
            </a:r>
            <a:endParaRPr lang="en-US" sz="1200" dirty="0"/>
          </a:p>
        </p:txBody>
      </p:sp>
      <p:sp>
        <p:nvSpPr>
          <p:cNvPr id="16" name="arrow-174"/>
          <p:cNvSpPr/>
          <p:nvPr/>
        </p:nvSpPr>
        <p:spPr>
          <a:xfrm>
            <a:off x="3099816" y="2080260"/>
            <a:ext cx="146304" cy="0"/>
          </a:xfrm>
          <a:prstGeom prst="line">
            <a:avLst/>
          </a:prstGeom>
          <a:noFill/>
          <a:ln w="19050">
            <a:solidFill>
              <a:schemeClr val="accent1"/>
            </a:solidFill>
            <a:prstDash val="solid"/>
            <a:tailEnd type="triangle"/>
          </a:ln>
        </p:spPr>
      </p:sp>
      <p:sp>
        <p:nvSpPr>
          <p:cNvPr id="17" name="iconbg-175"/>
          <p:cNvSpPr/>
          <p:nvPr/>
        </p:nvSpPr>
        <p:spPr>
          <a:xfrm>
            <a:off x="4997196" y="1005840"/>
            <a:ext cx="548640" cy="548640"/>
          </a:xfrm>
          <a:prstGeom prst="ellipse">
            <a:avLst/>
          </a:prstGeom>
          <a:solidFill>
            <a:schemeClr val="accent1"/>
          </a:solidFill>
          <a:ln/>
        </p:spPr>
      </p:sp>
      <p:pic>
        <p:nvPicPr>
          <p:cNvPr id="18" name="icon-176" descr="preencoded.png">    </p:cNvPr>
          <p:cNvPicPr>
            <a:picLocks noChangeAspect="1"/>
          </p:cNvPicPr>
          <p:nvPr/>
        </p:nvPicPr>
        <p:blipFill>
          <a:blip r:embed="rId4"/>
          <a:stretch>
            <a:fillRect/>
          </a:stretch>
        </p:blipFill>
        <p:spPr>
          <a:xfrm>
            <a:off x="5117897" y="1126541"/>
            <a:ext cx="307238" cy="307238"/>
          </a:xfrm>
          <a:prstGeom prst="rect">
            <a:avLst/>
          </a:prstGeom>
        </p:spPr>
      </p:pic>
      <p:sp>
        <p:nvSpPr>
          <p:cNvPr id="19" name="box-177"/>
          <p:cNvSpPr/>
          <p:nvPr/>
        </p:nvSpPr>
        <p:spPr>
          <a:xfrm>
            <a:off x="4654296" y="1691640"/>
            <a:ext cx="1234440" cy="777240"/>
          </a:xfrm>
          <a:prstGeom prst="roundRect">
            <a:avLst>
              <a:gd name="adj" fmla="val 9412"/>
            </a:avLst>
          </a:prstGeom>
          <a:solidFill>
            <a:schemeClr val="bg2"/>
          </a:solidFill>
          <a:ln/>
        </p:spPr>
      </p:sp>
      <p:sp>
        <p:nvSpPr>
          <p:cNvPr id="20" name="boxtext-178"/>
          <p:cNvSpPr txBox="1"/>
          <p:nvPr/>
        </p:nvSpPr>
        <p:spPr>
          <a:xfrm>
            <a:off x="4654296" y="1691640"/>
            <a:ext cx="1234440" cy="777240"/>
          </a:xfrm>
          <a:prstGeom prst="rect">
            <a:avLst/>
          </a:prstGeom>
          <a:noFill/>
          <a:ln/>
        </p:spPr>
        <p:txBody>
          <a:bodyPr wrap="square" lIns="762" tIns="762" rIns="762" bIns="762" rtlCol="0" anchor="ctr"/>
          <a:lstStyle/>
          <a:p>
            <a:pPr algn="ctr" indent="0" marL="0">
              <a:buNone/>
            </a:pPr>
            <a:r>
              <a:rPr lang="en-US" sz="1200" b="1" dirty="0">
                <a:solidFill>
                  <a:schemeClr val="tx2"/>
                </a:solidFill>
              </a:rPr>
              <a:t>Section-wise chunks + metadata</a:t>
            </a:r>
            <a:endParaRPr lang="en-US" sz="1200" dirty="0"/>
          </a:p>
        </p:txBody>
      </p:sp>
      <p:sp>
        <p:nvSpPr>
          <p:cNvPr id="21" name="arrow-179"/>
          <p:cNvSpPr/>
          <p:nvPr/>
        </p:nvSpPr>
        <p:spPr>
          <a:xfrm>
            <a:off x="4498848" y="2080260"/>
            <a:ext cx="146304" cy="0"/>
          </a:xfrm>
          <a:prstGeom prst="line">
            <a:avLst/>
          </a:prstGeom>
          <a:noFill/>
          <a:ln w="19050">
            <a:solidFill>
              <a:schemeClr val="accent1"/>
            </a:solidFill>
            <a:prstDash val="solid"/>
            <a:tailEnd type="triangle"/>
          </a:ln>
        </p:spPr>
      </p:sp>
      <p:sp>
        <p:nvSpPr>
          <p:cNvPr id="22" name="iconbg-180"/>
          <p:cNvSpPr/>
          <p:nvPr/>
        </p:nvSpPr>
        <p:spPr>
          <a:xfrm>
            <a:off x="6396228" y="1005840"/>
            <a:ext cx="548640" cy="548640"/>
          </a:xfrm>
          <a:prstGeom prst="ellipse">
            <a:avLst/>
          </a:prstGeom>
          <a:solidFill>
            <a:schemeClr val="accent1"/>
          </a:solidFill>
          <a:ln/>
        </p:spPr>
      </p:sp>
      <p:pic>
        <p:nvPicPr>
          <p:cNvPr id="23" name="icon-181" descr="preencoded.png">    </p:cNvPr>
          <p:cNvPicPr>
            <a:picLocks noChangeAspect="1"/>
          </p:cNvPicPr>
          <p:nvPr/>
        </p:nvPicPr>
        <p:blipFill>
          <a:blip r:embed="rId5"/>
          <a:stretch>
            <a:fillRect/>
          </a:stretch>
        </p:blipFill>
        <p:spPr>
          <a:xfrm>
            <a:off x="6516929" y="1126541"/>
            <a:ext cx="307238" cy="307238"/>
          </a:xfrm>
          <a:prstGeom prst="rect">
            <a:avLst/>
          </a:prstGeom>
        </p:spPr>
      </p:pic>
      <p:sp>
        <p:nvSpPr>
          <p:cNvPr id="24" name="box-182"/>
          <p:cNvSpPr/>
          <p:nvPr/>
        </p:nvSpPr>
        <p:spPr>
          <a:xfrm>
            <a:off x="6053328" y="1691640"/>
            <a:ext cx="1234440" cy="777240"/>
          </a:xfrm>
          <a:prstGeom prst="roundRect">
            <a:avLst>
              <a:gd name="adj" fmla="val 9412"/>
            </a:avLst>
          </a:prstGeom>
          <a:solidFill>
            <a:schemeClr val="bg2"/>
          </a:solidFill>
          <a:ln/>
        </p:spPr>
      </p:sp>
      <p:sp>
        <p:nvSpPr>
          <p:cNvPr id="25" name="boxtext-183"/>
          <p:cNvSpPr txBox="1"/>
          <p:nvPr/>
        </p:nvSpPr>
        <p:spPr>
          <a:xfrm>
            <a:off x="6053328" y="1691640"/>
            <a:ext cx="1234440" cy="777240"/>
          </a:xfrm>
          <a:prstGeom prst="rect">
            <a:avLst/>
          </a:prstGeom>
          <a:noFill/>
          <a:ln/>
        </p:spPr>
        <p:txBody>
          <a:bodyPr wrap="square" lIns="762" tIns="762" rIns="762" bIns="762" rtlCol="0" anchor="ctr"/>
          <a:lstStyle/>
          <a:p>
            <a:pPr algn="ctr" indent="0" marL="0">
              <a:buNone/>
            </a:pPr>
            <a:r>
              <a:rPr lang="en-US" sz="1200" b="1" dirty="0">
                <a:solidFill>
                  <a:schemeClr val="tx2"/>
                </a:solidFill>
              </a:rPr>
              <a:t>Embeddings (Sentence Transformers)</a:t>
            </a:r>
            <a:endParaRPr lang="en-US" sz="1200" dirty="0"/>
          </a:p>
        </p:txBody>
      </p:sp>
      <p:sp>
        <p:nvSpPr>
          <p:cNvPr id="26" name="arrow-184"/>
          <p:cNvSpPr/>
          <p:nvPr/>
        </p:nvSpPr>
        <p:spPr>
          <a:xfrm>
            <a:off x="5897880" y="2080260"/>
            <a:ext cx="146304" cy="0"/>
          </a:xfrm>
          <a:prstGeom prst="line">
            <a:avLst/>
          </a:prstGeom>
          <a:noFill/>
          <a:ln w="19050">
            <a:solidFill>
              <a:schemeClr val="accent1"/>
            </a:solidFill>
            <a:prstDash val="solid"/>
            <a:tailEnd type="triangle"/>
          </a:ln>
        </p:spPr>
      </p:sp>
      <p:sp>
        <p:nvSpPr>
          <p:cNvPr id="27" name="iconbg-185"/>
          <p:cNvSpPr/>
          <p:nvPr/>
        </p:nvSpPr>
        <p:spPr>
          <a:xfrm>
            <a:off x="7795260" y="1005840"/>
            <a:ext cx="548640" cy="548640"/>
          </a:xfrm>
          <a:prstGeom prst="ellipse">
            <a:avLst/>
          </a:prstGeom>
          <a:solidFill>
            <a:schemeClr val="accent2"/>
          </a:solidFill>
          <a:ln/>
        </p:spPr>
      </p:sp>
      <p:pic>
        <p:nvPicPr>
          <p:cNvPr id="28" name="icon-186" descr="preencoded.png">    </p:cNvPr>
          <p:cNvPicPr>
            <a:picLocks noChangeAspect="1"/>
          </p:cNvPicPr>
          <p:nvPr/>
        </p:nvPicPr>
        <p:blipFill>
          <a:blip r:embed="rId6"/>
          <a:stretch>
            <a:fillRect/>
          </a:stretch>
        </p:blipFill>
        <p:spPr>
          <a:xfrm>
            <a:off x="7915961" y="1126541"/>
            <a:ext cx="307238" cy="307238"/>
          </a:xfrm>
          <a:prstGeom prst="rect">
            <a:avLst/>
          </a:prstGeom>
        </p:spPr>
      </p:pic>
      <p:sp>
        <p:nvSpPr>
          <p:cNvPr id="29" name="box-187"/>
          <p:cNvSpPr/>
          <p:nvPr/>
        </p:nvSpPr>
        <p:spPr>
          <a:xfrm>
            <a:off x="7452360" y="1691640"/>
            <a:ext cx="1234440" cy="777240"/>
          </a:xfrm>
          <a:prstGeom prst="roundRect">
            <a:avLst>
              <a:gd name="adj" fmla="val 9412"/>
            </a:avLst>
          </a:prstGeom>
          <a:solidFill>
            <a:schemeClr val="tx2"/>
          </a:solidFill>
          <a:ln/>
        </p:spPr>
      </p:sp>
      <p:sp>
        <p:nvSpPr>
          <p:cNvPr id="30" name="boxtext-188"/>
          <p:cNvSpPr txBox="1"/>
          <p:nvPr/>
        </p:nvSpPr>
        <p:spPr>
          <a:xfrm>
            <a:off x="7452360" y="1691640"/>
            <a:ext cx="1234440" cy="777240"/>
          </a:xfrm>
          <a:prstGeom prst="rect">
            <a:avLst/>
          </a:prstGeom>
          <a:noFill/>
          <a:ln/>
        </p:spPr>
        <p:txBody>
          <a:bodyPr wrap="square" lIns="762" tIns="762" rIns="762" bIns="762" rtlCol="0" anchor="ctr"/>
          <a:lstStyle/>
          <a:p>
            <a:pPr algn="ctr" indent="0" marL="0">
              <a:buNone/>
            </a:pPr>
            <a:r>
              <a:rPr lang="en-US" sz="1200" b="1" dirty="0">
                <a:solidFill>
                  <a:schemeClr val="bg1"/>
                </a:solidFill>
              </a:rPr>
              <a:t>Store in vector database</a:t>
            </a:r>
            <a:endParaRPr lang="en-US" sz="1200" dirty="0"/>
          </a:p>
        </p:txBody>
      </p:sp>
      <p:sp>
        <p:nvSpPr>
          <p:cNvPr id="31" name="arrow-189"/>
          <p:cNvSpPr/>
          <p:nvPr/>
        </p:nvSpPr>
        <p:spPr>
          <a:xfrm>
            <a:off x="7296912" y="2080260"/>
            <a:ext cx="146304" cy="0"/>
          </a:xfrm>
          <a:prstGeom prst="line">
            <a:avLst/>
          </a:prstGeom>
          <a:noFill/>
          <a:ln w="19050">
            <a:solidFill>
              <a:schemeClr val="accent1"/>
            </a:solidFill>
            <a:prstDash val="solid"/>
            <a:tailEnd type="triangle"/>
          </a:ln>
        </p:spPr>
      </p:sp>
      <p:sp>
        <p:nvSpPr>
          <p:cNvPr id="32" name="text-190"/>
          <p:cNvSpPr txBox="1"/>
          <p:nvPr/>
        </p:nvSpPr>
        <p:spPr>
          <a:xfrm>
            <a:off x="457200" y="2697480"/>
            <a:ext cx="5486400" cy="256032"/>
          </a:xfrm>
          <a:prstGeom prst="rect">
            <a:avLst/>
          </a:prstGeom>
          <a:noFill/>
          <a:ln/>
        </p:spPr>
        <p:txBody>
          <a:bodyPr wrap="square" lIns="0" tIns="0" rIns="0" bIns="0" rtlCol="0" anchor="t"/>
          <a:lstStyle/>
          <a:p>
            <a:pPr indent="0" marL="0">
              <a:buNone/>
            </a:pPr>
            <a:r>
              <a:rPr lang="en-US" sz="1100" b="1" spc="100" kern="0" dirty="0">
                <a:solidFill>
                  <a:schemeClr val="accent5"/>
                </a:solidFill>
              </a:rPr>
              <a:t>WHAT ONE STORED CHUNK LOOKS LIKE (illustrative)</a:t>
            </a:r>
            <a:endParaRPr lang="en-US" sz="1100" dirty="0"/>
          </a:p>
        </p:txBody>
      </p:sp>
      <p:sp>
        <p:nvSpPr>
          <p:cNvPr id="33" name="box-191"/>
          <p:cNvSpPr/>
          <p:nvPr/>
        </p:nvSpPr>
        <p:spPr>
          <a:xfrm>
            <a:off x="457200" y="2999232"/>
            <a:ext cx="4846320" cy="1645920"/>
          </a:xfrm>
          <a:prstGeom prst="roundRect">
            <a:avLst>
              <a:gd name="adj" fmla="val 4444"/>
            </a:avLst>
          </a:prstGeom>
          <a:solidFill>
            <a:schemeClr val="tx2"/>
          </a:solidFill>
          <a:ln/>
        </p:spPr>
      </p:sp>
      <p:sp>
        <p:nvSpPr>
          <p:cNvPr id="34" name="text-192"/>
          <p:cNvSpPr txBox="1"/>
          <p:nvPr/>
        </p:nvSpPr>
        <p:spPr>
          <a:xfrm>
            <a:off x="640080" y="3127248"/>
            <a:ext cx="4572000" cy="1417320"/>
          </a:xfrm>
          <a:prstGeom prst="rect">
            <a:avLst/>
          </a:prstGeom>
          <a:noFill/>
          <a:ln/>
        </p:spPr>
        <p:txBody>
          <a:bodyPr wrap="square" lIns="0" tIns="0" rIns="0" bIns="0" rtlCol="0" anchor="ctr"/>
          <a:lstStyle/>
          <a:p>
            <a:pPr indent="0" marL="0">
              <a:buNone/>
            </a:pPr>
            <a:r>
              <a:rPr lang="en-US" sz="1200" dirty="0">
                <a:solidFill>
                  <a:schemeClr val="accent2"/>
                </a:solidFill>
                <a:latin typeface="Courier New" pitchFamily="34" charset="0"/>
                <a:ea typeface="Courier New" pitchFamily="34" charset="-122"/>
                <a:cs typeface="Courier New" pitchFamily="34" charset="-120"/>
              </a:rPr>
              <a:t>chunk_id : </a:t>
            </a:r>
            <a:pPr indent="0" marL="0">
              <a:buNone/>
            </a:pPr>
            <a:r>
              <a:rPr lang="en-US" sz="1200" dirty="0">
                <a:solidFill>
                  <a:schemeClr val="bg1"/>
                </a:solidFill>
                <a:latin typeface="Courier New" pitchFamily="34" charset="0"/>
                <a:ea typeface="Courier New" pitchFamily="34" charset="-122"/>
                <a:cs typeface="Courier New" pitchFamily="34" charset="-120"/>
              </a:rPr>
              <a:t>property-tenancy-0142</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text     : </a:t>
            </a:r>
            <a:pPr indent="0" marL="0">
              <a:buNone/>
            </a:pPr>
            <a:r>
              <a:rPr lang="en-US" sz="1200" dirty="0">
                <a:solidFill>
                  <a:schemeClr val="bg1"/>
                </a:solidFill>
                <a:latin typeface="Courier New" pitchFamily="34" charset="0"/>
                <a:ea typeface="Courier New" pitchFamily="34" charset="-122"/>
                <a:cs typeface="Courier New" pitchFamily="34" charset="-120"/>
              </a:rPr>
              <a:t>"...section text about eviction notice..."</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source   : </a:t>
            </a:r>
            <a:pPr indent="0" marL="0">
              <a:buNone/>
            </a:pPr>
            <a:r>
              <a:rPr lang="en-US" sz="1200" dirty="0">
                <a:solidFill>
                  <a:schemeClr val="bg1"/>
                </a:solidFill>
                <a:latin typeface="Courier New" pitchFamily="34" charset="0"/>
                <a:ea typeface="Courier New" pitchFamily="34" charset="-122"/>
                <a:cs typeface="Courier New" pitchFamily="34" charset="-120"/>
              </a:rPr>
              <a:t>&lt;Act name&gt;, Section &lt;n&gt;</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area     : </a:t>
            </a:r>
            <a:pPr indent="0" marL="0">
              <a:buNone/>
            </a:pPr>
            <a:r>
              <a:rPr lang="en-US" sz="1200" dirty="0">
                <a:solidFill>
                  <a:schemeClr val="bg1"/>
                </a:solidFill>
                <a:latin typeface="Courier New" pitchFamily="34" charset="0"/>
                <a:ea typeface="Courier New" pitchFamily="34" charset="-122"/>
                <a:cs typeface="Courier New" pitchFamily="34" charset="-120"/>
              </a:rPr>
              <a:t>Property &gt; Tenancy and eviction</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vector   : </a:t>
            </a:r>
            <a:pPr indent="0" marL="0">
              <a:buNone/>
            </a:pPr>
            <a:r>
              <a:rPr lang="en-US" sz="1200" dirty="0">
                <a:solidFill>
                  <a:schemeClr val="bg1"/>
                </a:solidFill>
                <a:latin typeface="Courier New" pitchFamily="34" charset="0"/>
                <a:ea typeface="Courier New" pitchFamily="34" charset="-122"/>
                <a:cs typeface="Courier New" pitchFamily="34" charset="-120"/>
              </a:rPr>
              <a:t>[0.021, -0.113, 0.087, ... ]</a:t>
            </a:r>
            <a:endParaRPr lang="en-US" sz="1200" dirty="0"/>
          </a:p>
        </p:txBody>
      </p:sp>
      <p:sp>
        <p:nvSpPr>
          <p:cNvPr id="35" name="text-193"/>
          <p:cNvSpPr txBox="1"/>
          <p:nvPr/>
        </p:nvSpPr>
        <p:spPr>
          <a:xfrm>
            <a:off x="5577840" y="2743200"/>
            <a:ext cx="3108960" cy="1920240"/>
          </a:xfrm>
          <a:prstGeom prst="rect">
            <a:avLst/>
          </a:prstGeom>
          <a:noFill/>
          <a:ln/>
        </p:spPr>
        <p:txBody>
          <a:bodyPr wrap="square" lIns="0" tIns="0" rIns="0" bIns="0" rtlCol="0" anchor="t"/>
          <a:lstStyle/>
          <a:p>
            <a:pPr indent="0" marL="0">
              <a:spcAft>
                <a:spcPts val="500"/>
              </a:spcAft>
              <a:buNone/>
            </a:pPr>
            <a:r>
              <a:rPr lang="en-US" sz="1200" b="1" dirty="0">
                <a:solidFill>
                  <a:schemeClr val="tx2"/>
                </a:solidFill>
              </a:rPr>
              <a:t>Why section-wise chunks?</a:t>
            </a:r>
            <a:endParaRPr lang="en-US" sz="1200" dirty="0"/>
          </a:p>
          <a:p>
            <a:pPr marL="342900" indent="-342900">
              <a:spcAft>
                <a:spcPts val="500"/>
              </a:spcAft>
              <a:buSzPct val="100000"/>
              <a:buChar char="•"/>
            </a:pPr>
            <a:r>
              <a:rPr lang="en-US" sz="1200" dirty="0">
                <a:solidFill>
                  <a:schemeClr val="tx1"/>
                </a:solidFill>
              </a:rPr>
              <a:t>Each chunk is one meaningful legal unit, so it can be cited precisely.</a:t>
            </a:r>
            <a:endParaRPr lang="en-US" sz="1200" dirty="0"/>
          </a:p>
          <a:p>
            <a:pPr marL="342900" indent="-342900">
              <a:spcAft>
                <a:spcPts val="500"/>
              </a:spcAft>
              <a:buSzPct val="100000"/>
              <a:buChar char="•"/>
            </a:pPr>
            <a:r>
              <a:rPr lang="en-US" sz="1200" dirty="0">
                <a:solidFill>
                  <a:schemeClr val="tx1"/>
                </a:solidFill>
              </a:rPr>
              <a:t>Metadata (Act, section, area) travels with the text and becomes the citation.</a:t>
            </a:r>
            <a:endParaRPr lang="en-US" sz="1200" dirty="0"/>
          </a:p>
          <a:p>
            <a:pPr marL="342900" indent="-342900">
              <a:spcAft>
                <a:spcPts val="500"/>
              </a:spcAft>
              <a:buSzPct val="100000"/>
              <a:buChar char="•"/>
            </a:pPr>
            <a:r>
              <a:rPr lang="en-US" sz="1200" dirty="0">
                <a:solidFill>
                  <a:schemeClr val="tx1"/>
                </a:solidFill>
              </a:rPr>
              <a:t>The vector captures meaning, so similar questions find it even with different words.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RAG Phase 2 (Online): How RAG and the LLM Talk</a:t>
            </a:r>
            <a:endParaRPr lang="en-US" sz="2800" dirty="0"/>
          </a:p>
        </p:txBody>
      </p:sp>
      <p:sp>
        <p:nvSpPr>
          <p:cNvPr id="3" name="arrow-194"/>
          <p:cNvSpPr/>
          <p:nvPr/>
        </p:nvSpPr>
        <p:spPr>
          <a:xfrm>
            <a:off x="1188720" y="1463040"/>
            <a:ext cx="0" cy="2852928"/>
          </a:xfrm>
          <a:prstGeom prst="line">
            <a:avLst/>
          </a:prstGeom>
          <a:noFill/>
          <a:ln w="12700">
            <a:solidFill>
              <a:schemeClr val="accent5"/>
            </a:solidFill>
            <a:prstDash val="dash"/>
          </a:ln>
        </p:spPr>
      </p:sp>
      <p:sp>
        <p:nvSpPr>
          <p:cNvPr id="4" name="box-195"/>
          <p:cNvSpPr/>
          <p:nvPr/>
        </p:nvSpPr>
        <p:spPr>
          <a:xfrm>
            <a:off x="457200" y="960120"/>
            <a:ext cx="1463040" cy="502920"/>
          </a:xfrm>
          <a:prstGeom prst="roundRect">
            <a:avLst>
              <a:gd name="adj" fmla="val 14545"/>
            </a:avLst>
          </a:prstGeom>
          <a:solidFill>
            <a:schemeClr val="accent3"/>
          </a:solidFill>
          <a:ln/>
        </p:spPr>
      </p:sp>
      <p:sp>
        <p:nvSpPr>
          <p:cNvPr id="5" name="boxtext-196"/>
          <p:cNvSpPr txBox="1"/>
          <p:nvPr/>
        </p:nvSpPr>
        <p:spPr>
          <a:xfrm>
            <a:off x="457200" y="960120"/>
            <a:ext cx="1463040" cy="502920"/>
          </a:xfrm>
          <a:prstGeom prst="rect">
            <a:avLst/>
          </a:prstGeom>
          <a:noFill/>
          <a:ln/>
        </p:spPr>
        <p:txBody>
          <a:bodyPr wrap="square" lIns="254" tIns="254" rIns="254" bIns="254" rtlCol="0" anchor="ctr"/>
          <a:lstStyle/>
          <a:p>
            <a:pPr algn="ctr" indent="0" marL="0">
              <a:buNone/>
            </a:pPr>
            <a:r>
              <a:rPr lang="en-US" sz="1200" b="1" dirty="0">
                <a:solidFill>
                  <a:schemeClr val="tx2"/>
                </a:solidFill>
              </a:rPr>
              <a:t>Citizen Portal</a:t>
            </a:r>
            <a:endParaRPr lang="en-US" sz="1200" dirty="0"/>
          </a:p>
          <a:p>
            <a:pPr algn="ctr" indent="0" marL="0">
              <a:buNone/>
            </a:pPr>
            <a:r>
              <a:rPr lang="en-US" sz="1000" dirty="0">
                <a:solidFill>
                  <a:schemeClr val="tx2"/>
                </a:solidFill>
              </a:rPr>
              <a:t>React / Next.js</a:t>
            </a:r>
            <a:endParaRPr lang="en-US" sz="1200" dirty="0"/>
          </a:p>
        </p:txBody>
      </p:sp>
      <p:sp>
        <p:nvSpPr>
          <p:cNvPr id="6" name="arrow-197"/>
          <p:cNvSpPr/>
          <p:nvPr/>
        </p:nvSpPr>
        <p:spPr>
          <a:xfrm>
            <a:off x="2834640" y="1463040"/>
            <a:ext cx="0" cy="2852928"/>
          </a:xfrm>
          <a:prstGeom prst="line">
            <a:avLst/>
          </a:prstGeom>
          <a:noFill/>
          <a:ln w="12700">
            <a:solidFill>
              <a:schemeClr val="accent5"/>
            </a:solidFill>
            <a:prstDash val="dash"/>
          </a:ln>
        </p:spPr>
      </p:sp>
      <p:sp>
        <p:nvSpPr>
          <p:cNvPr id="7" name="box-198"/>
          <p:cNvSpPr/>
          <p:nvPr/>
        </p:nvSpPr>
        <p:spPr>
          <a:xfrm>
            <a:off x="2103120" y="960120"/>
            <a:ext cx="1463040" cy="502920"/>
          </a:xfrm>
          <a:prstGeom prst="roundRect">
            <a:avLst>
              <a:gd name="adj" fmla="val 14545"/>
            </a:avLst>
          </a:prstGeom>
          <a:solidFill>
            <a:schemeClr val="accent1"/>
          </a:solidFill>
          <a:ln/>
        </p:spPr>
      </p:sp>
      <p:sp>
        <p:nvSpPr>
          <p:cNvPr id="8" name="boxtext-199"/>
          <p:cNvSpPr txBox="1"/>
          <p:nvPr/>
        </p:nvSpPr>
        <p:spPr>
          <a:xfrm>
            <a:off x="2103120" y="960120"/>
            <a:ext cx="1463040" cy="502920"/>
          </a:xfrm>
          <a:prstGeom prst="rect">
            <a:avLst/>
          </a:prstGeom>
          <a:noFill/>
          <a:ln/>
        </p:spPr>
        <p:txBody>
          <a:bodyPr wrap="square" lIns="254" tIns="254" rIns="254" bIns="254" rtlCol="0" anchor="ctr"/>
          <a:lstStyle/>
          <a:p>
            <a:pPr algn="ctr" indent="0" marL="0">
              <a:buNone/>
            </a:pPr>
            <a:r>
              <a:rPr lang="en-US" sz="1200" b="1" dirty="0">
                <a:solidFill>
                  <a:schemeClr val="bg1"/>
                </a:solidFill>
              </a:rPr>
              <a:t>RAG Service</a:t>
            </a:r>
            <a:endParaRPr lang="en-US" sz="1200" dirty="0"/>
          </a:p>
          <a:p>
            <a:pPr algn="ctr" indent="0" marL="0">
              <a:buNone/>
            </a:pPr>
            <a:r>
              <a:rPr lang="en-US" sz="1000" dirty="0">
                <a:solidFill>
                  <a:schemeClr val="bg1"/>
                </a:solidFill>
              </a:rPr>
              <a:t>FastAPI orchestrator</a:t>
            </a:r>
            <a:endParaRPr lang="en-US" sz="1200" dirty="0"/>
          </a:p>
        </p:txBody>
      </p:sp>
      <p:sp>
        <p:nvSpPr>
          <p:cNvPr id="9" name="arrow-200"/>
          <p:cNvSpPr/>
          <p:nvPr/>
        </p:nvSpPr>
        <p:spPr>
          <a:xfrm>
            <a:off x="4480560" y="1463040"/>
            <a:ext cx="0" cy="2852928"/>
          </a:xfrm>
          <a:prstGeom prst="line">
            <a:avLst/>
          </a:prstGeom>
          <a:noFill/>
          <a:ln w="12700">
            <a:solidFill>
              <a:schemeClr val="accent5"/>
            </a:solidFill>
            <a:prstDash val="dash"/>
          </a:ln>
        </p:spPr>
      </p:sp>
      <p:sp>
        <p:nvSpPr>
          <p:cNvPr id="10" name="box-201"/>
          <p:cNvSpPr/>
          <p:nvPr/>
        </p:nvSpPr>
        <p:spPr>
          <a:xfrm>
            <a:off x="3749040" y="960120"/>
            <a:ext cx="1463040" cy="502920"/>
          </a:xfrm>
          <a:prstGeom prst="roundRect">
            <a:avLst>
              <a:gd name="adj" fmla="val 14545"/>
            </a:avLst>
          </a:prstGeom>
          <a:solidFill>
            <a:schemeClr val="bg2"/>
          </a:solidFill>
          <a:ln/>
        </p:spPr>
      </p:sp>
      <p:sp>
        <p:nvSpPr>
          <p:cNvPr id="11" name="boxtext-202"/>
          <p:cNvSpPr txBox="1"/>
          <p:nvPr/>
        </p:nvSpPr>
        <p:spPr>
          <a:xfrm>
            <a:off x="3749040" y="960120"/>
            <a:ext cx="1463040" cy="502920"/>
          </a:xfrm>
          <a:prstGeom prst="rect">
            <a:avLst/>
          </a:prstGeom>
          <a:noFill/>
          <a:ln/>
        </p:spPr>
        <p:txBody>
          <a:bodyPr wrap="square" lIns="254" tIns="254" rIns="254" bIns="254" rtlCol="0" anchor="ctr"/>
          <a:lstStyle/>
          <a:p>
            <a:pPr algn="ctr" indent="0" marL="0">
              <a:buNone/>
            </a:pPr>
            <a:r>
              <a:rPr lang="en-US" sz="1200" b="1" dirty="0">
                <a:solidFill>
                  <a:schemeClr val="tx2"/>
                </a:solidFill>
              </a:rPr>
              <a:t>Embedding Model</a:t>
            </a:r>
            <a:endParaRPr lang="en-US" sz="1200" dirty="0"/>
          </a:p>
          <a:p>
            <a:pPr algn="ctr" indent="0" marL="0">
              <a:buNone/>
            </a:pPr>
            <a:r>
              <a:rPr lang="en-US" sz="1000" dirty="0">
                <a:solidFill>
                  <a:schemeClr val="tx2"/>
                </a:solidFill>
              </a:rPr>
              <a:t>Sentence Transformers</a:t>
            </a:r>
            <a:endParaRPr lang="en-US" sz="1200" dirty="0"/>
          </a:p>
        </p:txBody>
      </p:sp>
      <p:sp>
        <p:nvSpPr>
          <p:cNvPr id="12" name="arrow-203"/>
          <p:cNvSpPr/>
          <p:nvPr/>
        </p:nvSpPr>
        <p:spPr>
          <a:xfrm>
            <a:off x="6126480" y="1463040"/>
            <a:ext cx="0" cy="2852928"/>
          </a:xfrm>
          <a:prstGeom prst="line">
            <a:avLst/>
          </a:prstGeom>
          <a:noFill/>
          <a:ln w="12700">
            <a:solidFill>
              <a:schemeClr val="accent5"/>
            </a:solidFill>
            <a:prstDash val="dash"/>
          </a:ln>
        </p:spPr>
      </p:sp>
      <p:sp>
        <p:nvSpPr>
          <p:cNvPr id="13" name="box-204"/>
          <p:cNvSpPr/>
          <p:nvPr/>
        </p:nvSpPr>
        <p:spPr>
          <a:xfrm>
            <a:off x="5394960" y="960120"/>
            <a:ext cx="1463040" cy="502920"/>
          </a:xfrm>
          <a:prstGeom prst="roundRect">
            <a:avLst>
              <a:gd name="adj" fmla="val 14545"/>
            </a:avLst>
          </a:prstGeom>
          <a:solidFill>
            <a:schemeClr val="accent2"/>
          </a:solidFill>
          <a:ln/>
        </p:spPr>
      </p:sp>
      <p:sp>
        <p:nvSpPr>
          <p:cNvPr id="14" name="boxtext-205"/>
          <p:cNvSpPr txBox="1"/>
          <p:nvPr/>
        </p:nvSpPr>
        <p:spPr>
          <a:xfrm>
            <a:off x="5394960" y="960120"/>
            <a:ext cx="1463040" cy="502920"/>
          </a:xfrm>
          <a:prstGeom prst="rect">
            <a:avLst/>
          </a:prstGeom>
          <a:noFill/>
          <a:ln/>
        </p:spPr>
        <p:txBody>
          <a:bodyPr wrap="square" lIns="254" tIns="254" rIns="254" bIns="254" rtlCol="0" anchor="ctr"/>
          <a:lstStyle/>
          <a:p>
            <a:pPr algn="ctr" indent="0" marL="0">
              <a:buNone/>
            </a:pPr>
            <a:r>
              <a:rPr lang="en-US" sz="1200" b="1" dirty="0">
                <a:solidFill>
                  <a:schemeClr val="bg1"/>
                </a:solidFill>
              </a:rPr>
              <a:t>Vector Database</a:t>
            </a:r>
            <a:endParaRPr lang="en-US" sz="1200" dirty="0"/>
          </a:p>
          <a:p>
            <a:pPr algn="ctr" indent="0" marL="0">
              <a:buNone/>
            </a:pPr>
            <a:r>
              <a:rPr lang="en-US" sz="1000" dirty="0">
                <a:solidFill>
                  <a:schemeClr val="bg1"/>
                </a:solidFill>
              </a:rPr>
              <a:t>FAISS / Chroma / Qdrant</a:t>
            </a:r>
            <a:endParaRPr lang="en-US" sz="1200" dirty="0"/>
          </a:p>
        </p:txBody>
      </p:sp>
      <p:sp>
        <p:nvSpPr>
          <p:cNvPr id="15" name="arrow-206"/>
          <p:cNvSpPr/>
          <p:nvPr/>
        </p:nvSpPr>
        <p:spPr>
          <a:xfrm>
            <a:off x="7772400" y="1463040"/>
            <a:ext cx="0" cy="2852928"/>
          </a:xfrm>
          <a:prstGeom prst="line">
            <a:avLst/>
          </a:prstGeom>
          <a:noFill/>
          <a:ln w="12700">
            <a:solidFill>
              <a:schemeClr val="accent5"/>
            </a:solidFill>
            <a:prstDash val="dash"/>
          </a:ln>
        </p:spPr>
      </p:sp>
      <p:sp>
        <p:nvSpPr>
          <p:cNvPr id="16" name="box-207"/>
          <p:cNvSpPr/>
          <p:nvPr/>
        </p:nvSpPr>
        <p:spPr>
          <a:xfrm>
            <a:off x="7040880" y="960120"/>
            <a:ext cx="1463040" cy="502920"/>
          </a:xfrm>
          <a:prstGeom prst="roundRect">
            <a:avLst>
              <a:gd name="adj" fmla="val 14545"/>
            </a:avLst>
          </a:prstGeom>
          <a:solidFill>
            <a:schemeClr val="tx2"/>
          </a:solidFill>
          <a:ln/>
        </p:spPr>
      </p:sp>
      <p:sp>
        <p:nvSpPr>
          <p:cNvPr id="17" name="boxtext-208"/>
          <p:cNvSpPr txBox="1"/>
          <p:nvPr/>
        </p:nvSpPr>
        <p:spPr>
          <a:xfrm>
            <a:off x="7040880" y="960120"/>
            <a:ext cx="1463040" cy="502920"/>
          </a:xfrm>
          <a:prstGeom prst="rect">
            <a:avLst/>
          </a:prstGeom>
          <a:noFill/>
          <a:ln/>
        </p:spPr>
        <p:txBody>
          <a:bodyPr wrap="square" lIns="254" tIns="254" rIns="254" bIns="254" rtlCol="0" anchor="ctr"/>
          <a:lstStyle/>
          <a:p>
            <a:pPr algn="ctr" indent="0" marL="0">
              <a:buNone/>
            </a:pPr>
            <a:r>
              <a:rPr lang="en-US" sz="1200" b="1" dirty="0">
                <a:solidFill>
                  <a:schemeClr val="bg1"/>
                </a:solidFill>
              </a:rPr>
              <a:t>Open-source LLM</a:t>
            </a:r>
            <a:endParaRPr lang="en-US" sz="1200" dirty="0"/>
          </a:p>
          <a:p>
            <a:pPr algn="ctr" indent="0" marL="0">
              <a:buNone/>
            </a:pPr>
            <a:r>
              <a:rPr lang="en-US" sz="1000" dirty="0">
                <a:solidFill>
                  <a:schemeClr val="bg1"/>
                </a:solidFill>
              </a:rPr>
              <a:t>answer generator</a:t>
            </a:r>
            <a:endParaRPr lang="en-US" sz="1200" dirty="0"/>
          </a:p>
        </p:txBody>
      </p:sp>
      <p:sp>
        <p:nvSpPr>
          <p:cNvPr id="18" name="seqnum-209"/>
          <p:cNvSpPr/>
          <p:nvPr/>
        </p:nvSpPr>
        <p:spPr>
          <a:xfrm>
            <a:off x="182880" y="1600200"/>
            <a:ext cx="237744" cy="237744"/>
          </a:xfrm>
          <a:prstGeom prst="ellipse">
            <a:avLst/>
          </a:prstGeom>
          <a:solidFill>
            <a:schemeClr val="accent1"/>
          </a:solidFill>
          <a:ln/>
        </p:spPr>
      </p:sp>
      <p:sp>
        <p:nvSpPr>
          <p:cNvPr id="19" name="text-210"/>
          <p:cNvSpPr txBox="1"/>
          <p:nvPr/>
        </p:nvSpPr>
        <p:spPr>
          <a:xfrm>
            <a:off x="182880" y="160020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20" name="arrow-211"/>
          <p:cNvSpPr/>
          <p:nvPr/>
        </p:nvSpPr>
        <p:spPr>
          <a:xfrm>
            <a:off x="1188720" y="1737360"/>
            <a:ext cx="1645920" cy="0"/>
          </a:xfrm>
          <a:prstGeom prst="line">
            <a:avLst/>
          </a:prstGeom>
          <a:noFill/>
          <a:ln w="22225">
            <a:solidFill>
              <a:schemeClr val="accent1"/>
            </a:solidFill>
            <a:prstDash val="solid"/>
            <a:tailEnd type="triangle"/>
          </a:ln>
        </p:spPr>
      </p:sp>
      <p:sp>
        <p:nvSpPr>
          <p:cNvPr id="21" name="text-212"/>
          <p:cNvSpPr txBox="1"/>
          <p:nvPr/>
        </p:nvSpPr>
        <p:spPr>
          <a:xfrm>
            <a:off x="1188720" y="1536192"/>
            <a:ext cx="1645920" cy="182880"/>
          </a:xfrm>
          <a:prstGeom prst="rect">
            <a:avLst/>
          </a:prstGeom>
          <a:noFill/>
          <a:ln/>
        </p:spPr>
        <p:txBody>
          <a:bodyPr wrap="square" lIns="0" tIns="0" rIns="0" bIns="0" rtlCol="0" anchor="b"/>
          <a:lstStyle/>
          <a:p>
            <a:pPr algn="ctr" indent="0" marL="0">
              <a:buNone/>
            </a:pPr>
            <a:r>
              <a:rPr lang="en-US" sz="1000" dirty="0">
                <a:solidFill>
                  <a:schemeClr val="tx1"/>
                </a:solidFill>
              </a:rPr>
              <a:t>Case description + answers</a:t>
            </a:r>
            <a:endParaRPr lang="en-US" sz="1000" dirty="0"/>
          </a:p>
        </p:txBody>
      </p:sp>
      <p:sp>
        <p:nvSpPr>
          <p:cNvPr id="22" name="seqnum-213"/>
          <p:cNvSpPr/>
          <p:nvPr/>
        </p:nvSpPr>
        <p:spPr>
          <a:xfrm>
            <a:off x="182880" y="1920240"/>
            <a:ext cx="237744" cy="237744"/>
          </a:xfrm>
          <a:prstGeom prst="ellipse">
            <a:avLst/>
          </a:prstGeom>
          <a:solidFill>
            <a:schemeClr val="accent1"/>
          </a:solidFill>
          <a:ln/>
        </p:spPr>
      </p:sp>
      <p:sp>
        <p:nvSpPr>
          <p:cNvPr id="23" name="text-214"/>
          <p:cNvSpPr txBox="1"/>
          <p:nvPr/>
        </p:nvSpPr>
        <p:spPr>
          <a:xfrm>
            <a:off x="182880" y="192024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4" name="arrow-215"/>
          <p:cNvSpPr/>
          <p:nvPr/>
        </p:nvSpPr>
        <p:spPr>
          <a:xfrm>
            <a:off x="2834640" y="2057400"/>
            <a:ext cx="1645920" cy="0"/>
          </a:xfrm>
          <a:prstGeom prst="line">
            <a:avLst/>
          </a:prstGeom>
          <a:noFill/>
          <a:ln w="22225">
            <a:solidFill>
              <a:schemeClr val="accent1"/>
            </a:solidFill>
            <a:prstDash val="solid"/>
            <a:tailEnd type="triangle"/>
          </a:ln>
        </p:spPr>
      </p:sp>
      <p:sp>
        <p:nvSpPr>
          <p:cNvPr id="25" name="text-216"/>
          <p:cNvSpPr txBox="1"/>
          <p:nvPr/>
        </p:nvSpPr>
        <p:spPr>
          <a:xfrm>
            <a:off x="2834640" y="1856232"/>
            <a:ext cx="1645920" cy="182880"/>
          </a:xfrm>
          <a:prstGeom prst="rect">
            <a:avLst/>
          </a:prstGeom>
          <a:noFill/>
          <a:ln/>
        </p:spPr>
        <p:txBody>
          <a:bodyPr wrap="square" lIns="0" tIns="0" rIns="0" bIns="0" rtlCol="0" anchor="b"/>
          <a:lstStyle/>
          <a:p>
            <a:pPr algn="ctr" indent="0" marL="0">
              <a:buNone/>
            </a:pPr>
            <a:r>
              <a:rPr lang="en-US" sz="1000" dirty="0">
                <a:solidFill>
                  <a:schemeClr val="tx1"/>
                </a:solidFill>
              </a:rPr>
              <a:t>Embed the query text</a:t>
            </a:r>
            <a:endParaRPr lang="en-US" sz="1000" dirty="0"/>
          </a:p>
        </p:txBody>
      </p:sp>
      <p:sp>
        <p:nvSpPr>
          <p:cNvPr id="26" name="seqnum-217"/>
          <p:cNvSpPr/>
          <p:nvPr/>
        </p:nvSpPr>
        <p:spPr>
          <a:xfrm>
            <a:off x="182880" y="2240280"/>
            <a:ext cx="237744" cy="237744"/>
          </a:xfrm>
          <a:prstGeom prst="ellipse">
            <a:avLst/>
          </a:prstGeom>
          <a:solidFill>
            <a:schemeClr val="accent1"/>
          </a:solidFill>
          <a:ln/>
        </p:spPr>
      </p:sp>
      <p:sp>
        <p:nvSpPr>
          <p:cNvPr id="27" name="text-218"/>
          <p:cNvSpPr txBox="1"/>
          <p:nvPr/>
        </p:nvSpPr>
        <p:spPr>
          <a:xfrm>
            <a:off x="182880" y="224028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28" name="arrow-219"/>
          <p:cNvSpPr/>
          <p:nvPr/>
        </p:nvSpPr>
        <p:spPr>
          <a:xfrm flipH="1">
            <a:off x="2834640" y="2377440"/>
            <a:ext cx="1645920" cy="0"/>
          </a:xfrm>
          <a:prstGeom prst="line">
            <a:avLst/>
          </a:prstGeom>
          <a:noFill/>
          <a:ln w="22225">
            <a:solidFill>
              <a:schemeClr val="accent1"/>
            </a:solidFill>
            <a:prstDash val="dash"/>
            <a:tailEnd type="triangle"/>
          </a:ln>
        </p:spPr>
      </p:sp>
      <p:sp>
        <p:nvSpPr>
          <p:cNvPr id="29" name="text-220"/>
          <p:cNvSpPr txBox="1"/>
          <p:nvPr/>
        </p:nvSpPr>
        <p:spPr>
          <a:xfrm>
            <a:off x="2834640" y="2176272"/>
            <a:ext cx="1645920" cy="182880"/>
          </a:xfrm>
          <a:prstGeom prst="rect">
            <a:avLst/>
          </a:prstGeom>
          <a:noFill/>
          <a:ln/>
        </p:spPr>
        <p:txBody>
          <a:bodyPr wrap="square" lIns="0" tIns="0" rIns="0" bIns="0" rtlCol="0" anchor="b"/>
          <a:lstStyle/>
          <a:p>
            <a:pPr algn="ctr" indent="0" marL="0">
              <a:buNone/>
            </a:pPr>
            <a:r>
              <a:rPr lang="en-US" sz="1000" dirty="0">
                <a:solidFill>
                  <a:schemeClr val="tx1"/>
                </a:solidFill>
              </a:rPr>
              <a:t>Query vector</a:t>
            </a:r>
            <a:endParaRPr lang="en-US" sz="1000" dirty="0"/>
          </a:p>
        </p:txBody>
      </p:sp>
      <p:sp>
        <p:nvSpPr>
          <p:cNvPr id="30" name="seqnum-221"/>
          <p:cNvSpPr/>
          <p:nvPr/>
        </p:nvSpPr>
        <p:spPr>
          <a:xfrm>
            <a:off x="182880" y="2560320"/>
            <a:ext cx="237744" cy="237744"/>
          </a:xfrm>
          <a:prstGeom prst="ellipse">
            <a:avLst/>
          </a:prstGeom>
          <a:solidFill>
            <a:schemeClr val="accent2"/>
          </a:solidFill>
          <a:ln/>
        </p:spPr>
      </p:sp>
      <p:sp>
        <p:nvSpPr>
          <p:cNvPr id="31" name="text-222"/>
          <p:cNvSpPr txBox="1"/>
          <p:nvPr/>
        </p:nvSpPr>
        <p:spPr>
          <a:xfrm>
            <a:off x="182880" y="256032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32" name="arrow-223"/>
          <p:cNvSpPr/>
          <p:nvPr/>
        </p:nvSpPr>
        <p:spPr>
          <a:xfrm>
            <a:off x="2834640" y="2697480"/>
            <a:ext cx="3291840" cy="0"/>
          </a:xfrm>
          <a:prstGeom prst="line">
            <a:avLst/>
          </a:prstGeom>
          <a:noFill/>
          <a:ln w="22225">
            <a:solidFill>
              <a:schemeClr val="accent2"/>
            </a:solidFill>
            <a:prstDash val="solid"/>
            <a:tailEnd type="triangle"/>
          </a:ln>
        </p:spPr>
      </p:sp>
      <p:sp>
        <p:nvSpPr>
          <p:cNvPr id="33" name="text-224"/>
          <p:cNvSpPr txBox="1"/>
          <p:nvPr/>
        </p:nvSpPr>
        <p:spPr>
          <a:xfrm>
            <a:off x="2834640" y="2496312"/>
            <a:ext cx="3291840" cy="182880"/>
          </a:xfrm>
          <a:prstGeom prst="rect">
            <a:avLst/>
          </a:prstGeom>
          <a:noFill/>
          <a:ln/>
        </p:spPr>
        <p:txBody>
          <a:bodyPr wrap="square" lIns="0" tIns="0" rIns="0" bIns="0" rtlCol="0" anchor="b"/>
          <a:lstStyle/>
          <a:p>
            <a:pPr algn="ctr" indent="0" marL="0">
              <a:buNone/>
            </a:pPr>
            <a:r>
              <a:rPr lang="en-US" sz="1000" b="1" dirty="0">
                <a:solidFill>
                  <a:schemeClr val="tx1"/>
                </a:solidFill>
              </a:rPr>
              <a:t>Similarity search: top-k nearest chunks</a:t>
            </a:r>
            <a:endParaRPr lang="en-US" sz="1000" dirty="0"/>
          </a:p>
        </p:txBody>
      </p:sp>
      <p:sp>
        <p:nvSpPr>
          <p:cNvPr id="34" name="seqnum-225"/>
          <p:cNvSpPr/>
          <p:nvPr/>
        </p:nvSpPr>
        <p:spPr>
          <a:xfrm>
            <a:off x="182880" y="2880360"/>
            <a:ext cx="237744" cy="237744"/>
          </a:xfrm>
          <a:prstGeom prst="ellipse">
            <a:avLst/>
          </a:prstGeom>
          <a:solidFill>
            <a:schemeClr val="accent2"/>
          </a:solidFill>
          <a:ln/>
        </p:spPr>
      </p:sp>
      <p:sp>
        <p:nvSpPr>
          <p:cNvPr id="35" name="text-226"/>
          <p:cNvSpPr txBox="1"/>
          <p:nvPr/>
        </p:nvSpPr>
        <p:spPr>
          <a:xfrm>
            <a:off x="182880" y="288036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36" name="arrow-227"/>
          <p:cNvSpPr/>
          <p:nvPr/>
        </p:nvSpPr>
        <p:spPr>
          <a:xfrm flipH="1">
            <a:off x="2834640" y="3017520"/>
            <a:ext cx="3291840" cy="0"/>
          </a:xfrm>
          <a:prstGeom prst="line">
            <a:avLst/>
          </a:prstGeom>
          <a:noFill/>
          <a:ln w="22225">
            <a:solidFill>
              <a:schemeClr val="accent2"/>
            </a:solidFill>
            <a:prstDash val="dash"/>
            <a:tailEnd type="triangle"/>
          </a:ln>
        </p:spPr>
      </p:sp>
      <p:sp>
        <p:nvSpPr>
          <p:cNvPr id="37" name="text-228"/>
          <p:cNvSpPr txBox="1"/>
          <p:nvPr/>
        </p:nvSpPr>
        <p:spPr>
          <a:xfrm>
            <a:off x="2834640" y="2816352"/>
            <a:ext cx="3291840" cy="182880"/>
          </a:xfrm>
          <a:prstGeom prst="rect">
            <a:avLst/>
          </a:prstGeom>
          <a:noFill/>
          <a:ln/>
        </p:spPr>
        <p:txBody>
          <a:bodyPr wrap="square" lIns="0" tIns="0" rIns="0" bIns="0" rtlCol="0" anchor="b"/>
          <a:lstStyle/>
          <a:p>
            <a:pPr algn="ctr" indent="0" marL="0">
              <a:buNone/>
            </a:pPr>
            <a:r>
              <a:rPr lang="en-US" sz="1000" b="1" dirty="0">
                <a:solidFill>
                  <a:schemeClr val="tx1"/>
                </a:solidFill>
              </a:rPr>
              <a:t>Top-k chunks + metadata (Act, section)</a:t>
            </a:r>
            <a:endParaRPr lang="en-US" sz="1000" dirty="0"/>
          </a:p>
        </p:txBody>
      </p:sp>
      <p:sp>
        <p:nvSpPr>
          <p:cNvPr id="38" name="seqnum-229"/>
          <p:cNvSpPr/>
          <p:nvPr/>
        </p:nvSpPr>
        <p:spPr>
          <a:xfrm>
            <a:off x="182880" y="3200400"/>
            <a:ext cx="237744" cy="237744"/>
          </a:xfrm>
          <a:prstGeom prst="ellipse">
            <a:avLst/>
          </a:prstGeom>
          <a:solidFill>
            <a:schemeClr val="tx2"/>
          </a:solidFill>
          <a:ln/>
        </p:spPr>
      </p:sp>
      <p:sp>
        <p:nvSpPr>
          <p:cNvPr id="39" name="text-230"/>
          <p:cNvSpPr txBox="1"/>
          <p:nvPr/>
        </p:nvSpPr>
        <p:spPr>
          <a:xfrm>
            <a:off x="182880" y="320040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40" name="arrow-231"/>
          <p:cNvSpPr/>
          <p:nvPr/>
        </p:nvSpPr>
        <p:spPr>
          <a:xfrm>
            <a:off x="2834640" y="3337560"/>
            <a:ext cx="4937760" cy="0"/>
          </a:xfrm>
          <a:prstGeom prst="line">
            <a:avLst/>
          </a:prstGeom>
          <a:noFill/>
          <a:ln w="22225">
            <a:solidFill>
              <a:schemeClr val="tx2"/>
            </a:solidFill>
            <a:prstDash val="solid"/>
            <a:tailEnd type="triangle"/>
          </a:ln>
        </p:spPr>
      </p:sp>
      <p:sp>
        <p:nvSpPr>
          <p:cNvPr id="41" name="text-232"/>
          <p:cNvSpPr txBox="1"/>
          <p:nvPr/>
        </p:nvSpPr>
        <p:spPr>
          <a:xfrm>
            <a:off x="2834640" y="3136392"/>
            <a:ext cx="4937760" cy="182880"/>
          </a:xfrm>
          <a:prstGeom prst="rect">
            <a:avLst/>
          </a:prstGeom>
          <a:noFill/>
          <a:ln/>
        </p:spPr>
        <p:txBody>
          <a:bodyPr wrap="square" lIns="0" tIns="0" rIns="0" bIns="0" rtlCol="0" anchor="b"/>
          <a:lstStyle/>
          <a:p>
            <a:pPr algn="ctr" indent="0" marL="0">
              <a:buNone/>
            </a:pPr>
            <a:r>
              <a:rPr lang="en-US" sz="1000" b="1" dirty="0">
                <a:solidFill>
                  <a:schemeClr val="tx1"/>
                </a:solidFill>
              </a:rPr>
              <a:t>Grounded prompt: rules + chunks + question</a:t>
            </a:r>
            <a:endParaRPr lang="en-US" sz="1000" dirty="0"/>
          </a:p>
        </p:txBody>
      </p:sp>
      <p:sp>
        <p:nvSpPr>
          <p:cNvPr id="42" name="seqnum-233"/>
          <p:cNvSpPr/>
          <p:nvPr/>
        </p:nvSpPr>
        <p:spPr>
          <a:xfrm>
            <a:off x="182880" y="3520440"/>
            <a:ext cx="237744" cy="237744"/>
          </a:xfrm>
          <a:prstGeom prst="ellipse">
            <a:avLst/>
          </a:prstGeom>
          <a:solidFill>
            <a:schemeClr val="tx2"/>
          </a:solidFill>
          <a:ln/>
        </p:spPr>
      </p:sp>
      <p:sp>
        <p:nvSpPr>
          <p:cNvPr id="43" name="text-234"/>
          <p:cNvSpPr txBox="1"/>
          <p:nvPr/>
        </p:nvSpPr>
        <p:spPr>
          <a:xfrm>
            <a:off x="182880" y="352044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7</a:t>
            </a:r>
            <a:endParaRPr lang="en-US" sz="1000" dirty="0"/>
          </a:p>
        </p:txBody>
      </p:sp>
      <p:sp>
        <p:nvSpPr>
          <p:cNvPr id="44" name="arrow-235"/>
          <p:cNvSpPr/>
          <p:nvPr/>
        </p:nvSpPr>
        <p:spPr>
          <a:xfrm flipH="1">
            <a:off x="2834640" y="3657600"/>
            <a:ext cx="4937760" cy="0"/>
          </a:xfrm>
          <a:prstGeom prst="line">
            <a:avLst/>
          </a:prstGeom>
          <a:noFill/>
          <a:ln w="22225">
            <a:solidFill>
              <a:schemeClr val="tx2"/>
            </a:solidFill>
            <a:prstDash val="dash"/>
            <a:tailEnd type="triangle"/>
          </a:ln>
        </p:spPr>
      </p:sp>
      <p:sp>
        <p:nvSpPr>
          <p:cNvPr id="45" name="text-236"/>
          <p:cNvSpPr txBox="1"/>
          <p:nvPr/>
        </p:nvSpPr>
        <p:spPr>
          <a:xfrm>
            <a:off x="2834640" y="3456432"/>
            <a:ext cx="4937760" cy="182880"/>
          </a:xfrm>
          <a:prstGeom prst="rect">
            <a:avLst/>
          </a:prstGeom>
          <a:noFill/>
          <a:ln/>
        </p:spPr>
        <p:txBody>
          <a:bodyPr wrap="square" lIns="0" tIns="0" rIns="0" bIns="0" rtlCol="0" anchor="b"/>
          <a:lstStyle/>
          <a:p>
            <a:pPr algn="ctr" indent="0" marL="0">
              <a:buNone/>
            </a:pPr>
            <a:r>
              <a:rPr lang="en-US" sz="1000" b="1" dirty="0">
                <a:solidFill>
                  <a:schemeClr val="tx1"/>
                </a:solidFill>
              </a:rPr>
              <a:t>Draft answer with [S#] source tags</a:t>
            </a:r>
            <a:endParaRPr lang="en-US" sz="1000" dirty="0"/>
          </a:p>
        </p:txBody>
      </p:sp>
      <p:sp>
        <p:nvSpPr>
          <p:cNvPr id="46" name="seqnum-237"/>
          <p:cNvSpPr/>
          <p:nvPr/>
        </p:nvSpPr>
        <p:spPr>
          <a:xfrm>
            <a:off x="182880" y="3840480"/>
            <a:ext cx="237744" cy="237744"/>
          </a:xfrm>
          <a:prstGeom prst="ellipse">
            <a:avLst/>
          </a:prstGeom>
          <a:solidFill>
            <a:schemeClr val="accent1"/>
          </a:solidFill>
          <a:ln/>
        </p:spPr>
      </p:sp>
      <p:sp>
        <p:nvSpPr>
          <p:cNvPr id="47" name="text-238"/>
          <p:cNvSpPr txBox="1"/>
          <p:nvPr/>
        </p:nvSpPr>
        <p:spPr>
          <a:xfrm>
            <a:off x="182880" y="384048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8</a:t>
            </a:r>
            <a:endParaRPr lang="en-US" sz="1000" dirty="0"/>
          </a:p>
        </p:txBody>
      </p:sp>
      <p:sp>
        <p:nvSpPr>
          <p:cNvPr id="48" name="box-239"/>
          <p:cNvSpPr/>
          <p:nvPr/>
        </p:nvSpPr>
        <p:spPr>
          <a:xfrm>
            <a:off x="2907792" y="3831336"/>
            <a:ext cx="1600200" cy="256032"/>
          </a:xfrm>
          <a:prstGeom prst="roundRect">
            <a:avLst>
              <a:gd name="adj" fmla="val 28571"/>
            </a:avLst>
          </a:prstGeom>
          <a:solidFill>
            <a:schemeClr val="bg1"/>
          </a:solidFill>
          <a:ln w="12700">
            <a:solidFill>
              <a:schemeClr val="accent1"/>
            </a:solidFill>
            <a:prstDash val="solid"/>
          </a:ln>
        </p:spPr>
      </p:sp>
      <p:sp>
        <p:nvSpPr>
          <p:cNvPr id="49" name="boxtext-240"/>
          <p:cNvSpPr txBox="1"/>
          <p:nvPr/>
        </p:nvSpPr>
        <p:spPr>
          <a:xfrm>
            <a:off x="2907792" y="3831336"/>
            <a:ext cx="1600200" cy="256032"/>
          </a:xfrm>
          <a:prstGeom prst="rect">
            <a:avLst/>
          </a:prstGeom>
          <a:noFill/>
          <a:ln/>
        </p:spPr>
        <p:txBody>
          <a:bodyPr wrap="square" lIns="0" tIns="0" rIns="0" bIns="0" rtlCol="0" anchor="ctr"/>
          <a:lstStyle/>
          <a:p>
            <a:pPr algn="ctr" indent="0" marL="0">
              <a:buNone/>
            </a:pPr>
            <a:r>
              <a:rPr lang="en-US" sz="1000" b="1" dirty="0">
                <a:solidFill>
                  <a:schemeClr val="tx2"/>
                </a:solidFill>
              </a:rPr>
              <a:t>Source and citation check</a:t>
            </a:r>
            <a:endParaRPr lang="en-US" sz="1000" dirty="0"/>
          </a:p>
        </p:txBody>
      </p:sp>
      <p:sp>
        <p:nvSpPr>
          <p:cNvPr id="50" name="seqnum-241"/>
          <p:cNvSpPr/>
          <p:nvPr/>
        </p:nvSpPr>
        <p:spPr>
          <a:xfrm>
            <a:off x="182880" y="4160520"/>
            <a:ext cx="237744" cy="237744"/>
          </a:xfrm>
          <a:prstGeom prst="ellipse">
            <a:avLst/>
          </a:prstGeom>
          <a:solidFill>
            <a:schemeClr val="accent1"/>
          </a:solidFill>
          <a:ln/>
        </p:spPr>
      </p:sp>
      <p:sp>
        <p:nvSpPr>
          <p:cNvPr id="51" name="text-242"/>
          <p:cNvSpPr txBox="1"/>
          <p:nvPr/>
        </p:nvSpPr>
        <p:spPr>
          <a:xfrm>
            <a:off x="182880" y="416052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9</a:t>
            </a:r>
            <a:endParaRPr lang="en-US" sz="1000" dirty="0"/>
          </a:p>
        </p:txBody>
      </p:sp>
      <p:sp>
        <p:nvSpPr>
          <p:cNvPr id="52" name="arrow-243"/>
          <p:cNvSpPr/>
          <p:nvPr/>
        </p:nvSpPr>
        <p:spPr>
          <a:xfrm flipH="1">
            <a:off x="1188720" y="4297680"/>
            <a:ext cx="1645920" cy="0"/>
          </a:xfrm>
          <a:prstGeom prst="line">
            <a:avLst/>
          </a:prstGeom>
          <a:noFill/>
          <a:ln w="22225">
            <a:solidFill>
              <a:schemeClr val="accent1"/>
            </a:solidFill>
            <a:prstDash val="dash"/>
            <a:tailEnd type="triangle"/>
          </a:ln>
        </p:spPr>
      </p:sp>
      <p:sp>
        <p:nvSpPr>
          <p:cNvPr id="53" name="text-244"/>
          <p:cNvSpPr txBox="1"/>
          <p:nvPr/>
        </p:nvSpPr>
        <p:spPr>
          <a:xfrm>
            <a:off x="1188720" y="4096512"/>
            <a:ext cx="1645920" cy="182880"/>
          </a:xfrm>
          <a:prstGeom prst="rect">
            <a:avLst/>
          </a:prstGeom>
          <a:noFill/>
          <a:ln/>
        </p:spPr>
        <p:txBody>
          <a:bodyPr wrap="square" lIns="0" tIns="0" rIns="0" bIns="0" rtlCol="0" anchor="b"/>
          <a:lstStyle/>
          <a:p>
            <a:pPr algn="ctr" indent="0" marL="0">
              <a:buNone/>
            </a:pPr>
            <a:r>
              <a:rPr lang="en-US" sz="1000" dirty="0">
                <a:solidFill>
                  <a:schemeClr val="tx1"/>
                </a:solidFill>
              </a:rPr>
              <a:t>Answer + citations</a:t>
            </a:r>
            <a:endParaRPr lang="en-US" sz="1000" dirty="0"/>
          </a:p>
        </p:txBody>
      </p:sp>
      <p:sp>
        <p:nvSpPr>
          <p:cNvPr id="54" name="box-245"/>
          <p:cNvSpPr/>
          <p:nvPr/>
        </p:nvSpPr>
        <p:spPr>
          <a:xfrm>
            <a:off x="457200" y="4407408"/>
            <a:ext cx="8229600" cy="310896"/>
          </a:xfrm>
          <a:prstGeom prst="roundRect">
            <a:avLst>
              <a:gd name="adj" fmla="val 23529"/>
            </a:avLst>
          </a:prstGeom>
          <a:solidFill>
            <a:schemeClr val="tx2"/>
          </a:solidFill>
          <a:ln/>
        </p:spPr>
      </p:sp>
      <p:sp>
        <p:nvSpPr>
          <p:cNvPr id="55" name="boxtext-246"/>
          <p:cNvSpPr txBox="1"/>
          <p:nvPr/>
        </p:nvSpPr>
        <p:spPr>
          <a:xfrm>
            <a:off x="594360" y="4407408"/>
            <a:ext cx="7955280" cy="310896"/>
          </a:xfrm>
          <a:prstGeom prst="rect">
            <a:avLst/>
          </a:prstGeom>
          <a:noFill/>
          <a:ln/>
        </p:spPr>
        <p:txBody>
          <a:bodyPr wrap="square" lIns="0" tIns="0" rIns="0" bIns="0" rtlCol="0" anchor="ctr"/>
          <a:lstStyle/>
          <a:p>
            <a:pPr algn="l" indent="0" marL="0">
              <a:buNone/>
            </a:pPr>
            <a:r>
              <a:rPr lang="en-US" sz="1100" b="1" dirty="0">
                <a:solidFill>
                  <a:schemeClr val="accent2"/>
                </a:solidFill>
              </a:rPr>
              <a:t>Key idea: </a:t>
            </a:r>
            <a:pPr algn="l" indent="0" marL="0">
              <a:buNone/>
            </a:pPr>
            <a:r>
              <a:rPr lang="en-US" sz="1100" dirty="0">
                <a:solidFill>
                  <a:schemeClr val="bg1"/>
                </a:solidFill>
              </a:rPr>
              <a:t>the LLM never searches the database. The RAG service retrieves first, then hands the LLM only verified text to answer from.</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Inside Retrieval: Vector DB to Prompt</a:t>
            </a:r>
            <a:endParaRPr lang="en-US" sz="2800" dirty="0"/>
          </a:p>
        </p:txBody>
      </p:sp>
      <p:sp>
        <p:nvSpPr>
          <p:cNvPr id="3" name="box-247"/>
          <p:cNvSpPr/>
          <p:nvPr/>
        </p:nvSpPr>
        <p:spPr>
          <a:xfrm>
            <a:off x="457200" y="960120"/>
            <a:ext cx="4023360" cy="3154680"/>
          </a:xfrm>
          <a:prstGeom prst="roundRect">
            <a:avLst>
              <a:gd name="adj" fmla="val 2319"/>
            </a:avLst>
          </a:prstGeom>
          <a:solidFill>
            <a:schemeClr val="bg2"/>
          </a:solidFill>
          <a:ln/>
        </p:spPr>
      </p:sp>
      <p:sp>
        <p:nvSpPr>
          <p:cNvPr id="4" name="text-248"/>
          <p:cNvSpPr txBox="1"/>
          <p:nvPr/>
        </p:nvSpPr>
        <p:spPr>
          <a:xfrm>
            <a:off x="594360" y="1024128"/>
            <a:ext cx="3749040" cy="228600"/>
          </a:xfrm>
          <a:prstGeom prst="rect">
            <a:avLst/>
          </a:prstGeom>
          <a:noFill/>
          <a:ln/>
        </p:spPr>
        <p:txBody>
          <a:bodyPr wrap="square" lIns="0" tIns="0" rIns="0" bIns="0" rtlCol="0" anchor="t"/>
          <a:lstStyle/>
          <a:p>
            <a:pPr indent="0" marL="0">
              <a:buNone/>
            </a:pPr>
            <a:r>
              <a:rPr lang="en-US" sz="1100" b="1" dirty="0">
                <a:solidFill>
                  <a:schemeClr val="accent5"/>
                </a:solidFill>
              </a:rPr>
              <a:t>Vector space (each dot = one legal chunk)</a:t>
            </a:r>
            <a:endParaRPr lang="en-US" sz="1100" dirty="0"/>
          </a:p>
        </p:txBody>
      </p:sp>
      <p:sp>
        <p:nvSpPr>
          <p:cNvPr id="5" name="dot-249"/>
          <p:cNvSpPr/>
          <p:nvPr/>
        </p:nvSpPr>
        <p:spPr>
          <a:xfrm>
            <a:off x="914400" y="2103120"/>
            <a:ext cx="137160" cy="137160"/>
          </a:xfrm>
          <a:prstGeom prst="ellipse">
            <a:avLst/>
          </a:prstGeom>
          <a:solidFill>
            <a:schemeClr val="accent1"/>
          </a:solidFill>
          <a:ln/>
        </p:spPr>
      </p:sp>
      <p:sp>
        <p:nvSpPr>
          <p:cNvPr id="6" name="dot-250"/>
          <p:cNvSpPr/>
          <p:nvPr/>
        </p:nvSpPr>
        <p:spPr>
          <a:xfrm>
            <a:off x="1234440" y="1737360"/>
            <a:ext cx="137160" cy="137160"/>
          </a:xfrm>
          <a:prstGeom prst="ellipse">
            <a:avLst/>
          </a:prstGeom>
          <a:solidFill>
            <a:schemeClr val="accent1"/>
          </a:solidFill>
          <a:ln/>
        </p:spPr>
      </p:sp>
      <p:sp>
        <p:nvSpPr>
          <p:cNvPr id="7" name="dot-251"/>
          <p:cNvSpPr/>
          <p:nvPr/>
        </p:nvSpPr>
        <p:spPr>
          <a:xfrm>
            <a:off x="1463040" y="2377440"/>
            <a:ext cx="137160" cy="137160"/>
          </a:xfrm>
          <a:prstGeom prst="ellipse">
            <a:avLst/>
          </a:prstGeom>
          <a:solidFill>
            <a:schemeClr val="accent1"/>
          </a:solidFill>
          <a:ln/>
        </p:spPr>
      </p:sp>
      <p:sp>
        <p:nvSpPr>
          <p:cNvPr id="8" name="dot-252"/>
          <p:cNvSpPr/>
          <p:nvPr/>
        </p:nvSpPr>
        <p:spPr>
          <a:xfrm>
            <a:off x="1051560" y="2743200"/>
            <a:ext cx="137160" cy="137160"/>
          </a:xfrm>
          <a:prstGeom prst="ellipse">
            <a:avLst/>
          </a:prstGeom>
          <a:solidFill>
            <a:schemeClr val="accent1"/>
          </a:solidFill>
          <a:ln/>
        </p:spPr>
      </p:sp>
      <p:sp>
        <p:nvSpPr>
          <p:cNvPr id="9" name="dot-253"/>
          <p:cNvSpPr/>
          <p:nvPr/>
        </p:nvSpPr>
        <p:spPr>
          <a:xfrm>
            <a:off x="1737360" y="1965960"/>
            <a:ext cx="137160" cy="137160"/>
          </a:xfrm>
          <a:prstGeom prst="ellipse">
            <a:avLst/>
          </a:prstGeom>
          <a:solidFill>
            <a:schemeClr val="accent1"/>
          </a:solidFill>
          <a:ln/>
        </p:spPr>
      </p:sp>
      <p:sp>
        <p:nvSpPr>
          <p:cNvPr id="10" name="dot-254"/>
          <p:cNvSpPr/>
          <p:nvPr/>
        </p:nvSpPr>
        <p:spPr>
          <a:xfrm>
            <a:off x="2057400" y="2606040"/>
            <a:ext cx="137160" cy="137160"/>
          </a:xfrm>
          <a:prstGeom prst="ellipse">
            <a:avLst/>
          </a:prstGeom>
          <a:solidFill>
            <a:schemeClr val="accent1"/>
          </a:solidFill>
          <a:ln/>
        </p:spPr>
      </p:sp>
      <p:sp>
        <p:nvSpPr>
          <p:cNvPr id="11" name="dot-255"/>
          <p:cNvSpPr/>
          <p:nvPr/>
        </p:nvSpPr>
        <p:spPr>
          <a:xfrm>
            <a:off x="1554480" y="3017520"/>
            <a:ext cx="137160" cy="137160"/>
          </a:xfrm>
          <a:prstGeom prst="ellipse">
            <a:avLst/>
          </a:prstGeom>
          <a:solidFill>
            <a:schemeClr val="accent1"/>
          </a:solidFill>
          <a:ln/>
        </p:spPr>
      </p:sp>
      <p:sp>
        <p:nvSpPr>
          <p:cNvPr id="12" name="dot-256"/>
          <p:cNvSpPr/>
          <p:nvPr/>
        </p:nvSpPr>
        <p:spPr>
          <a:xfrm>
            <a:off x="868680" y="3337560"/>
            <a:ext cx="137160" cy="137160"/>
          </a:xfrm>
          <a:prstGeom prst="ellipse">
            <a:avLst/>
          </a:prstGeom>
          <a:solidFill>
            <a:schemeClr val="accent1"/>
          </a:solidFill>
          <a:ln/>
        </p:spPr>
      </p:sp>
      <p:sp>
        <p:nvSpPr>
          <p:cNvPr id="13" name="dot-257"/>
          <p:cNvSpPr/>
          <p:nvPr/>
        </p:nvSpPr>
        <p:spPr>
          <a:xfrm>
            <a:off x="2103120" y="3200400"/>
            <a:ext cx="137160" cy="137160"/>
          </a:xfrm>
          <a:prstGeom prst="ellipse">
            <a:avLst/>
          </a:prstGeom>
          <a:solidFill>
            <a:schemeClr val="accent1"/>
          </a:solidFill>
          <a:ln/>
        </p:spPr>
      </p:sp>
      <p:sp>
        <p:nvSpPr>
          <p:cNvPr id="14" name="dot-258"/>
          <p:cNvSpPr/>
          <p:nvPr/>
        </p:nvSpPr>
        <p:spPr>
          <a:xfrm>
            <a:off x="2377440" y="2194560"/>
            <a:ext cx="137160" cy="137160"/>
          </a:xfrm>
          <a:prstGeom prst="ellipse">
            <a:avLst/>
          </a:prstGeom>
          <a:solidFill>
            <a:schemeClr val="accent1"/>
          </a:solidFill>
          <a:ln/>
        </p:spPr>
      </p:sp>
      <p:sp>
        <p:nvSpPr>
          <p:cNvPr id="15" name="dot-259"/>
          <p:cNvSpPr/>
          <p:nvPr/>
        </p:nvSpPr>
        <p:spPr>
          <a:xfrm>
            <a:off x="3200400" y="1600200"/>
            <a:ext cx="137160" cy="137160"/>
          </a:xfrm>
          <a:prstGeom prst="ellipse">
            <a:avLst/>
          </a:prstGeom>
          <a:solidFill>
            <a:schemeClr val="accent2"/>
          </a:solidFill>
          <a:ln/>
        </p:spPr>
      </p:sp>
      <p:sp>
        <p:nvSpPr>
          <p:cNvPr id="16" name="dot-260"/>
          <p:cNvSpPr/>
          <p:nvPr/>
        </p:nvSpPr>
        <p:spPr>
          <a:xfrm>
            <a:off x="3566160" y="1920240"/>
            <a:ext cx="137160" cy="137160"/>
          </a:xfrm>
          <a:prstGeom prst="ellipse">
            <a:avLst/>
          </a:prstGeom>
          <a:solidFill>
            <a:schemeClr val="accent2"/>
          </a:solidFill>
          <a:ln/>
        </p:spPr>
      </p:sp>
      <p:sp>
        <p:nvSpPr>
          <p:cNvPr id="17" name="dot-261"/>
          <p:cNvSpPr/>
          <p:nvPr/>
        </p:nvSpPr>
        <p:spPr>
          <a:xfrm>
            <a:off x="3931920" y="1645920"/>
            <a:ext cx="137160" cy="137160"/>
          </a:xfrm>
          <a:prstGeom prst="ellipse">
            <a:avLst/>
          </a:prstGeom>
          <a:solidFill>
            <a:schemeClr val="accent2"/>
          </a:solidFill>
          <a:ln/>
        </p:spPr>
      </p:sp>
      <p:sp>
        <p:nvSpPr>
          <p:cNvPr id="18" name="dot-262"/>
          <p:cNvSpPr/>
          <p:nvPr/>
        </p:nvSpPr>
        <p:spPr>
          <a:xfrm>
            <a:off x="3337560" y="2331720"/>
            <a:ext cx="137160" cy="137160"/>
          </a:xfrm>
          <a:prstGeom prst="ellipse">
            <a:avLst/>
          </a:prstGeom>
          <a:solidFill>
            <a:schemeClr val="accent2"/>
          </a:solidFill>
          <a:ln/>
        </p:spPr>
      </p:sp>
      <p:sp>
        <p:nvSpPr>
          <p:cNvPr id="19" name="dot-263"/>
          <p:cNvSpPr/>
          <p:nvPr/>
        </p:nvSpPr>
        <p:spPr>
          <a:xfrm>
            <a:off x="3840480" y="2377440"/>
            <a:ext cx="137160" cy="137160"/>
          </a:xfrm>
          <a:prstGeom prst="ellipse">
            <a:avLst/>
          </a:prstGeom>
          <a:solidFill>
            <a:schemeClr val="accent2"/>
          </a:solidFill>
          <a:ln/>
        </p:spPr>
      </p:sp>
      <p:sp>
        <p:nvSpPr>
          <p:cNvPr id="20" name="dot-264"/>
          <p:cNvSpPr/>
          <p:nvPr/>
        </p:nvSpPr>
        <p:spPr>
          <a:xfrm>
            <a:off x="4069080" y="2880360"/>
            <a:ext cx="137160" cy="137160"/>
          </a:xfrm>
          <a:prstGeom prst="ellipse">
            <a:avLst/>
          </a:prstGeom>
          <a:solidFill>
            <a:schemeClr val="accent2"/>
          </a:solidFill>
          <a:ln/>
        </p:spPr>
      </p:sp>
      <p:sp>
        <p:nvSpPr>
          <p:cNvPr id="21" name="dot-265"/>
          <p:cNvSpPr/>
          <p:nvPr/>
        </p:nvSpPr>
        <p:spPr>
          <a:xfrm>
            <a:off x="3474720" y="2834640"/>
            <a:ext cx="137160" cy="137160"/>
          </a:xfrm>
          <a:prstGeom prst="ellipse">
            <a:avLst/>
          </a:prstGeom>
          <a:solidFill>
            <a:schemeClr val="accent2"/>
          </a:solidFill>
          <a:ln/>
        </p:spPr>
      </p:sp>
      <p:sp>
        <p:nvSpPr>
          <p:cNvPr id="22" name="dot-266"/>
          <p:cNvSpPr/>
          <p:nvPr/>
        </p:nvSpPr>
        <p:spPr>
          <a:xfrm>
            <a:off x="3108960" y="3246120"/>
            <a:ext cx="137160" cy="137160"/>
          </a:xfrm>
          <a:prstGeom prst="ellipse">
            <a:avLst/>
          </a:prstGeom>
          <a:solidFill>
            <a:schemeClr val="accent2"/>
          </a:solidFill>
          <a:ln/>
        </p:spPr>
      </p:sp>
      <p:sp>
        <p:nvSpPr>
          <p:cNvPr id="23" name="dot-267"/>
          <p:cNvSpPr/>
          <p:nvPr/>
        </p:nvSpPr>
        <p:spPr>
          <a:xfrm>
            <a:off x="3749040" y="3291840"/>
            <a:ext cx="137160" cy="137160"/>
          </a:xfrm>
          <a:prstGeom prst="ellipse">
            <a:avLst/>
          </a:prstGeom>
          <a:solidFill>
            <a:schemeClr val="accent2"/>
          </a:solidFill>
          <a:ln/>
        </p:spPr>
      </p:sp>
      <p:sp>
        <p:nvSpPr>
          <p:cNvPr id="24" name="dot-268"/>
          <p:cNvSpPr/>
          <p:nvPr/>
        </p:nvSpPr>
        <p:spPr>
          <a:xfrm>
            <a:off x="4114800" y="3657600"/>
            <a:ext cx="137160" cy="137160"/>
          </a:xfrm>
          <a:prstGeom prst="ellipse">
            <a:avLst/>
          </a:prstGeom>
          <a:solidFill>
            <a:schemeClr val="accent2"/>
          </a:solidFill>
          <a:ln/>
        </p:spPr>
      </p:sp>
      <p:sp>
        <p:nvSpPr>
          <p:cNvPr id="25" name="arrow-269"/>
          <p:cNvSpPr/>
          <p:nvPr/>
        </p:nvSpPr>
        <p:spPr>
          <a:xfrm flipH="1" flipV="1">
            <a:off x="1531620" y="2446020"/>
            <a:ext cx="251460" cy="132588"/>
          </a:xfrm>
          <a:prstGeom prst="line">
            <a:avLst/>
          </a:prstGeom>
          <a:noFill/>
          <a:ln w="15875">
            <a:solidFill>
              <a:schemeClr val="tx2"/>
            </a:solidFill>
            <a:prstDash val="solid"/>
          </a:ln>
        </p:spPr>
      </p:sp>
      <p:sp>
        <p:nvSpPr>
          <p:cNvPr id="26" name="ring-270"/>
          <p:cNvSpPr/>
          <p:nvPr/>
        </p:nvSpPr>
        <p:spPr>
          <a:xfrm>
            <a:off x="1408176" y="2322576"/>
            <a:ext cx="246888" cy="246888"/>
          </a:xfrm>
          <a:prstGeom prst="ellipse">
            <a:avLst/>
          </a:prstGeom>
          <a:ln w="19050">
            <a:solidFill>
              <a:schemeClr val="tx2"/>
            </a:solidFill>
            <a:prstDash val="solid"/>
          </a:ln>
        </p:spPr>
      </p:sp>
      <p:sp>
        <p:nvSpPr>
          <p:cNvPr id="27" name="arrow-271"/>
          <p:cNvSpPr/>
          <p:nvPr/>
        </p:nvSpPr>
        <p:spPr>
          <a:xfrm>
            <a:off x="1783080" y="2578608"/>
            <a:ext cx="342900" cy="96012"/>
          </a:xfrm>
          <a:prstGeom prst="line">
            <a:avLst/>
          </a:prstGeom>
          <a:noFill/>
          <a:ln w="15875">
            <a:solidFill>
              <a:schemeClr val="tx2"/>
            </a:solidFill>
            <a:prstDash val="solid"/>
          </a:ln>
        </p:spPr>
      </p:sp>
      <p:sp>
        <p:nvSpPr>
          <p:cNvPr id="28" name="ring-272"/>
          <p:cNvSpPr/>
          <p:nvPr/>
        </p:nvSpPr>
        <p:spPr>
          <a:xfrm>
            <a:off x="2002536" y="2551176"/>
            <a:ext cx="246888" cy="246888"/>
          </a:xfrm>
          <a:prstGeom prst="ellipse">
            <a:avLst/>
          </a:prstGeom>
          <a:ln w="19050">
            <a:solidFill>
              <a:schemeClr val="tx2"/>
            </a:solidFill>
            <a:prstDash val="solid"/>
          </a:ln>
        </p:spPr>
      </p:sp>
      <p:sp>
        <p:nvSpPr>
          <p:cNvPr id="29" name="arrow-273"/>
          <p:cNvSpPr/>
          <p:nvPr/>
        </p:nvSpPr>
        <p:spPr>
          <a:xfrm flipV="1">
            <a:off x="1783080" y="2034540"/>
            <a:ext cx="22860" cy="544068"/>
          </a:xfrm>
          <a:prstGeom prst="line">
            <a:avLst/>
          </a:prstGeom>
          <a:noFill/>
          <a:ln w="15875">
            <a:solidFill>
              <a:schemeClr val="tx2"/>
            </a:solidFill>
            <a:prstDash val="solid"/>
          </a:ln>
        </p:spPr>
      </p:sp>
      <p:sp>
        <p:nvSpPr>
          <p:cNvPr id="30" name="ring-274"/>
          <p:cNvSpPr/>
          <p:nvPr/>
        </p:nvSpPr>
        <p:spPr>
          <a:xfrm>
            <a:off x="1682496" y="1911096"/>
            <a:ext cx="246888" cy="246888"/>
          </a:xfrm>
          <a:prstGeom prst="ellipse">
            <a:avLst/>
          </a:prstGeom>
          <a:ln w="19050">
            <a:solidFill>
              <a:schemeClr val="tx2"/>
            </a:solidFill>
            <a:prstDash val="solid"/>
          </a:ln>
        </p:spPr>
      </p:sp>
      <p:sp>
        <p:nvSpPr>
          <p:cNvPr id="31" name="query-star"/>
          <p:cNvSpPr/>
          <p:nvPr/>
        </p:nvSpPr>
        <p:spPr>
          <a:xfrm>
            <a:off x="1691640" y="2487168"/>
            <a:ext cx="201168" cy="201168"/>
          </a:xfrm>
          <a:prstGeom prst="star5">
            <a:avLst/>
          </a:prstGeom>
          <a:solidFill>
            <a:schemeClr val="accent6"/>
          </a:solidFill>
          <a:ln/>
        </p:spPr>
      </p:sp>
      <p:sp>
        <p:nvSpPr>
          <p:cNvPr id="32" name="text-275"/>
          <p:cNvSpPr txBox="1"/>
          <p:nvPr/>
        </p:nvSpPr>
        <p:spPr>
          <a:xfrm>
            <a:off x="594360" y="3749040"/>
            <a:ext cx="2011680" cy="228600"/>
          </a:xfrm>
          <a:prstGeom prst="rect">
            <a:avLst/>
          </a:prstGeom>
          <a:noFill/>
          <a:ln/>
        </p:spPr>
        <p:txBody>
          <a:bodyPr wrap="square" lIns="0" tIns="0" rIns="0" bIns="0" rtlCol="0" anchor="t"/>
          <a:lstStyle/>
          <a:p>
            <a:pPr indent="0" marL="0">
              <a:buNone/>
            </a:pPr>
            <a:r>
              <a:rPr lang="en-US" sz="1000" b="1" dirty="0">
                <a:solidFill>
                  <a:schemeClr val="accent1"/>
                </a:solidFill>
              </a:rPr>
              <a:t>Property / tenancy chunks</a:t>
            </a:r>
            <a:endParaRPr lang="en-US" sz="1000" dirty="0"/>
          </a:p>
        </p:txBody>
      </p:sp>
      <p:sp>
        <p:nvSpPr>
          <p:cNvPr id="33" name="text-276"/>
          <p:cNvSpPr txBox="1"/>
          <p:nvPr/>
        </p:nvSpPr>
        <p:spPr>
          <a:xfrm>
            <a:off x="3017520" y="3886200"/>
            <a:ext cx="1371600" cy="201168"/>
          </a:xfrm>
          <a:prstGeom prst="rect">
            <a:avLst/>
          </a:prstGeom>
          <a:noFill/>
          <a:ln/>
        </p:spPr>
        <p:txBody>
          <a:bodyPr wrap="square" lIns="0" tIns="0" rIns="0" bIns="0" rtlCol="0" anchor="t"/>
          <a:lstStyle/>
          <a:p>
            <a:pPr algn="r" indent="0" marL="0">
              <a:buNone/>
            </a:pPr>
            <a:r>
              <a:rPr lang="en-US" sz="1000" b="1" dirty="0">
                <a:solidFill>
                  <a:schemeClr val="accent2"/>
                </a:solidFill>
              </a:rPr>
              <a:t>Family law chunks</a:t>
            </a:r>
            <a:endParaRPr lang="en-US" sz="1000" dirty="0"/>
          </a:p>
        </p:txBody>
      </p:sp>
      <p:sp>
        <p:nvSpPr>
          <p:cNvPr id="34" name="text-277"/>
          <p:cNvSpPr txBox="1"/>
          <p:nvPr/>
        </p:nvSpPr>
        <p:spPr>
          <a:xfrm>
            <a:off x="594360" y="1298448"/>
            <a:ext cx="2743200" cy="365760"/>
          </a:xfrm>
          <a:prstGeom prst="rect">
            <a:avLst/>
          </a:prstGeom>
          <a:noFill/>
          <a:ln/>
        </p:spPr>
        <p:txBody>
          <a:bodyPr wrap="square" lIns="0" tIns="0" rIns="0" bIns="0" rtlCol="0" anchor="t"/>
          <a:lstStyle/>
          <a:p>
            <a:pPr indent="0" marL="0">
              <a:buNone/>
            </a:pPr>
            <a:r>
              <a:rPr lang="en-US" sz="1000" b="1" i="1" dirty="0">
                <a:solidFill>
                  <a:schemeClr val="accent6"/>
                </a:solidFill>
              </a:rPr>
              <a:t>Query: </a:t>
            </a:r>
            <a:pPr indent="0" marL="0">
              <a:buNone/>
            </a:pPr>
            <a:r>
              <a:rPr lang="en-US" sz="1000" i="1" dirty="0">
                <a:solidFill>
                  <a:schemeClr val="tx1"/>
                </a:solidFill>
              </a:rPr>
              <a:t>"My landlord wants to evict me without notice"</a:t>
            </a:r>
            <a:endParaRPr lang="en-US" sz="1000" dirty="0"/>
          </a:p>
        </p:txBody>
      </p:sp>
      <p:sp>
        <p:nvSpPr>
          <p:cNvPr id="35" name="text-278"/>
          <p:cNvSpPr txBox="1"/>
          <p:nvPr/>
        </p:nvSpPr>
        <p:spPr>
          <a:xfrm>
            <a:off x="457200" y="4224528"/>
            <a:ext cx="4023360" cy="457200"/>
          </a:xfrm>
          <a:prstGeom prst="rect">
            <a:avLst/>
          </a:prstGeom>
          <a:noFill/>
          <a:ln/>
        </p:spPr>
        <p:txBody>
          <a:bodyPr wrap="square" lIns="0" tIns="0" rIns="0" bIns="0" rtlCol="0" anchor="t"/>
          <a:lstStyle/>
          <a:p>
            <a:pPr indent="0" marL="0">
              <a:buNone/>
            </a:pPr>
            <a:r>
              <a:rPr lang="en-US" sz="1100" dirty="0">
                <a:solidFill>
                  <a:schemeClr val="tx1"/>
                </a:solidFill>
              </a:rPr>
              <a:t>Same embedding model as offline  ›  cosine similarity  ›  </a:t>
            </a:r>
            <a:pPr indent="0" marL="0">
              <a:buNone/>
            </a:pPr>
            <a:r>
              <a:rPr lang="en-US" sz="1100" b="1" dirty="0">
                <a:solidFill>
                  <a:schemeClr val="tx1"/>
                </a:solidFill>
              </a:rPr>
              <a:t>top-k closest chunks (ringed) are returned</a:t>
            </a:r>
            <a:endParaRPr lang="en-US" sz="1100" dirty="0"/>
          </a:p>
        </p:txBody>
      </p:sp>
      <p:sp>
        <p:nvSpPr>
          <p:cNvPr id="36" name="text-279"/>
          <p:cNvSpPr txBox="1"/>
          <p:nvPr/>
        </p:nvSpPr>
        <p:spPr>
          <a:xfrm>
            <a:off x="4754880" y="960120"/>
            <a:ext cx="393192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THE GROUNDED PROMPT SENT TO THE LLM</a:t>
            </a:r>
            <a:endParaRPr lang="en-US" sz="1100" dirty="0"/>
          </a:p>
        </p:txBody>
      </p:sp>
      <p:sp>
        <p:nvSpPr>
          <p:cNvPr id="37" name="box-280"/>
          <p:cNvSpPr/>
          <p:nvPr/>
        </p:nvSpPr>
        <p:spPr>
          <a:xfrm>
            <a:off x="4754880" y="1261872"/>
            <a:ext cx="1143000" cy="603504"/>
          </a:xfrm>
          <a:prstGeom prst="roundRect">
            <a:avLst>
              <a:gd name="adj" fmla="val 12121"/>
            </a:avLst>
          </a:prstGeom>
          <a:solidFill>
            <a:schemeClr val="tx2"/>
          </a:solidFill>
          <a:ln/>
        </p:spPr>
      </p:sp>
      <p:sp>
        <p:nvSpPr>
          <p:cNvPr id="38" name="boxtext-281"/>
          <p:cNvSpPr txBox="1"/>
          <p:nvPr/>
        </p:nvSpPr>
        <p:spPr>
          <a:xfrm>
            <a:off x="4754880" y="1261872"/>
            <a:ext cx="1143000" cy="603504"/>
          </a:xfrm>
          <a:prstGeom prst="rect">
            <a:avLst/>
          </a:prstGeom>
          <a:noFill/>
          <a:ln/>
        </p:spPr>
        <p:txBody>
          <a:bodyPr wrap="square" lIns="762" tIns="762" rIns="762" bIns="762" rtlCol="0" anchor="ctr"/>
          <a:lstStyle/>
          <a:p>
            <a:pPr algn="ctr" indent="0" marL="0">
              <a:buNone/>
            </a:pPr>
            <a:r>
              <a:rPr lang="en-US" sz="1100" b="1" dirty="0">
                <a:solidFill>
                  <a:schemeClr val="bg1"/>
                </a:solidFill>
              </a:rPr>
              <a:t>Instructions</a:t>
            </a:r>
            <a:endParaRPr lang="en-US" sz="1100" dirty="0"/>
          </a:p>
        </p:txBody>
      </p:sp>
      <p:sp>
        <p:nvSpPr>
          <p:cNvPr id="39" name="box-282"/>
          <p:cNvSpPr/>
          <p:nvPr/>
        </p:nvSpPr>
        <p:spPr>
          <a:xfrm>
            <a:off x="5943600" y="1261872"/>
            <a:ext cx="2743200" cy="603504"/>
          </a:xfrm>
          <a:prstGeom prst="roundRect">
            <a:avLst>
              <a:gd name="adj" fmla="val 12121"/>
            </a:avLst>
          </a:prstGeom>
          <a:solidFill>
            <a:schemeClr val="bg2"/>
          </a:solidFill>
          <a:ln/>
        </p:spPr>
      </p:sp>
      <p:sp>
        <p:nvSpPr>
          <p:cNvPr id="40" name="boxtext-283"/>
          <p:cNvSpPr txBox="1"/>
          <p:nvPr/>
        </p:nvSpPr>
        <p:spPr>
          <a:xfrm>
            <a:off x="6035040" y="1261872"/>
            <a:ext cx="2560320" cy="603504"/>
          </a:xfrm>
          <a:prstGeom prst="rect">
            <a:avLst/>
          </a:prstGeom>
          <a:noFill/>
          <a:ln/>
        </p:spPr>
        <p:txBody>
          <a:bodyPr wrap="square" lIns="0" tIns="0" rIns="0" bIns="0" rtlCol="0" anchor="ctr"/>
          <a:lstStyle/>
          <a:p>
            <a:pPr algn="l" indent="0" marL="0">
              <a:buNone/>
            </a:pPr>
            <a:r>
              <a:rPr lang="en-US" sz="1000" dirty="0">
                <a:solidFill>
                  <a:schemeClr val="tx1"/>
                </a:solidFill>
              </a:rPr>
              <a:t>Answer only from the sources below. Cite every claim as [S#]. If the sources don't cover it, say so.</a:t>
            </a:r>
            <a:endParaRPr lang="en-US" sz="1000" dirty="0"/>
          </a:p>
        </p:txBody>
      </p:sp>
      <p:sp>
        <p:nvSpPr>
          <p:cNvPr id="41" name="box-284"/>
          <p:cNvSpPr/>
          <p:nvPr/>
        </p:nvSpPr>
        <p:spPr>
          <a:xfrm>
            <a:off x="4754880" y="1947672"/>
            <a:ext cx="1143000" cy="603504"/>
          </a:xfrm>
          <a:prstGeom prst="roundRect">
            <a:avLst>
              <a:gd name="adj" fmla="val 12121"/>
            </a:avLst>
          </a:prstGeom>
          <a:solidFill>
            <a:schemeClr val="accent2"/>
          </a:solidFill>
          <a:ln/>
        </p:spPr>
      </p:sp>
      <p:sp>
        <p:nvSpPr>
          <p:cNvPr id="42" name="boxtext-285"/>
          <p:cNvSpPr txBox="1"/>
          <p:nvPr/>
        </p:nvSpPr>
        <p:spPr>
          <a:xfrm>
            <a:off x="4754880" y="1947672"/>
            <a:ext cx="1143000" cy="603504"/>
          </a:xfrm>
          <a:prstGeom prst="rect">
            <a:avLst/>
          </a:prstGeom>
          <a:noFill/>
          <a:ln/>
        </p:spPr>
        <p:txBody>
          <a:bodyPr wrap="square" lIns="762" tIns="762" rIns="762" bIns="762" rtlCol="0" anchor="ctr"/>
          <a:lstStyle/>
          <a:p>
            <a:pPr algn="ctr" indent="0" marL="0">
              <a:buNone/>
            </a:pPr>
            <a:r>
              <a:rPr lang="en-US" sz="1100" b="1" dirty="0">
                <a:solidFill>
                  <a:schemeClr val="bg1"/>
                </a:solidFill>
              </a:rPr>
              <a:t>Retrieved sources</a:t>
            </a:r>
            <a:endParaRPr lang="en-US" sz="1100" dirty="0"/>
          </a:p>
        </p:txBody>
      </p:sp>
      <p:sp>
        <p:nvSpPr>
          <p:cNvPr id="43" name="box-286"/>
          <p:cNvSpPr/>
          <p:nvPr/>
        </p:nvSpPr>
        <p:spPr>
          <a:xfrm>
            <a:off x="5943600" y="1947672"/>
            <a:ext cx="2743200" cy="603504"/>
          </a:xfrm>
          <a:prstGeom prst="roundRect">
            <a:avLst>
              <a:gd name="adj" fmla="val 12121"/>
            </a:avLst>
          </a:prstGeom>
          <a:solidFill>
            <a:schemeClr val="bg2"/>
          </a:solidFill>
          <a:ln/>
        </p:spPr>
      </p:sp>
      <p:sp>
        <p:nvSpPr>
          <p:cNvPr id="44" name="boxtext-287"/>
          <p:cNvSpPr txBox="1"/>
          <p:nvPr/>
        </p:nvSpPr>
        <p:spPr>
          <a:xfrm>
            <a:off x="6035040" y="1947672"/>
            <a:ext cx="2560320" cy="603504"/>
          </a:xfrm>
          <a:prstGeom prst="rect">
            <a:avLst/>
          </a:prstGeom>
          <a:noFill/>
          <a:ln/>
        </p:spPr>
        <p:txBody>
          <a:bodyPr wrap="square" lIns="0" tIns="0" rIns="0" bIns="0" rtlCol="0" anchor="ctr"/>
          <a:lstStyle/>
          <a:p>
            <a:pPr algn="l" indent="0" marL="0">
              <a:buNone/>
            </a:pPr>
            <a:r>
              <a:rPr lang="en-US" sz="1000" dirty="0">
                <a:solidFill>
                  <a:schemeClr val="tx1"/>
                </a:solidFill>
              </a:rPr>
              <a:t>[S1] &lt;Act&gt;, Sec. x ...   [S2] &lt;Act&gt;, Sec. y ...   [S3] &lt;Rules&gt;, r. z ...</a:t>
            </a:r>
            <a:endParaRPr lang="en-US" sz="1000" dirty="0"/>
          </a:p>
        </p:txBody>
      </p:sp>
      <p:sp>
        <p:nvSpPr>
          <p:cNvPr id="45" name="box-288"/>
          <p:cNvSpPr/>
          <p:nvPr/>
        </p:nvSpPr>
        <p:spPr>
          <a:xfrm>
            <a:off x="4754880" y="2633472"/>
            <a:ext cx="1143000" cy="603504"/>
          </a:xfrm>
          <a:prstGeom prst="roundRect">
            <a:avLst>
              <a:gd name="adj" fmla="val 12121"/>
            </a:avLst>
          </a:prstGeom>
          <a:solidFill>
            <a:schemeClr val="accent1"/>
          </a:solidFill>
          <a:ln/>
        </p:spPr>
      </p:sp>
      <p:sp>
        <p:nvSpPr>
          <p:cNvPr id="46" name="boxtext-289"/>
          <p:cNvSpPr txBox="1"/>
          <p:nvPr/>
        </p:nvSpPr>
        <p:spPr>
          <a:xfrm>
            <a:off x="4754880" y="2633472"/>
            <a:ext cx="1143000" cy="603504"/>
          </a:xfrm>
          <a:prstGeom prst="rect">
            <a:avLst/>
          </a:prstGeom>
          <a:noFill/>
          <a:ln/>
        </p:spPr>
        <p:txBody>
          <a:bodyPr wrap="square" lIns="762" tIns="762" rIns="762" bIns="762" rtlCol="0" anchor="ctr"/>
          <a:lstStyle/>
          <a:p>
            <a:pPr algn="ctr" indent="0" marL="0">
              <a:buNone/>
            </a:pPr>
            <a:r>
              <a:rPr lang="en-US" sz="1100" b="1" dirty="0">
                <a:solidFill>
                  <a:schemeClr val="bg1"/>
                </a:solidFill>
              </a:rPr>
              <a:t>Case facts</a:t>
            </a:r>
            <a:endParaRPr lang="en-US" sz="1100" dirty="0"/>
          </a:p>
        </p:txBody>
      </p:sp>
      <p:sp>
        <p:nvSpPr>
          <p:cNvPr id="47" name="box-290"/>
          <p:cNvSpPr/>
          <p:nvPr/>
        </p:nvSpPr>
        <p:spPr>
          <a:xfrm>
            <a:off x="5943600" y="2633472"/>
            <a:ext cx="2743200" cy="603504"/>
          </a:xfrm>
          <a:prstGeom prst="roundRect">
            <a:avLst>
              <a:gd name="adj" fmla="val 12121"/>
            </a:avLst>
          </a:prstGeom>
          <a:solidFill>
            <a:schemeClr val="bg2"/>
          </a:solidFill>
          <a:ln/>
        </p:spPr>
      </p:sp>
      <p:sp>
        <p:nvSpPr>
          <p:cNvPr id="48" name="boxtext-291"/>
          <p:cNvSpPr txBox="1"/>
          <p:nvPr/>
        </p:nvSpPr>
        <p:spPr>
          <a:xfrm>
            <a:off x="6035040" y="2633472"/>
            <a:ext cx="2560320" cy="603504"/>
          </a:xfrm>
          <a:prstGeom prst="rect">
            <a:avLst/>
          </a:prstGeom>
          <a:noFill/>
          <a:ln/>
        </p:spPr>
        <p:txBody>
          <a:bodyPr wrap="square" lIns="0" tIns="0" rIns="0" bIns="0" rtlCol="0" anchor="ctr"/>
          <a:lstStyle/>
          <a:p>
            <a:pPr algn="l" indent="0" marL="0">
              <a:buNone/>
            </a:pPr>
            <a:r>
              <a:rPr lang="en-US" sz="1000" dirty="0">
                <a:solidFill>
                  <a:schemeClr val="tx1"/>
                </a:solidFill>
              </a:rPr>
              <a:t>Tenant, written agreement exists, no eviction notice received</a:t>
            </a:r>
            <a:endParaRPr lang="en-US" sz="1000" dirty="0"/>
          </a:p>
        </p:txBody>
      </p:sp>
      <p:sp>
        <p:nvSpPr>
          <p:cNvPr id="49" name="box-292"/>
          <p:cNvSpPr/>
          <p:nvPr/>
        </p:nvSpPr>
        <p:spPr>
          <a:xfrm>
            <a:off x="4754880" y="3319272"/>
            <a:ext cx="1143000" cy="603504"/>
          </a:xfrm>
          <a:prstGeom prst="roundRect">
            <a:avLst>
              <a:gd name="adj" fmla="val 12121"/>
            </a:avLst>
          </a:prstGeom>
          <a:solidFill>
            <a:schemeClr val="accent5"/>
          </a:solidFill>
          <a:ln/>
        </p:spPr>
      </p:sp>
      <p:sp>
        <p:nvSpPr>
          <p:cNvPr id="50" name="boxtext-293"/>
          <p:cNvSpPr txBox="1"/>
          <p:nvPr/>
        </p:nvSpPr>
        <p:spPr>
          <a:xfrm>
            <a:off x="4754880" y="3319272"/>
            <a:ext cx="1143000" cy="603504"/>
          </a:xfrm>
          <a:prstGeom prst="rect">
            <a:avLst/>
          </a:prstGeom>
          <a:noFill/>
          <a:ln/>
        </p:spPr>
        <p:txBody>
          <a:bodyPr wrap="square" lIns="762" tIns="762" rIns="762" bIns="762" rtlCol="0" anchor="ctr"/>
          <a:lstStyle/>
          <a:p>
            <a:pPr algn="ctr" indent="0" marL="0">
              <a:buNone/>
            </a:pPr>
            <a:r>
              <a:rPr lang="en-US" sz="1100" b="1" dirty="0">
                <a:solidFill>
                  <a:schemeClr val="bg1"/>
                </a:solidFill>
              </a:rPr>
              <a:t>Question</a:t>
            </a:r>
            <a:endParaRPr lang="en-US" sz="1100" dirty="0"/>
          </a:p>
        </p:txBody>
      </p:sp>
      <p:sp>
        <p:nvSpPr>
          <p:cNvPr id="51" name="box-294"/>
          <p:cNvSpPr/>
          <p:nvPr/>
        </p:nvSpPr>
        <p:spPr>
          <a:xfrm>
            <a:off x="5943600" y="3319272"/>
            <a:ext cx="2743200" cy="603504"/>
          </a:xfrm>
          <a:prstGeom prst="roundRect">
            <a:avLst>
              <a:gd name="adj" fmla="val 12121"/>
            </a:avLst>
          </a:prstGeom>
          <a:solidFill>
            <a:schemeClr val="bg2"/>
          </a:solidFill>
          <a:ln/>
        </p:spPr>
      </p:sp>
      <p:sp>
        <p:nvSpPr>
          <p:cNvPr id="52" name="boxtext-295"/>
          <p:cNvSpPr txBox="1"/>
          <p:nvPr/>
        </p:nvSpPr>
        <p:spPr>
          <a:xfrm>
            <a:off x="6035040" y="3319272"/>
            <a:ext cx="2560320" cy="603504"/>
          </a:xfrm>
          <a:prstGeom prst="rect">
            <a:avLst/>
          </a:prstGeom>
          <a:noFill/>
          <a:ln/>
        </p:spPr>
        <p:txBody>
          <a:bodyPr wrap="square" lIns="0" tIns="0" rIns="0" bIns="0" rtlCol="0" anchor="ctr"/>
          <a:lstStyle/>
          <a:p>
            <a:pPr algn="l" indent="0" marL="0">
              <a:buNone/>
            </a:pPr>
            <a:r>
              <a:rPr lang="en-US" sz="1000" dirty="0">
                <a:solidFill>
                  <a:schemeClr val="tx1"/>
                </a:solidFill>
              </a:rPr>
              <a:t>Can my landlord evict me now? What should I prepare?</a:t>
            </a:r>
            <a:endParaRPr lang="en-US" sz="1000" dirty="0"/>
          </a:p>
        </p:txBody>
      </p:sp>
      <p:sp>
        <p:nvSpPr>
          <p:cNvPr id="53" name="arrow-296"/>
          <p:cNvSpPr/>
          <p:nvPr/>
        </p:nvSpPr>
        <p:spPr>
          <a:xfrm>
            <a:off x="6720840" y="4005072"/>
            <a:ext cx="0" cy="201168"/>
          </a:xfrm>
          <a:prstGeom prst="line">
            <a:avLst/>
          </a:prstGeom>
          <a:noFill/>
          <a:ln w="25400">
            <a:solidFill>
              <a:schemeClr val="tx2"/>
            </a:solidFill>
            <a:prstDash val="solid"/>
            <a:tailEnd type="triangle"/>
          </a:ln>
        </p:spPr>
      </p:sp>
      <p:sp>
        <p:nvSpPr>
          <p:cNvPr id="54" name="box-297"/>
          <p:cNvSpPr/>
          <p:nvPr/>
        </p:nvSpPr>
        <p:spPr>
          <a:xfrm>
            <a:off x="4754880" y="4224528"/>
            <a:ext cx="3931920" cy="411480"/>
          </a:xfrm>
          <a:prstGeom prst="roundRect">
            <a:avLst>
              <a:gd name="adj" fmla="val 17778"/>
            </a:avLst>
          </a:prstGeom>
          <a:solidFill>
            <a:schemeClr val="tx2"/>
          </a:solidFill>
          <a:ln/>
        </p:spPr>
      </p:sp>
      <p:sp>
        <p:nvSpPr>
          <p:cNvPr id="55" name="boxtext-298"/>
          <p:cNvSpPr txBox="1"/>
          <p:nvPr/>
        </p:nvSpPr>
        <p:spPr>
          <a:xfrm>
            <a:off x="4754880" y="4224528"/>
            <a:ext cx="3931920" cy="411480"/>
          </a:xfrm>
          <a:prstGeom prst="rect">
            <a:avLst/>
          </a:prstGeom>
          <a:noFill/>
          <a:ln/>
        </p:spPr>
        <p:txBody>
          <a:bodyPr wrap="square" lIns="762" tIns="762" rIns="762" bIns="762" rtlCol="0" anchor="ctr"/>
          <a:lstStyle/>
          <a:p>
            <a:pPr algn="ctr" indent="0" marL="0">
              <a:buNone/>
            </a:pPr>
            <a:r>
              <a:rPr lang="en-US" sz="1200" b="1" dirty="0">
                <a:solidFill>
                  <a:schemeClr val="bg1"/>
                </a:solidFill>
              </a:rPr>
              <a:t>Open-source LLM  →  answer with [S1] [S2] citations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How We Compare to Existing Solutions</a:t>
            </a:r>
            <a:endParaRPr lang="en-US" sz="2800" dirty="0"/>
          </a:p>
        </p:txBody>
      </p:sp>
      <p:graphicFrame>
        <p:nvGraphicFramePr>
          <p:cNvPr id="11" name="comparison-table"/>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468880"/>
                <a:gridCol w="1828800"/>
                <a:gridCol w="1828800"/>
                <a:gridCol w="2103120"/>
              </a:tblGrid>
              <a:tr h="347472">
                <a:tc>
                  <a:txBody>
                    <a:bodyPr/>
                    <a:lstStyle/>
                    <a:p>
                      <a:pPr algn="ctr" indent="0" marL="0">
                        <a:buNone/>
                      </a:pPr>
                      <a:r>
                        <a:rPr lang="en-US" sz="1200" b="1" dirty="0">
                          <a:solidFill>
                            <a:schemeClr val="bg1"/>
                          </a:solidFill>
                        </a:rPr>
                        <a:t>Feature</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MyCounsel</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QanoonAI</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Proposed System</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tx2"/>
                    </a:solidFill>
                  </a:tcPr>
                </a:tc>
              </a:tr>
              <a:tr h="347472">
                <a:tc>
                  <a:txBody>
                    <a:bodyPr/>
                    <a:lstStyle/>
                    <a:p>
                      <a:pPr indent="0" marL="0">
                        <a:buNone/>
                      </a:pPr>
                      <a:r>
                        <a:rPr lang="en-US" sz="1200" b="1" dirty="0">
                          <a:solidFill>
                            <a:schemeClr val="tx2"/>
                          </a:solidFill>
                        </a:rPr>
                        <a:t>RAG / grounded responses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accent4"/>
                    </a:solidFill>
                  </a:tcPr>
                </a:tc>
              </a:tr>
              <a:tr h="347472">
                <a:tc>
                  <a:txBody>
                    <a:bodyPr/>
                    <a:lstStyle/>
                    <a:p>
                      <a:pPr indent="0" marL="0">
                        <a:buNone/>
                      </a:pPr>
                      <a:r>
                        <a:rPr lang="en-US" sz="1200" b="1" dirty="0">
                          <a:solidFill>
                            <a:schemeClr val="tx2"/>
                          </a:solidFill>
                        </a:rPr>
                        <a:t>Source citations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Citation verification</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accent4"/>
                    </a:solidFill>
                  </a:tcPr>
                </a:tc>
              </a:tr>
              <a:tr h="347472">
                <a:tc>
                  <a:txBody>
                    <a:bodyPr/>
                    <a:lstStyle/>
                    <a:p>
                      <a:pPr indent="0" marL="0">
                        <a:buNone/>
                      </a:pPr>
                      <a:r>
                        <a:rPr lang="en-US" sz="1200" b="1" dirty="0">
                          <a:solidFill>
                            <a:schemeClr val="tx2"/>
                          </a:solidFill>
                        </a:rPr>
                        <a:t>Follow-up questions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accent4"/>
                    </a:solidFill>
                  </a:tcPr>
                </a:tc>
              </a:tr>
              <a:tr h="347472">
                <a:tc>
                  <a:txBody>
                    <a:bodyPr/>
                    <a:lstStyle/>
                    <a:p>
                      <a:pPr indent="0" marL="0">
                        <a:buNone/>
                      </a:pPr>
                      <a:r>
                        <a:rPr lang="en-US" sz="1200" b="1" dirty="0">
                          <a:solidFill>
                            <a:schemeClr val="tx2"/>
                          </a:solidFill>
                        </a:rPr>
                        <a:t>OCR + evidence checklist</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accent4"/>
                    </a:solidFill>
                  </a:tcPr>
                </a:tc>
              </a:tr>
              <a:tr h="347472">
                <a:tc>
                  <a:txBody>
                    <a:bodyPr/>
                    <a:lstStyle/>
                    <a:p>
                      <a:pPr indent="0" marL="0">
                        <a:buNone/>
                      </a:pPr>
                      <a:r>
                        <a:rPr lang="en-US" sz="1200" b="1" dirty="0">
                          <a:solidFill>
                            <a:schemeClr val="tx2"/>
                          </a:solidFill>
                        </a:rPr>
                        <a:t>Verified lawyer directory</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accent1"/>
                          </a:solidFill>
                        </a:rPr>
                        <a:t>Yes + rich filters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accent4"/>
                    </a:solidFill>
                  </a:tcPr>
                </a:tc>
              </a:tr>
              <a:tr h="347472">
                <a:tc>
                  <a:txBody>
                    <a:bodyPr/>
                    <a:lstStyle/>
                    <a:p>
                      <a:pPr indent="0" marL="0">
                        <a:buNone/>
                      </a:pPr>
                      <a:r>
                        <a:rPr lang="en-US" sz="1200" b="1" dirty="0">
                          <a:solidFill>
                            <a:schemeClr val="tx2"/>
                          </a:solidFill>
                        </a:rPr>
                        <a:t>Case tracking</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Engagement mgmt.</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accent4"/>
                    </a:solidFill>
                  </a:tcPr>
                </a:tc>
              </a:tr>
              <a:tr h="347472">
                <a:tc>
                  <a:txBody>
                    <a:bodyPr/>
                    <a:lstStyle/>
                    <a:p>
                      <a:pPr indent="0" marL="0">
                        <a:buNone/>
                      </a:pPr>
                      <a:r>
                        <a:rPr lang="en-US" sz="1200" b="1" dirty="0">
                          <a:solidFill>
                            <a:schemeClr val="tx2"/>
                          </a:solidFill>
                        </a:rPr>
                        <a:t>Pakistani legal focus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accent4"/>
                    </a:solidFill>
                  </a:tcPr>
                </a:tc>
              </a:tr>
            </a:tbl>
          </a:graphicData>
        </a:graphic>
      </p:graphicFrame>
      <p:sp>
        <p:nvSpPr>
          <p:cNvPr id="4" name="box-299"/>
          <p:cNvSpPr/>
          <p:nvPr/>
        </p:nvSpPr>
        <p:spPr>
          <a:xfrm>
            <a:off x="457200" y="3931920"/>
            <a:ext cx="8229600" cy="685800"/>
          </a:xfrm>
          <a:prstGeom prst="roundRect">
            <a:avLst>
              <a:gd name="adj" fmla="val 10667"/>
            </a:avLst>
          </a:prstGeom>
          <a:solidFill>
            <a:schemeClr val="tx2"/>
          </a:solidFill>
          <a:ln/>
        </p:spPr>
      </p:sp>
      <p:sp>
        <p:nvSpPr>
          <p:cNvPr id="5" name="boxtext-300"/>
          <p:cNvSpPr txBox="1"/>
          <p:nvPr/>
        </p:nvSpPr>
        <p:spPr>
          <a:xfrm>
            <a:off x="640080" y="3931920"/>
            <a:ext cx="7863840" cy="685800"/>
          </a:xfrm>
          <a:prstGeom prst="rect">
            <a:avLst/>
          </a:prstGeom>
          <a:noFill/>
          <a:ln/>
        </p:spPr>
        <p:txBody>
          <a:bodyPr wrap="square" lIns="0" tIns="0" rIns="0" bIns="0" rtlCol="0" anchor="ctr"/>
          <a:lstStyle/>
          <a:p>
            <a:pPr algn="l" indent="0" marL="0">
              <a:buNone/>
            </a:pPr>
            <a:r>
              <a:rPr lang="en-US" sz="1200" b="1" dirty="0">
                <a:solidFill>
                  <a:schemeClr val="accent2"/>
                </a:solidFill>
              </a:rPr>
              <a:t>Main gap: </a:t>
            </a:r>
            <a:pPr algn="l" indent="0" marL="0">
              <a:buNone/>
            </a:pPr>
            <a:r>
              <a:rPr lang="en-US" sz="1200" dirty="0">
                <a:solidFill>
                  <a:schemeClr val="bg1"/>
                </a:solidFill>
              </a:rPr>
              <a:t>existing tools focus on lawyer discovery or professional research. No single citizen workflow that clarifies facts, retrieves verified sources, explains with citations, checks evidence, connects to a lawyer and tracks the case.</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548640"/>
          </a:xfrm>
          <a:prstGeom prst="rect">
            <a:avLst/>
          </a:prstGeom>
          <a:noFill/>
          <a:ln/>
        </p:spPr>
        <p:txBody>
          <a:bodyPr wrap="square" lIns="0" tIns="0" rIns="0" bIns="0" rtlCol="0" anchor="ctr"/>
          <a:lstStyle/>
          <a:p>
            <a:pPr algn="l" indent="0" marL="0">
              <a:buNone/>
            </a:pPr>
            <a:r>
              <a:rPr lang="en-US" sz="2800" b="1" dirty="0">
                <a:solidFill>
                  <a:schemeClr val="tx2"/>
                </a:solidFill>
              </a:rPr>
              <a:t>Technology Stack and Why</a:t>
            </a:r>
            <a:endParaRPr lang="en-US" sz="2800" dirty="0"/>
          </a:p>
        </p:txBody>
      </p:sp>
      <p:sp>
        <p:nvSpPr>
          <p:cNvPr id="3" name="box-301"/>
          <p:cNvSpPr/>
          <p:nvPr/>
        </p:nvSpPr>
        <p:spPr>
          <a:xfrm>
            <a:off x="457200" y="1005840"/>
            <a:ext cx="1499616" cy="1691640"/>
          </a:xfrm>
          <a:prstGeom prst="roundRect">
            <a:avLst>
              <a:gd name="adj" fmla="val 4878"/>
            </a:avLst>
          </a:prstGeom>
          <a:solidFill>
            <a:schemeClr val="bg2"/>
          </a:solidFill>
          <a:ln/>
        </p:spPr>
      </p:sp>
      <p:sp>
        <p:nvSpPr>
          <p:cNvPr id="4" name="iconbg-302"/>
          <p:cNvSpPr/>
          <p:nvPr/>
        </p:nvSpPr>
        <p:spPr>
          <a:xfrm>
            <a:off x="566928" y="1115568"/>
            <a:ext cx="438912" cy="438912"/>
          </a:xfrm>
          <a:prstGeom prst="ellipse">
            <a:avLst/>
          </a:prstGeom>
          <a:solidFill>
            <a:schemeClr val="accent1"/>
          </a:solidFill>
          <a:ln/>
        </p:spPr>
      </p:sp>
      <p:pic>
        <p:nvPicPr>
          <p:cNvPr id="5" name="icon-303" descr="preencoded.png">    </p:cNvPr>
          <p:cNvPicPr>
            <a:picLocks noChangeAspect="1"/>
          </p:cNvPicPr>
          <p:nvPr/>
        </p:nvPicPr>
        <p:blipFill>
          <a:blip r:embed="rId1"/>
          <a:stretch>
            <a:fillRect/>
          </a:stretch>
        </p:blipFill>
        <p:spPr>
          <a:xfrm>
            <a:off x="663489" y="1212129"/>
            <a:ext cx="245791" cy="245791"/>
          </a:xfrm>
          <a:prstGeom prst="rect">
            <a:avLst/>
          </a:prstGeom>
        </p:spPr>
      </p:pic>
      <p:sp>
        <p:nvSpPr>
          <p:cNvPr id="6" name="text-304"/>
          <p:cNvSpPr txBox="1"/>
          <p:nvPr/>
        </p:nvSpPr>
        <p:spPr>
          <a:xfrm>
            <a:off x="566928" y="1609344"/>
            <a:ext cx="1298448" cy="384048"/>
          </a:xfrm>
          <a:prstGeom prst="rect">
            <a:avLst/>
          </a:prstGeom>
          <a:noFill/>
          <a:ln/>
        </p:spPr>
        <p:txBody>
          <a:bodyPr wrap="square" lIns="0" tIns="0" rIns="0" bIns="0" rtlCol="0" anchor="ctr"/>
          <a:lstStyle/>
          <a:p>
            <a:pPr indent="0" marL="0">
              <a:buNone/>
            </a:pPr>
            <a:r>
              <a:rPr lang="en-US" sz="1200" b="1" dirty="0">
                <a:solidFill>
                  <a:schemeClr val="tx2"/>
                </a:solidFill>
              </a:rPr>
              <a:t>Python</a:t>
            </a:r>
            <a:endParaRPr lang="en-US" sz="1200" dirty="0"/>
          </a:p>
        </p:txBody>
      </p:sp>
      <p:sp>
        <p:nvSpPr>
          <p:cNvPr id="7" name="text-305"/>
          <p:cNvSpPr txBox="1"/>
          <p:nvPr/>
        </p:nvSpPr>
        <p:spPr>
          <a:xfrm>
            <a:off x="566928" y="2011680"/>
            <a:ext cx="1298448" cy="640080"/>
          </a:xfrm>
          <a:prstGeom prst="rect">
            <a:avLst/>
          </a:prstGeom>
          <a:noFill/>
          <a:ln/>
        </p:spPr>
        <p:txBody>
          <a:bodyPr wrap="square" lIns="0" tIns="0" rIns="0" bIns="0" rtlCol="0" anchor="t"/>
          <a:lstStyle/>
          <a:p>
            <a:pPr indent="0" marL="0">
              <a:buNone/>
            </a:pPr>
            <a:r>
              <a:rPr lang="en-US" sz="1000" dirty="0">
                <a:solidFill>
                  <a:schemeClr val="tx1"/>
                </a:solidFill>
              </a:rPr>
              <a:t>Backend logic, RAG pipeline; strong NLP and PDF libraries</a:t>
            </a:r>
            <a:endParaRPr lang="en-US" sz="1000" dirty="0"/>
          </a:p>
        </p:txBody>
      </p:sp>
      <p:sp>
        <p:nvSpPr>
          <p:cNvPr id="8" name="box-306"/>
          <p:cNvSpPr/>
          <p:nvPr/>
        </p:nvSpPr>
        <p:spPr>
          <a:xfrm>
            <a:off x="2139696" y="1005840"/>
            <a:ext cx="1499616" cy="1691640"/>
          </a:xfrm>
          <a:prstGeom prst="roundRect">
            <a:avLst>
              <a:gd name="adj" fmla="val 4878"/>
            </a:avLst>
          </a:prstGeom>
          <a:solidFill>
            <a:schemeClr val="bg2"/>
          </a:solidFill>
          <a:ln/>
        </p:spPr>
      </p:sp>
      <p:sp>
        <p:nvSpPr>
          <p:cNvPr id="9" name="iconbg-307"/>
          <p:cNvSpPr/>
          <p:nvPr/>
        </p:nvSpPr>
        <p:spPr>
          <a:xfrm>
            <a:off x="2249424" y="1115568"/>
            <a:ext cx="438912" cy="438912"/>
          </a:xfrm>
          <a:prstGeom prst="ellipse">
            <a:avLst/>
          </a:prstGeom>
          <a:solidFill>
            <a:schemeClr val="accent1"/>
          </a:solidFill>
          <a:ln/>
        </p:spPr>
      </p:sp>
      <p:pic>
        <p:nvPicPr>
          <p:cNvPr id="10" name="icon-308" descr="preencoded.png">    </p:cNvPr>
          <p:cNvPicPr>
            <a:picLocks noChangeAspect="1"/>
          </p:cNvPicPr>
          <p:nvPr/>
        </p:nvPicPr>
        <p:blipFill>
          <a:blip r:embed="rId2"/>
          <a:stretch>
            <a:fillRect/>
          </a:stretch>
        </p:blipFill>
        <p:spPr>
          <a:xfrm>
            <a:off x="2345985" y="1212129"/>
            <a:ext cx="245791" cy="245791"/>
          </a:xfrm>
          <a:prstGeom prst="rect">
            <a:avLst/>
          </a:prstGeom>
        </p:spPr>
      </p:pic>
      <p:sp>
        <p:nvSpPr>
          <p:cNvPr id="11" name="text-309"/>
          <p:cNvSpPr txBox="1"/>
          <p:nvPr/>
        </p:nvSpPr>
        <p:spPr>
          <a:xfrm>
            <a:off x="2249424" y="1609344"/>
            <a:ext cx="1298448" cy="384048"/>
          </a:xfrm>
          <a:prstGeom prst="rect">
            <a:avLst/>
          </a:prstGeom>
          <a:noFill/>
          <a:ln/>
        </p:spPr>
        <p:txBody>
          <a:bodyPr wrap="square" lIns="0" tIns="0" rIns="0" bIns="0" rtlCol="0" anchor="ctr"/>
          <a:lstStyle/>
          <a:p>
            <a:pPr indent="0" marL="0">
              <a:buNone/>
            </a:pPr>
            <a:r>
              <a:rPr lang="en-US" sz="1200" b="1" dirty="0">
                <a:solidFill>
                  <a:schemeClr val="tx2"/>
                </a:solidFill>
              </a:rPr>
              <a:t>JavaScript / TypeScript</a:t>
            </a:r>
            <a:endParaRPr lang="en-US" sz="1200" dirty="0"/>
          </a:p>
        </p:txBody>
      </p:sp>
      <p:sp>
        <p:nvSpPr>
          <p:cNvPr id="12" name="text-310"/>
          <p:cNvSpPr txBox="1"/>
          <p:nvPr/>
        </p:nvSpPr>
        <p:spPr>
          <a:xfrm>
            <a:off x="2249424" y="2011680"/>
            <a:ext cx="1298448" cy="640080"/>
          </a:xfrm>
          <a:prstGeom prst="rect">
            <a:avLst/>
          </a:prstGeom>
          <a:noFill/>
          <a:ln/>
        </p:spPr>
        <p:txBody>
          <a:bodyPr wrap="square" lIns="0" tIns="0" rIns="0" bIns="0" rtlCol="0" anchor="t"/>
          <a:lstStyle/>
          <a:p>
            <a:pPr indent="0" marL="0">
              <a:buNone/>
            </a:pPr>
            <a:r>
              <a:rPr lang="en-US" sz="1000" dirty="0">
                <a:solidFill>
                  <a:schemeClr val="tx1"/>
                </a:solidFill>
              </a:rPr>
              <a:t>Frontend development with React / Next.js</a:t>
            </a:r>
            <a:endParaRPr lang="en-US" sz="1000" dirty="0"/>
          </a:p>
        </p:txBody>
      </p:sp>
      <p:sp>
        <p:nvSpPr>
          <p:cNvPr id="13" name="box-311"/>
          <p:cNvSpPr/>
          <p:nvPr/>
        </p:nvSpPr>
        <p:spPr>
          <a:xfrm>
            <a:off x="3822192" y="1005840"/>
            <a:ext cx="1499616" cy="1691640"/>
          </a:xfrm>
          <a:prstGeom prst="roundRect">
            <a:avLst>
              <a:gd name="adj" fmla="val 4878"/>
            </a:avLst>
          </a:prstGeom>
          <a:solidFill>
            <a:schemeClr val="bg2"/>
          </a:solidFill>
          <a:ln/>
        </p:spPr>
      </p:sp>
      <p:sp>
        <p:nvSpPr>
          <p:cNvPr id="14" name="iconbg-312"/>
          <p:cNvSpPr/>
          <p:nvPr/>
        </p:nvSpPr>
        <p:spPr>
          <a:xfrm>
            <a:off x="3931920" y="1115568"/>
            <a:ext cx="438912" cy="438912"/>
          </a:xfrm>
          <a:prstGeom prst="ellipse">
            <a:avLst/>
          </a:prstGeom>
          <a:solidFill>
            <a:schemeClr val="accent1"/>
          </a:solidFill>
          <a:ln/>
        </p:spPr>
      </p:sp>
      <p:pic>
        <p:nvPicPr>
          <p:cNvPr id="15" name="icon-313" descr="preencoded.png">    </p:cNvPr>
          <p:cNvPicPr>
            <a:picLocks noChangeAspect="1"/>
          </p:cNvPicPr>
          <p:nvPr/>
        </p:nvPicPr>
        <p:blipFill>
          <a:blip r:embed="rId3"/>
          <a:stretch>
            <a:fillRect/>
          </a:stretch>
        </p:blipFill>
        <p:spPr>
          <a:xfrm>
            <a:off x="4028481" y="1212129"/>
            <a:ext cx="245791" cy="245791"/>
          </a:xfrm>
          <a:prstGeom prst="rect">
            <a:avLst/>
          </a:prstGeom>
        </p:spPr>
      </p:pic>
      <p:sp>
        <p:nvSpPr>
          <p:cNvPr id="16" name="text-314"/>
          <p:cNvSpPr txBox="1"/>
          <p:nvPr/>
        </p:nvSpPr>
        <p:spPr>
          <a:xfrm>
            <a:off x="3931920" y="1609344"/>
            <a:ext cx="1298448" cy="384048"/>
          </a:xfrm>
          <a:prstGeom prst="rect">
            <a:avLst/>
          </a:prstGeom>
          <a:noFill/>
          <a:ln/>
        </p:spPr>
        <p:txBody>
          <a:bodyPr wrap="square" lIns="0" tIns="0" rIns="0" bIns="0" rtlCol="0" anchor="ctr"/>
          <a:lstStyle/>
          <a:p>
            <a:pPr indent="0" marL="0">
              <a:buNone/>
            </a:pPr>
            <a:r>
              <a:rPr lang="en-US" sz="1200" b="1" dirty="0">
                <a:solidFill>
                  <a:schemeClr val="tx2"/>
                </a:solidFill>
              </a:rPr>
              <a:t>React / Next.js</a:t>
            </a:r>
            <a:endParaRPr lang="en-US" sz="1200" dirty="0"/>
          </a:p>
        </p:txBody>
      </p:sp>
      <p:sp>
        <p:nvSpPr>
          <p:cNvPr id="17" name="text-315"/>
          <p:cNvSpPr txBox="1"/>
          <p:nvPr/>
        </p:nvSpPr>
        <p:spPr>
          <a:xfrm>
            <a:off x="3931920" y="2011680"/>
            <a:ext cx="1298448" cy="640080"/>
          </a:xfrm>
          <a:prstGeom prst="rect">
            <a:avLst/>
          </a:prstGeom>
          <a:noFill/>
          <a:ln/>
        </p:spPr>
        <p:txBody>
          <a:bodyPr wrap="square" lIns="0" tIns="0" rIns="0" bIns="0" rtlCol="0" anchor="t"/>
          <a:lstStyle/>
          <a:p>
            <a:pPr indent="0" marL="0">
              <a:buNone/>
            </a:pPr>
            <a:r>
              <a:rPr lang="en-US" sz="1000" dirty="0">
                <a:solidFill>
                  <a:schemeClr val="tx1"/>
                </a:solidFill>
              </a:rPr>
              <a:t>Responsive citizen, lawyer and admin portals</a:t>
            </a:r>
            <a:endParaRPr lang="en-US" sz="1000" dirty="0"/>
          </a:p>
        </p:txBody>
      </p:sp>
      <p:sp>
        <p:nvSpPr>
          <p:cNvPr id="18" name="box-316"/>
          <p:cNvSpPr/>
          <p:nvPr/>
        </p:nvSpPr>
        <p:spPr>
          <a:xfrm>
            <a:off x="5504688" y="1005840"/>
            <a:ext cx="1499616" cy="1691640"/>
          </a:xfrm>
          <a:prstGeom prst="roundRect">
            <a:avLst>
              <a:gd name="adj" fmla="val 4878"/>
            </a:avLst>
          </a:prstGeom>
          <a:solidFill>
            <a:schemeClr val="bg2"/>
          </a:solidFill>
          <a:ln/>
        </p:spPr>
      </p:sp>
      <p:sp>
        <p:nvSpPr>
          <p:cNvPr id="19" name="iconbg-317"/>
          <p:cNvSpPr/>
          <p:nvPr/>
        </p:nvSpPr>
        <p:spPr>
          <a:xfrm>
            <a:off x="5614416" y="1115568"/>
            <a:ext cx="438912" cy="438912"/>
          </a:xfrm>
          <a:prstGeom prst="ellipse">
            <a:avLst/>
          </a:prstGeom>
          <a:solidFill>
            <a:schemeClr val="accent1"/>
          </a:solidFill>
          <a:ln/>
        </p:spPr>
      </p:sp>
      <p:pic>
        <p:nvPicPr>
          <p:cNvPr id="20" name="icon-318" descr="preencoded.png">    </p:cNvPr>
          <p:cNvPicPr>
            <a:picLocks noChangeAspect="1"/>
          </p:cNvPicPr>
          <p:nvPr/>
        </p:nvPicPr>
        <p:blipFill>
          <a:blip r:embed="rId4"/>
          <a:stretch>
            <a:fillRect/>
          </a:stretch>
        </p:blipFill>
        <p:spPr>
          <a:xfrm>
            <a:off x="5710977" y="1212129"/>
            <a:ext cx="245791" cy="245791"/>
          </a:xfrm>
          <a:prstGeom prst="rect">
            <a:avLst/>
          </a:prstGeom>
        </p:spPr>
      </p:pic>
      <p:sp>
        <p:nvSpPr>
          <p:cNvPr id="21" name="text-319"/>
          <p:cNvSpPr txBox="1"/>
          <p:nvPr/>
        </p:nvSpPr>
        <p:spPr>
          <a:xfrm>
            <a:off x="5614416" y="1609344"/>
            <a:ext cx="1298448" cy="384048"/>
          </a:xfrm>
          <a:prstGeom prst="rect">
            <a:avLst/>
          </a:prstGeom>
          <a:noFill/>
          <a:ln/>
        </p:spPr>
        <p:txBody>
          <a:bodyPr wrap="square" lIns="0" tIns="0" rIns="0" bIns="0" rtlCol="0" anchor="ctr"/>
          <a:lstStyle/>
          <a:p>
            <a:pPr indent="0" marL="0">
              <a:buNone/>
            </a:pPr>
            <a:r>
              <a:rPr lang="en-US" sz="1200" b="1" dirty="0">
                <a:solidFill>
                  <a:schemeClr val="tx2"/>
                </a:solidFill>
              </a:rPr>
              <a:t>FastAPI</a:t>
            </a:r>
            <a:endParaRPr lang="en-US" sz="1200" dirty="0"/>
          </a:p>
        </p:txBody>
      </p:sp>
      <p:sp>
        <p:nvSpPr>
          <p:cNvPr id="22" name="text-320"/>
          <p:cNvSpPr txBox="1"/>
          <p:nvPr/>
        </p:nvSpPr>
        <p:spPr>
          <a:xfrm>
            <a:off x="5614416" y="2011680"/>
            <a:ext cx="1298448" cy="640080"/>
          </a:xfrm>
          <a:prstGeom prst="rect">
            <a:avLst/>
          </a:prstGeom>
          <a:noFill/>
          <a:ln/>
        </p:spPr>
        <p:txBody>
          <a:bodyPr wrap="square" lIns="0" tIns="0" rIns="0" bIns="0" rtlCol="0" anchor="t"/>
          <a:lstStyle/>
          <a:p>
            <a:pPr indent="0" marL="0">
              <a:buNone/>
            </a:pPr>
            <a:r>
              <a:rPr lang="en-US" sz="1000" dirty="0">
                <a:solidFill>
                  <a:schemeClr val="tx1"/>
                </a:solidFill>
              </a:rPr>
              <a:t>Fast REST APIs; works directly with the AI code</a:t>
            </a:r>
            <a:endParaRPr lang="en-US" sz="1000" dirty="0"/>
          </a:p>
        </p:txBody>
      </p:sp>
      <p:sp>
        <p:nvSpPr>
          <p:cNvPr id="23" name="box-321"/>
          <p:cNvSpPr/>
          <p:nvPr/>
        </p:nvSpPr>
        <p:spPr>
          <a:xfrm>
            <a:off x="7187184" y="1005840"/>
            <a:ext cx="1499616" cy="1691640"/>
          </a:xfrm>
          <a:prstGeom prst="roundRect">
            <a:avLst>
              <a:gd name="adj" fmla="val 4878"/>
            </a:avLst>
          </a:prstGeom>
          <a:solidFill>
            <a:schemeClr val="bg2"/>
          </a:solidFill>
          <a:ln/>
        </p:spPr>
      </p:sp>
      <p:sp>
        <p:nvSpPr>
          <p:cNvPr id="24" name="iconbg-322"/>
          <p:cNvSpPr/>
          <p:nvPr/>
        </p:nvSpPr>
        <p:spPr>
          <a:xfrm>
            <a:off x="7296912" y="1115568"/>
            <a:ext cx="438912" cy="438912"/>
          </a:xfrm>
          <a:prstGeom prst="ellipse">
            <a:avLst/>
          </a:prstGeom>
          <a:solidFill>
            <a:schemeClr val="accent1"/>
          </a:solidFill>
          <a:ln/>
        </p:spPr>
      </p:sp>
      <p:pic>
        <p:nvPicPr>
          <p:cNvPr id="25" name="icon-323" descr="preencoded.png">    </p:cNvPr>
          <p:cNvPicPr>
            <a:picLocks noChangeAspect="1"/>
          </p:cNvPicPr>
          <p:nvPr/>
        </p:nvPicPr>
        <p:blipFill>
          <a:blip r:embed="rId5"/>
          <a:stretch>
            <a:fillRect/>
          </a:stretch>
        </p:blipFill>
        <p:spPr>
          <a:xfrm>
            <a:off x="7393473" y="1212129"/>
            <a:ext cx="245791" cy="245791"/>
          </a:xfrm>
          <a:prstGeom prst="rect">
            <a:avLst/>
          </a:prstGeom>
        </p:spPr>
      </p:pic>
      <p:sp>
        <p:nvSpPr>
          <p:cNvPr id="26" name="text-324"/>
          <p:cNvSpPr txBox="1"/>
          <p:nvPr/>
        </p:nvSpPr>
        <p:spPr>
          <a:xfrm>
            <a:off x="7296912" y="1609344"/>
            <a:ext cx="1298448" cy="384048"/>
          </a:xfrm>
          <a:prstGeom prst="rect">
            <a:avLst/>
          </a:prstGeom>
          <a:noFill/>
          <a:ln/>
        </p:spPr>
        <p:txBody>
          <a:bodyPr wrap="square" lIns="0" tIns="0" rIns="0" bIns="0" rtlCol="0" anchor="ctr"/>
          <a:lstStyle/>
          <a:p>
            <a:pPr indent="0" marL="0">
              <a:buNone/>
            </a:pPr>
            <a:r>
              <a:rPr lang="en-US" sz="1200" b="1" dirty="0">
                <a:solidFill>
                  <a:schemeClr val="tx2"/>
                </a:solidFill>
              </a:rPr>
              <a:t>MongoDB</a:t>
            </a:r>
            <a:endParaRPr lang="en-US" sz="1200" dirty="0"/>
          </a:p>
        </p:txBody>
      </p:sp>
      <p:sp>
        <p:nvSpPr>
          <p:cNvPr id="27" name="text-325"/>
          <p:cNvSpPr txBox="1"/>
          <p:nvPr/>
        </p:nvSpPr>
        <p:spPr>
          <a:xfrm>
            <a:off x="7296912" y="2011680"/>
            <a:ext cx="1298448" cy="640080"/>
          </a:xfrm>
          <a:prstGeom prst="rect">
            <a:avLst/>
          </a:prstGeom>
          <a:noFill/>
          <a:ln/>
        </p:spPr>
        <p:txBody>
          <a:bodyPr wrap="square" lIns="0" tIns="0" rIns="0" bIns="0" rtlCol="0" anchor="t"/>
          <a:lstStyle/>
          <a:p>
            <a:pPr indent="0" marL="0">
              <a:buNone/>
            </a:pPr>
            <a:r>
              <a:rPr lang="en-US" sz="1000" dirty="0">
                <a:solidFill>
                  <a:schemeClr val="tx1"/>
                </a:solidFill>
              </a:rPr>
              <a:t>Flexible documents for users, profiles and cases</a:t>
            </a:r>
            <a:endParaRPr lang="en-US" sz="1000" dirty="0"/>
          </a:p>
        </p:txBody>
      </p:sp>
      <p:sp>
        <p:nvSpPr>
          <p:cNvPr id="28" name="box-326"/>
          <p:cNvSpPr/>
          <p:nvPr/>
        </p:nvSpPr>
        <p:spPr>
          <a:xfrm>
            <a:off x="457200" y="2834640"/>
            <a:ext cx="1499616" cy="1691640"/>
          </a:xfrm>
          <a:prstGeom prst="roundRect">
            <a:avLst>
              <a:gd name="adj" fmla="val 4878"/>
            </a:avLst>
          </a:prstGeom>
          <a:solidFill>
            <a:schemeClr val="tx2"/>
          </a:solidFill>
          <a:ln/>
        </p:spPr>
      </p:sp>
      <p:sp>
        <p:nvSpPr>
          <p:cNvPr id="29" name="iconbg-327"/>
          <p:cNvSpPr/>
          <p:nvPr/>
        </p:nvSpPr>
        <p:spPr>
          <a:xfrm>
            <a:off x="566928" y="2944368"/>
            <a:ext cx="438912" cy="438912"/>
          </a:xfrm>
          <a:prstGeom prst="ellipse">
            <a:avLst/>
          </a:prstGeom>
          <a:solidFill>
            <a:schemeClr val="accent2"/>
          </a:solidFill>
          <a:ln/>
        </p:spPr>
      </p:sp>
      <p:pic>
        <p:nvPicPr>
          <p:cNvPr id="30" name="icon-328" descr="preencoded.png">    </p:cNvPr>
          <p:cNvPicPr>
            <a:picLocks noChangeAspect="1"/>
          </p:cNvPicPr>
          <p:nvPr/>
        </p:nvPicPr>
        <p:blipFill>
          <a:blip r:embed="rId6"/>
          <a:stretch>
            <a:fillRect/>
          </a:stretch>
        </p:blipFill>
        <p:spPr>
          <a:xfrm>
            <a:off x="663489" y="3040929"/>
            <a:ext cx="245791" cy="245791"/>
          </a:xfrm>
          <a:prstGeom prst="rect">
            <a:avLst/>
          </a:prstGeom>
        </p:spPr>
      </p:pic>
      <p:sp>
        <p:nvSpPr>
          <p:cNvPr id="31" name="text-329"/>
          <p:cNvSpPr txBox="1"/>
          <p:nvPr/>
        </p:nvSpPr>
        <p:spPr>
          <a:xfrm>
            <a:off x="566928" y="3438144"/>
            <a:ext cx="1298448" cy="384048"/>
          </a:xfrm>
          <a:prstGeom prst="rect">
            <a:avLst/>
          </a:prstGeom>
          <a:noFill/>
          <a:ln/>
        </p:spPr>
        <p:txBody>
          <a:bodyPr wrap="square" lIns="0" tIns="0" rIns="0" bIns="0" rtlCol="0" anchor="ctr"/>
          <a:lstStyle/>
          <a:p>
            <a:pPr indent="0" marL="0">
              <a:buNone/>
            </a:pPr>
            <a:r>
              <a:rPr lang="en-US" sz="1200" b="1" dirty="0">
                <a:solidFill>
                  <a:schemeClr val="bg1"/>
                </a:solidFill>
              </a:rPr>
              <a:t>FAISS / Chroma / Qdrant</a:t>
            </a:r>
            <a:endParaRPr lang="en-US" sz="1200" dirty="0"/>
          </a:p>
        </p:txBody>
      </p:sp>
      <p:sp>
        <p:nvSpPr>
          <p:cNvPr id="32" name="text-330"/>
          <p:cNvSpPr txBox="1"/>
          <p:nvPr/>
        </p:nvSpPr>
        <p:spPr>
          <a:xfrm>
            <a:off x="566928" y="3840480"/>
            <a:ext cx="1298448" cy="640080"/>
          </a:xfrm>
          <a:prstGeom prst="rect">
            <a:avLst/>
          </a:prstGeom>
          <a:noFill/>
          <a:ln/>
        </p:spPr>
        <p:txBody>
          <a:bodyPr wrap="square" lIns="0" tIns="0" rIns="0" bIns="0" rtlCol="0" anchor="t"/>
          <a:lstStyle/>
          <a:p>
            <a:pPr indent="0" marL="0">
              <a:buNone/>
            </a:pPr>
            <a:r>
              <a:rPr lang="en-US" sz="1000" dirty="0">
                <a:solidFill>
                  <a:schemeClr val="bg1"/>
                </a:solidFill>
              </a:rPr>
              <a:t>Vector DB for similarity search; final pick after testing</a:t>
            </a:r>
            <a:endParaRPr lang="en-US" sz="1000" dirty="0"/>
          </a:p>
        </p:txBody>
      </p:sp>
      <p:sp>
        <p:nvSpPr>
          <p:cNvPr id="33" name="box-331"/>
          <p:cNvSpPr/>
          <p:nvPr/>
        </p:nvSpPr>
        <p:spPr>
          <a:xfrm>
            <a:off x="2139696" y="2834640"/>
            <a:ext cx="1499616" cy="1691640"/>
          </a:xfrm>
          <a:prstGeom prst="roundRect">
            <a:avLst>
              <a:gd name="adj" fmla="val 4878"/>
            </a:avLst>
          </a:prstGeom>
          <a:solidFill>
            <a:schemeClr val="tx2"/>
          </a:solidFill>
          <a:ln/>
        </p:spPr>
      </p:sp>
      <p:sp>
        <p:nvSpPr>
          <p:cNvPr id="34" name="iconbg-332"/>
          <p:cNvSpPr/>
          <p:nvPr/>
        </p:nvSpPr>
        <p:spPr>
          <a:xfrm>
            <a:off x="2249424" y="2944368"/>
            <a:ext cx="438912" cy="438912"/>
          </a:xfrm>
          <a:prstGeom prst="ellipse">
            <a:avLst/>
          </a:prstGeom>
          <a:solidFill>
            <a:schemeClr val="accent2"/>
          </a:solidFill>
          <a:ln/>
        </p:spPr>
      </p:sp>
      <p:pic>
        <p:nvPicPr>
          <p:cNvPr id="35" name="icon-333" descr="preencoded.png">    </p:cNvPr>
          <p:cNvPicPr>
            <a:picLocks noChangeAspect="1"/>
          </p:cNvPicPr>
          <p:nvPr/>
        </p:nvPicPr>
        <p:blipFill>
          <a:blip r:embed="rId7"/>
          <a:stretch>
            <a:fillRect/>
          </a:stretch>
        </p:blipFill>
        <p:spPr>
          <a:xfrm>
            <a:off x="2345985" y="3040929"/>
            <a:ext cx="245791" cy="245791"/>
          </a:xfrm>
          <a:prstGeom prst="rect">
            <a:avLst/>
          </a:prstGeom>
        </p:spPr>
      </p:pic>
      <p:sp>
        <p:nvSpPr>
          <p:cNvPr id="36" name="text-334"/>
          <p:cNvSpPr txBox="1"/>
          <p:nvPr/>
        </p:nvSpPr>
        <p:spPr>
          <a:xfrm>
            <a:off x="2249424" y="3438144"/>
            <a:ext cx="1298448" cy="384048"/>
          </a:xfrm>
          <a:prstGeom prst="rect">
            <a:avLst/>
          </a:prstGeom>
          <a:noFill/>
          <a:ln/>
        </p:spPr>
        <p:txBody>
          <a:bodyPr wrap="square" lIns="0" tIns="0" rIns="0" bIns="0" rtlCol="0" anchor="ctr"/>
          <a:lstStyle/>
          <a:p>
            <a:pPr indent="0" marL="0">
              <a:buNone/>
            </a:pPr>
            <a:r>
              <a:rPr lang="en-US" sz="1200" b="1" dirty="0">
                <a:solidFill>
                  <a:schemeClr val="bg1"/>
                </a:solidFill>
              </a:rPr>
              <a:t>Sentence Transformers</a:t>
            </a:r>
            <a:endParaRPr lang="en-US" sz="1200" dirty="0"/>
          </a:p>
        </p:txBody>
      </p:sp>
      <p:sp>
        <p:nvSpPr>
          <p:cNvPr id="37" name="text-335"/>
          <p:cNvSpPr txBox="1"/>
          <p:nvPr/>
        </p:nvSpPr>
        <p:spPr>
          <a:xfrm>
            <a:off x="2249424" y="3840480"/>
            <a:ext cx="1298448" cy="640080"/>
          </a:xfrm>
          <a:prstGeom prst="rect">
            <a:avLst/>
          </a:prstGeom>
          <a:noFill/>
          <a:ln/>
        </p:spPr>
        <p:txBody>
          <a:bodyPr wrap="square" lIns="0" tIns="0" rIns="0" bIns="0" rtlCol="0" anchor="t"/>
          <a:lstStyle/>
          <a:p>
            <a:pPr indent="0" marL="0">
              <a:buNone/>
            </a:pPr>
            <a:r>
              <a:rPr lang="en-US" sz="1000" dirty="0">
                <a:solidFill>
                  <a:schemeClr val="bg1"/>
                </a:solidFill>
              </a:rPr>
              <a:t>Open-source embeddings for text and queries</a:t>
            </a:r>
            <a:endParaRPr lang="en-US" sz="1000" dirty="0"/>
          </a:p>
        </p:txBody>
      </p:sp>
      <p:sp>
        <p:nvSpPr>
          <p:cNvPr id="38" name="box-336"/>
          <p:cNvSpPr/>
          <p:nvPr/>
        </p:nvSpPr>
        <p:spPr>
          <a:xfrm>
            <a:off x="3822192" y="2834640"/>
            <a:ext cx="1499616" cy="1691640"/>
          </a:xfrm>
          <a:prstGeom prst="roundRect">
            <a:avLst>
              <a:gd name="adj" fmla="val 4878"/>
            </a:avLst>
          </a:prstGeom>
          <a:solidFill>
            <a:schemeClr val="tx2"/>
          </a:solidFill>
          <a:ln/>
        </p:spPr>
      </p:sp>
      <p:sp>
        <p:nvSpPr>
          <p:cNvPr id="39" name="iconbg-337"/>
          <p:cNvSpPr/>
          <p:nvPr/>
        </p:nvSpPr>
        <p:spPr>
          <a:xfrm>
            <a:off x="3931920" y="2944368"/>
            <a:ext cx="438912" cy="438912"/>
          </a:xfrm>
          <a:prstGeom prst="ellipse">
            <a:avLst/>
          </a:prstGeom>
          <a:solidFill>
            <a:schemeClr val="accent2"/>
          </a:solidFill>
          <a:ln/>
        </p:spPr>
      </p:sp>
      <p:pic>
        <p:nvPicPr>
          <p:cNvPr id="40" name="icon-338" descr="preencoded.png">    </p:cNvPr>
          <p:cNvPicPr>
            <a:picLocks noChangeAspect="1"/>
          </p:cNvPicPr>
          <p:nvPr/>
        </p:nvPicPr>
        <p:blipFill>
          <a:blip r:embed="rId8"/>
          <a:stretch>
            <a:fillRect/>
          </a:stretch>
        </p:blipFill>
        <p:spPr>
          <a:xfrm>
            <a:off x="4028481" y="3040929"/>
            <a:ext cx="245791" cy="245791"/>
          </a:xfrm>
          <a:prstGeom prst="rect">
            <a:avLst/>
          </a:prstGeom>
        </p:spPr>
      </p:pic>
      <p:sp>
        <p:nvSpPr>
          <p:cNvPr id="41" name="text-339"/>
          <p:cNvSpPr txBox="1"/>
          <p:nvPr/>
        </p:nvSpPr>
        <p:spPr>
          <a:xfrm>
            <a:off x="3931920" y="3438144"/>
            <a:ext cx="1298448" cy="384048"/>
          </a:xfrm>
          <a:prstGeom prst="rect">
            <a:avLst/>
          </a:prstGeom>
          <a:noFill/>
          <a:ln/>
        </p:spPr>
        <p:txBody>
          <a:bodyPr wrap="square" lIns="0" tIns="0" rIns="0" bIns="0" rtlCol="0" anchor="ctr"/>
          <a:lstStyle/>
          <a:p>
            <a:pPr indent="0" marL="0">
              <a:buNone/>
            </a:pPr>
            <a:r>
              <a:rPr lang="en-US" sz="1200" b="1" dirty="0">
                <a:solidFill>
                  <a:schemeClr val="bg1"/>
                </a:solidFill>
              </a:rPr>
              <a:t>Open-source LLM</a:t>
            </a:r>
            <a:endParaRPr lang="en-US" sz="1200" dirty="0"/>
          </a:p>
        </p:txBody>
      </p:sp>
      <p:sp>
        <p:nvSpPr>
          <p:cNvPr id="42" name="text-340"/>
          <p:cNvSpPr txBox="1"/>
          <p:nvPr/>
        </p:nvSpPr>
        <p:spPr>
          <a:xfrm>
            <a:off x="3931920" y="3840480"/>
            <a:ext cx="1298448" cy="640080"/>
          </a:xfrm>
          <a:prstGeom prst="rect">
            <a:avLst/>
          </a:prstGeom>
          <a:noFill/>
          <a:ln/>
        </p:spPr>
        <p:txBody>
          <a:bodyPr wrap="square" lIns="0" tIns="0" rIns="0" bIns="0" rtlCol="0" anchor="t"/>
          <a:lstStyle/>
          <a:p>
            <a:pPr indent="0" marL="0">
              <a:buNone/>
            </a:pPr>
            <a:r>
              <a:rPr lang="en-US" sz="1000" dirty="0">
                <a:solidFill>
                  <a:schemeClr val="bg1"/>
                </a:solidFill>
              </a:rPr>
              <a:t>Grounded generation; runs without a paid service</a:t>
            </a:r>
            <a:endParaRPr lang="en-US" sz="1000" dirty="0"/>
          </a:p>
        </p:txBody>
      </p:sp>
      <p:sp>
        <p:nvSpPr>
          <p:cNvPr id="43" name="box-341"/>
          <p:cNvSpPr/>
          <p:nvPr/>
        </p:nvSpPr>
        <p:spPr>
          <a:xfrm>
            <a:off x="5504688" y="2834640"/>
            <a:ext cx="1499616" cy="1691640"/>
          </a:xfrm>
          <a:prstGeom prst="roundRect">
            <a:avLst>
              <a:gd name="adj" fmla="val 4878"/>
            </a:avLst>
          </a:prstGeom>
          <a:solidFill>
            <a:schemeClr val="bg2"/>
          </a:solidFill>
          <a:ln/>
        </p:spPr>
      </p:sp>
      <p:sp>
        <p:nvSpPr>
          <p:cNvPr id="44" name="iconbg-342"/>
          <p:cNvSpPr/>
          <p:nvPr/>
        </p:nvSpPr>
        <p:spPr>
          <a:xfrm>
            <a:off x="5614416" y="2944368"/>
            <a:ext cx="438912" cy="438912"/>
          </a:xfrm>
          <a:prstGeom prst="ellipse">
            <a:avLst/>
          </a:prstGeom>
          <a:solidFill>
            <a:schemeClr val="accent1"/>
          </a:solidFill>
          <a:ln/>
        </p:spPr>
      </p:sp>
      <p:pic>
        <p:nvPicPr>
          <p:cNvPr id="45" name="icon-343" descr="preencoded.png">    </p:cNvPr>
          <p:cNvPicPr>
            <a:picLocks noChangeAspect="1"/>
          </p:cNvPicPr>
          <p:nvPr/>
        </p:nvPicPr>
        <p:blipFill>
          <a:blip r:embed="rId9"/>
          <a:stretch>
            <a:fillRect/>
          </a:stretch>
        </p:blipFill>
        <p:spPr>
          <a:xfrm>
            <a:off x="5710977" y="3040929"/>
            <a:ext cx="245791" cy="245791"/>
          </a:xfrm>
          <a:prstGeom prst="rect">
            <a:avLst/>
          </a:prstGeom>
        </p:spPr>
      </p:pic>
      <p:sp>
        <p:nvSpPr>
          <p:cNvPr id="46" name="text-344"/>
          <p:cNvSpPr txBox="1"/>
          <p:nvPr/>
        </p:nvSpPr>
        <p:spPr>
          <a:xfrm>
            <a:off x="5614416" y="3438144"/>
            <a:ext cx="1298448" cy="384048"/>
          </a:xfrm>
          <a:prstGeom prst="rect">
            <a:avLst/>
          </a:prstGeom>
          <a:noFill/>
          <a:ln/>
        </p:spPr>
        <p:txBody>
          <a:bodyPr wrap="square" lIns="0" tIns="0" rIns="0" bIns="0" rtlCol="0" anchor="ctr"/>
          <a:lstStyle/>
          <a:p>
            <a:pPr indent="0" marL="0">
              <a:buNone/>
            </a:pPr>
            <a:r>
              <a:rPr lang="en-US" sz="1200" b="1" dirty="0">
                <a:solidFill>
                  <a:schemeClr val="tx2"/>
                </a:solidFill>
              </a:rPr>
              <a:t>PyMuPDF</a:t>
            </a:r>
            <a:endParaRPr lang="en-US" sz="1200" dirty="0"/>
          </a:p>
        </p:txBody>
      </p:sp>
      <p:sp>
        <p:nvSpPr>
          <p:cNvPr id="47" name="text-345"/>
          <p:cNvSpPr txBox="1"/>
          <p:nvPr/>
        </p:nvSpPr>
        <p:spPr>
          <a:xfrm>
            <a:off x="5614416" y="3840480"/>
            <a:ext cx="1298448" cy="640080"/>
          </a:xfrm>
          <a:prstGeom prst="rect">
            <a:avLst/>
          </a:prstGeom>
          <a:noFill/>
          <a:ln/>
        </p:spPr>
        <p:txBody>
          <a:bodyPr wrap="square" lIns="0" tIns="0" rIns="0" bIns="0" rtlCol="0" anchor="t"/>
          <a:lstStyle/>
          <a:p>
            <a:pPr indent="0" marL="0">
              <a:buNone/>
            </a:pPr>
            <a:r>
              <a:rPr lang="en-US" sz="1000" dirty="0">
                <a:solidFill>
                  <a:schemeClr val="tx1"/>
                </a:solidFill>
              </a:rPr>
              <a:t>Fast, practical PDF text and layout extraction</a:t>
            </a:r>
            <a:endParaRPr lang="en-US" sz="1000" dirty="0"/>
          </a:p>
        </p:txBody>
      </p:sp>
      <p:sp>
        <p:nvSpPr>
          <p:cNvPr id="48" name="box-346"/>
          <p:cNvSpPr/>
          <p:nvPr/>
        </p:nvSpPr>
        <p:spPr>
          <a:xfrm>
            <a:off x="7187184" y="2834640"/>
            <a:ext cx="1499616" cy="1691640"/>
          </a:xfrm>
          <a:prstGeom prst="roundRect">
            <a:avLst>
              <a:gd name="adj" fmla="val 4878"/>
            </a:avLst>
          </a:prstGeom>
          <a:solidFill>
            <a:schemeClr val="bg2"/>
          </a:solidFill>
          <a:ln/>
        </p:spPr>
      </p:sp>
      <p:sp>
        <p:nvSpPr>
          <p:cNvPr id="49" name="iconbg-347"/>
          <p:cNvSpPr/>
          <p:nvPr/>
        </p:nvSpPr>
        <p:spPr>
          <a:xfrm>
            <a:off x="7296912" y="2944368"/>
            <a:ext cx="438912" cy="438912"/>
          </a:xfrm>
          <a:prstGeom prst="ellipse">
            <a:avLst/>
          </a:prstGeom>
          <a:solidFill>
            <a:schemeClr val="accent1"/>
          </a:solidFill>
          <a:ln/>
        </p:spPr>
      </p:sp>
      <p:pic>
        <p:nvPicPr>
          <p:cNvPr id="50" name="icon-348" descr="preencoded.png">    </p:cNvPr>
          <p:cNvPicPr>
            <a:picLocks noChangeAspect="1"/>
          </p:cNvPicPr>
          <p:nvPr/>
        </p:nvPicPr>
        <p:blipFill>
          <a:blip r:embed="rId10"/>
          <a:stretch>
            <a:fillRect/>
          </a:stretch>
        </p:blipFill>
        <p:spPr>
          <a:xfrm>
            <a:off x="7393473" y="3040929"/>
            <a:ext cx="245791" cy="245791"/>
          </a:xfrm>
          <a:prstGeom prst="rect">
            <a:avLst/>
          </a:prstGeom>
        </p:spPr>
      </p:pic>
      <p:sp>
        <p:nvSpPr>
          <p:cNvPr id="51" name="text-349"/>
          <p:cNvSpPr txBox="1"/>
          <p:nvPr/>
        </p:nvSpPr>
        <p:spPr>
          <a:xfrm>
            <a:off x="7296912" y="3438144"/>
            <a:ext cx="1298448" cy="384048"/>
          </a:xfrm>
          <a:prstGeom prst="rect">
            <a:avLst/>
          </a:prstGeom>
          <a:noFill/>
          <a:ln/>
        </p:spPr>
        <p:txBody>
          <a:bodyPr wrap="square" lIns="0" tIns="0" rIns="0" bIns="0" rtlCol="0" anchor="ctr"/>
          <a:lstStyle/>
          <a:p>
            <a:pPr indent="0" marL="0">
              <a:buNone/>
            </a:pPr>
            <a:r>
              <a:rPr lang="en-US" sz="1200" b="1" dirty="0">
                <a:solidFill>
                  <a:schemeClr val="tx2"/>
                </a:solidFill>
              </a:rPr>
              <a:t>OCR</a:t>
            </a:r>
            <a:endParaRPr lang="en-US" sz="1200" dirty="0"/>
          </a:p>
        </p:txBody>
      </p:sp>
      <p:sp>
        <p:nvSpPr>
          <p:cNvPr id="52" name="text-350"/>
          <p:cNvSpPr txBox="1"/>
          <p:nvPr/>
        </p:nvSpPr>
        <p:spPr>
          <a:xfrm>
            <a:off x="7296912" y="3840480"/>
            <a:ext cx="1298448" cy="640080"/>
          </a:xfrm>
          <a:prstGeom prst="rect">
            <a:avLst/>
          </a:prstGeom>
          <a:noFill/>
          <a:ln/>
        </p:spPr>
        <p:txBody>
          <a:bodyPr wrap="square" lIns="0" tIns="0" rIns="0" bIns="0" rtlCol="0" anchor="t"/>
          <a:lstStyle/>
          <a:p>
            <a:pPr indent="0" marL="0">
              <a:buNone/>
            </a:pPr>
            <a:r>
              <a:rPr lang="en-US" sz="1000" dirty="0">
                <a:solidFill>
                  <a:schemeClr val="tx1"/>
                </a:solidFill>
              </a:rPr>
              <a:t>Text from scanned legal documents and evidence images</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548640"/>
          </a:xfrm>
          <a:prstGeom prst="rect">
            <a:avLst/>
          </a:prstGeom>
          <a:noFill/>
          <a:ln/>
        </p:spPr>
        <p:txBody>
          <a:bodyPr wrap="square" lIns="0" tIns="0" rIns="0" bIns="0" rtlCol="0" anchor="ctr"/>
          <a:lstStyle/>
          <a:p>
            <a:pPr algn="l" indent="0" marL="0">
              <a:buNone/>
            </a:pPr>
            <a:r>
              <a:rPr lang="en-US" sz="2800" b="1" dirty="0">
                <a:solidFill>
                  <a:schemeClr val="tx2"/>
                </a:solidFill>
              </a:rPr>
              <a:t>Seven-Month Plan and Team</a:t>
            </a:r>
            <a:endParaRPr lang="en-US" sz="2800" dirty="0"/>
          </a:p>
        </p:txBody>
      </p:sp>
      <p:sp>
        <p:nvSpPr>
          <p:cNvPr id="3" name="text-351"/>
          <p:cNvSpPr txBox="1"/>
          <p:nvPr/>
        </p:nvSpPr>
        <p:spPr>
          <a:xfrm>
            <a:off x="3566160" y="960120"/>
            <a:ext cx="731520" cy="256032"/>
          </a:xfrm>
          <a:prstGeom prst="rect">
            <a:avLst/>
          </a:prstGeom>
          <a:noFill/>
          <a:ln/>
        </p:spPr>
        <p:txBody>
          <a:bodyPr wrap="square" lIns="0" tIns="0" rIns="0" bIns="0" rtlCol="0" anchor="ctr"/>
          <a:lstStyle/>
          <a:p>
            <a:pPr algn="ctr" indent="0" marL="0">
              <a:buNone/>
            </a:pPr>
            <a:r>
              <a:rPr lang="en-US" sz="1200" b="1" dirty="0">
                <a:solidFill>
                  <a:schemeClr val="tx2"/>
                </a:solidFill>
              </a:rPr>
              <a:t>M1</a:t>
            </a:r>
            <a:endParaRPr lang="en-US" sz="1200" dirty="0"/>
          </a:p>
        </p:txBody>
      </p:sp>
      <p:sp>
        <p:nvSpPr>
          <p:cNvPr id="4" name="text-352"/>
          <p:cNvSpPr txBox="1"/>
          <p:nvPr/>
        </p:nvSpPr>
        <p:spPr>
          <a:xfrm>
            <a:off x="4297680" y="960120"/>
            <a:ext cx="731520" cy="256032"/>
          </a:xfrm>
          <a:prstGeom prst="rect">
            <a:avLst/>
          </a:prstGeom>
          <a:noFill/>
          <a:ln/>
        </p:spPr>
        <p:txBody>
          <a:bodyPr wrap="square" lIns="0" tIns="0" rIns="0" bIns="0" rtlCol="0" anchor="ctr"/>
          <a:lstStyle/>
          <a:p>
            <a:pPr algn="ctr" indent="0" marL="0">
              <a:buNone/>
            </a:pPr>
            <a:r>
              <a:rPr lang="en-US" sz="1200" b="1" dirty="0">
                <a:solidFill>
                  <a:schemeClr val="tx2"/>
                </a:solidFill>
              </a:rPr>
              <a:t>M2</a:t>
            </a:r>
            <a:endParaRPr lang="en-US" sz="1200" dirty="0"/>
          </a:p>
        </p:txBody>
      </p:sp>
      <p:sp>
        <p:nvSpPr>
          <p:cNvPr id="5" name="text-353"/>
          <p:cNvSpPr txBox="1"/>
          <p:nvPr/>
        </p:nvSpPr>
        <p:spPr>
          <a:xfrm>
            <a:off x="5029200" y="960120"/>
            <a:ext cx="731520" cy="256032"/>
          </a:xfrm>
          <a:prstGeom prst="rect">
            <a:avLst/>
          </a:prstGeom>
          <a:noFill/>
          <a:ln/>
        </p:spPr>
        <p:txBody>
          <a:bodyPr wrap="square" lIns="0" tIns="0" rIns="0" bIns="0" rtlCol="0" anchor="ctr"/>
          <a:lstStyle/>
          <a:p>
            <a:pPr algn="ctr" indent="0" marL="0">
              <a:buNone/>
            </a:pPr>
            <a:r>
              <a:rPr lang="en-US" sz="1200" b="1" dirty="0">
                <a:solidFill>
                  <a:schemeClr val="tx2"/>
                </a:solidFill>
              </a:rPr>
              <a:t>M3</a:t>
            </a:r>
            <a:endParaRPr lang="en-US" sz="1200" dirty="0"/>
          </a:p>
        </p:txBody>
      </p:sp>
      <p:sp>
        <p:nvSpPr>
          <p:cNvPr id="6" name="text-354"/>
          <p:cNvSpPr txBox="1"/>
          <p:nvPr/>
        </p:nvSpPr>
        <p:spPr>
          <a:xfrm>
            <a:off x="5760720" y="960120"/>
            <a:ext cx="731520" cy="256032"/>
          </a:xfrm>
          <a:prstGeom prst="rect">
            <a:avLst/>
          </a:prstGeom>
          <a:noFill/>
          <a:ln/>
        </p:spPr>
        <p:txBody>
          <a:bodyPr wrap="square" lIns="0" tIns="0" rIns="0" bIns="0" rtlCol="0" anchor="ctr"/>
          <a:lstStyle/>
          <a:p>
            <a:pPr algn="ctr" indent="0" marL="0">
              <a:buNone/>
            </a:pPr>
            <a:r>
              <a:rPr lang="en-US" sz="1200" b="1" dirty="0">
                <a:solidFill>
                  <a:schemeClr val="tx2"/>
                </a:solidFill>
              </a:rPr>
              <a:t>M4</a:t>
            </a:r>
            <a:endParaRPr lang="en-US" sz="1200" dirty="0"/>
          </a:p>
        </p:txBody>
      </p:sp>
      <p:sp>
        <p:nvSpPr>
          <p:cNvPr id="7" name="text-355"/>
          <p:cNvSpPr txBox="1"/>
          <p:nvPr/>
        </p:nvSpPr>
        <p:spPr>
          <a:xfrm>
            <a:off x="6492240" y="960120"/>
            <a:ext cx="731520" cy="256032"/>
          </a:xfrm>
          <a:prstGeom prst="rect">
            <a:avLst/>
          </a:prstGeom>
          <a:noFill/>
          <a:ln/>
        </p:spPr>
        <p:txBody>
          <a:bodyPr wrap="square" lIns="0" tIns="0" rIns="0" bIns="0" rtlCol="0" anchor="ctr"/>
          <a:lstStyle/>
          <a:p>
            <a:pPr algn="ctr" indent="0" marL="0">
              <a:buNone/>
            </a:pPr>
            <a:r>
              <a:rPr lang="en-US" sz="1200" b="1" dirty="0">
                <a:solidFill>
                  <a:schemeClr val="tx2"/>
                </a:solidFill>
              </a:rPr>
              <a:t>M5</a:t>
            </a:r>
            <a:endParaRPr lang="en-US" sz="1200" dirty="0"/>
          </a:p>
        </p:txBody>
      </p:sp>
      <p:sp>
        <p:nvSpPr>
          <p:cNvPr id="8" name="text-356"/>
          <p:cNvSpPr txBox="1"/>
          <p:nvPr/>
        </p:nvSpPr>
        <p:spPr>
          <a:xfrm>
            <a:off x="7223760" y="960120"/>
            <a:ext cx="731520" cy="256032"/>
          </a:xfrm>
          <a:prstGeom prst="rect">
            <a:avLst/>
          </a:prstGeom>
          <a:noFill/>
          <a:ln/>
        </p:spPr>
        <p:txBody>
          <a:bodyPr wrap="square" lIns="0" tIns="0" rIns="0" bIns="0" rtlCol="0" anchor="ctr"/>
          <a:lstStyle/>
          <a:p>
            <a:pPr algn="ctr" indent="0" marL="0">
              <a:buNone/>
            </a:pPr>
            <a:r>
              <a:rPr lang="en-US" sz="1200" b="1" dirty="0">
                <a:solidFill>
                  <a:schemeClr val="tx2"/>
                </a:solidFill>
              </a:rPr>
              <a:t>M6</a:t>
            </a:r>
            <a:endParaRPr lang="en-US" sz="1200" dirty="0"/>
          </a:p>
        </p:txBody>
      </p:sp>
      <p:sp>
        <p:nvSpPr>
          <p:cNvPr id="9" name="text-357"/>
          <p:cNvSpPr txBox="1"/>
          <p:nvPr/>
        </p:nvSpPr>
        <p:spPr>
          <a:xfrm>
            <a:off x="7955280" y="960120"/>
            <a:ext cx="731520" cy="256032"/>
          </a:xfrm>
          <a:prstGeom prst="rect">
            <a:avLst/>
          </a:prstGeom>
          <a:noFill/>
          <a:ln/>
        </p:spPr>
        <p:txBody>
          <a:bodyPr wrap="square" lIns="0" tIns="0" rIns="0" bIns="0" rtlCol="0" anchor="ctr"/>
          <a:lstStyle/>
          <a:p>
            <a:pPr algn="ctr" indent="0" marL="0">
              <a:buNone/>
            </a:pPr>
            <a:r>
              <a:rPr lang="en-US" sz="1200" b="1" dirty="0">
                <a:solidFill>
                  <a:schemeClr val="tx2"/>
                </a:solidFill>
              </a:rPr>
              <a:t>M7</a:t>
            </a:r>
            <a:endParaRPr lang="en-US" sz="1200" dirty="0"/>
          </a:p>
        </p:txBody>
      </p:sp>
      <p:sp>
        <p:nvSpPr>
          <p:cNvPr id="10" name="rowbg-358"/>
          <p:cNvSpPr/>
          <p:nvPr/>
        </p:nvSpPr>
        <p:spPr>
          <a:xfrm>
            <a:off x="457200" y="1252728"/>
            <a:ext cx="8229600" cy="292608"/>
          </a:xfrm>
          <a:prstGeom prst="rect">
            <a:avLst/>
          </a:prstGeom>
          <a:solidFill>
            <a:schemeClr val="bg2"/>
          </a:solidFill>
          <a:ln/>
        </p:spPr>
      </p:sp>
      <p:sp>
        <p:nvSpPr>
          <p:cNvPr id="11" name="text-359"/>
          <p:cNvSpPr txBox="1"/>
          <p:nvPr/>
        </p:nvSpPr>
        <p:spPr>
          <a:xfrm>
            <a:off x="548640" y="1252728"/>
            <a:ext cx="3017520" cy="292608"/>
          </a:xfrm>
          <a:prstGeom prst="rect">
            <a:avLst/>
          </a:prstGeom>
          <a:noFill/>
          <a:ln/>
        </p:spPr>
        <p:txBody>
          <a:bodyPr wrap="square" lIns="0" tIns="0" rIns="0" bIns="0" rtlCol="0" anchor="ctr"/>
          <a:lstStyle/>
          <a:p>
            <a:pPr indent="0" marL="0">
              <a:buNone/>
            </a:pPr>
            <a:r>
              <a:rPr lang="en-US" sz="1100" dirty="0">
                <a:solidFill>
                  <a:schemeClr val="tx1"/>
                </a:solidFill>
              </a:rPr>
              <a:t>Legal research and corpus collection</a:t>
            </a:r>
            <a:endParaRPr lang="en-US" sz="1100" dirty="0"/>
          </a:p>
        </p:txBody>
      </p:sp>
      <p:sp>
        <p:nvSpPr>
          <p:cNvPr id="12" name="bar-360"/>
          <p:cNvSpPr/>
          <p:nvPr/>
        </p:nvSpPr>
        <p:spPr>
          <a:xfrm>
            <a:off x="3611880" y="1307592"/>
            <a:ext cx="1371600" cy="182880"/>
          </a:xfrm>
          <a:prstGeom prst="roundRect">
            <a:avLst>
              <a:gd name="adj" fmla="val 40000"/>
            </a:avLst>
          </a:prstGeom>
          <a:solidFill>
            <a:schemeClr val="accent1"/>
          </a:solidFill>
          <a:ln/>
        </p:spPr>
      </p:sp>
      <p:sp>
        <p:nvSpPr>
          <p:cNvPr id="13" name="text-361"/>
          <p:cNvSpPr txBox="1"/>
          <p:nvPr/>
        </p:nvSpPr>
        <p:spPr>
          <a:xfrm>
            <a:off x="548640" y="1545336"/>
            <a:ext cx="3017520" cy="292608"/>
          </a:xfrm>
          <a:prstGeom prst="rect">
            <a:avLst/>
          </a:prstGeom>
          <a:noFill/>
          <a:ln/>
        </p:spPr>
        <p:txBody>
          <a:bodyPr wrap="square" lIns="0" tIns="0" rIns="0" bIns="0" rtlCol="0" anchor="ctr"/>
          <a:lstStyle/>
          <a:p>
            <a:pPr indent="0" marL="0">
              <a:buNone/>
            </a:pPr>
            <a:r>
              <a:rPr lang="en-US" sz="1100" dirty="0">
                <a:solidFill>
                  <a:schemeClr val="tx1"/>
                </a:solidFill>
              </a:rPr>
              <a:t>Document processing and embeddings</a:t>
            </a:r>
            <a:endParaRPr lang="en-US" sz="1100" dirty="0"/>
          </a:p>
        </p:txBody>
      </p:sp>
      <p:sp>
        <p:nvSpPr>
          <p:cNvPr id="14" name="bar-362"/>
          <p:cNvSpPr/>
          <p:nvPr/>
        </p:nvSpPr>
        <p:spPr>
          <a:xfrm>
            <a:off x="4343400" y="1600200"/>
            <a:ext cx="1371600" cy="182880"/>
          </a:xfrm>
          <a:prstGeom prst="roundRect">
            <a:avLst>
              <a:gd name="adj" fmla="val 40000"/>
            </a:avLst>
          </a:prstGeom>
          <a:solidFill>
            <a:schemeClr val="accent2"/>
          </a:solidFill>
          <a:ln/>
        </p:spPr>
      </p:sp>
      <p:sp>
        <p:nvSpPr>
          <p:cNvPr id="15" name="rowbg-363"/>
          <p:cNvSpPr/>
          <p:nvPr/>
        </p:nvSpPr>
        <p:spPr>
          <a:xfrm>
            <a:off x="457200" y="1837944"/>
            <a:ext cx="8229600" cy="292608"/>
          </a:xfrm>
          <a:prstGeom prst="rect">
            <a:avLst/>
          </a:prstGeom>
          <a:solidFill>
            <a:schemeClr val="bg2"/>
          </a:solidFill>
          <a:ln/>
        </p:spPr>
      </p:sp>
      <p:sp>
        <p:nvSpPr>
          <p:cNvPr id="16" name="text-364"/>
          <p:cNvSpPr txBox="1"/>
          <p:nvPr/>
        </p:nvSpPr>
        <p:spPr>
          <a:xfrm>
            <a:off x="548640" y="1837944"/>
            <a:ext cx="3017520" cy="292608"/>
          </a:xfrm>
          <a:prstGeom prst="rect">
            <a:avLst/>
          </a:prstGeom>
          <a:noFill/>
          <a:ln/>
        </p:spPr>
        <p:txBody>
          <a:bodyPr wrap="square" lIns="0" tIns="0" rIns="0" bIns="0" rtlCol="0" anchor="ctr"/>
          <a:lstStyle/>
          <a:p>
            <a:pPr indent="0" marL="0">
              <a:buNone/>
            </a:pPr>
            <a:r>
              <a:rPr lang="en-US" sz="1100" dirty="0">
                <a:solidFill>
                  <a:schemeClr val="tx1"/>
                </a:solidFill>
              </a:rPr>
              <a:t>RAG baseline</a:t>
            </a:r>
            <a:endParaRPr lang="en-US" sz="1100" dirty="0"/>
          </a:p>
        </p:txBody>
      </p:sp>
      <p:sp>
        <p:nvSpPr>
          <p:cNvPr id="17" name="bar-365"/>
          <p:cNvSpPr/>
          <p:nvPr/>
        </p:nvSpPr>
        <p:spPr>
          <a:xfrm>
            <a:off x="5074920" y="1892808"/>
            <a:ext cx="640080" cy="182880"/>
          </a:xfrm>
          <a:prstGeom prst="roundRect">
            <a:avLst>
              <a:gd name="adj" fmla="val 40000"/>
            </a:avLst>
          </a:prstGeom>
          <a:solidFill>
            <a:schemeClr val="accent2"/>
          </a:solidFill>
          <a:ln/>
        </p:spPr>
      </p:sp>
      <p:sp>
        <p:nvSpPr>
          <p:cNvPr id="18" name="text-366"/>
          <p:cNvSpPr txBox="1"/>
          <p:nvPr/>
        </p:nvSpPr>
        <p:spPr>
          <a:xfrm>
            <a:off x="548640" y="2130552"/>
            <a:ext cx="3017520" cy="292608"/>
          </a:xfrm>
          <a:prstGeom prst="rect">
            <a:avLst/>
          </a:prstGeom>
          <a:noFill/>
          <a:ln/>
        </p:spPr>
        <p:txBody>
          <a:bodyPr wrap="square" lIns="0" tIns="0" rIns="0" bIns="0" rtlCol="0" anchor="ctr"/>
          <a:lstStyle/>
          <a:p>
            <a:pPr indent="0" marL="0">
              <a:buNone/>
            </a:pPr>
            <a:r>
              <a:rPr lang="en-US" sz="1100" dirty="0">
                <a:solidFill>
                  <a:schemeClr val="tx1"/>
                </a:solidFill>
              </a:rPr>
              <a:t>Backend, frontend, case workflow, lawyer directory</a:t>
            </a:r>
            <a:endParaRPr lang="en-US" sz="1100" dirty="0"/>
          </a:p>
        </p:txBody>
      </p:sp>
      <p:sp>
        <p:nvSpPr>
          <p:cNvPr id="19" name="bar-367"/>
          <p:cNvSpPr/>
          <p:nvPr/>
        </p:nvSpPr>
        <p:spPr>
          <a:xfrm>
            <a:off x="5806440" y="2185416"/>
            <a:ext cx="1371600" cy="182880"/>
          </a:xfrm>
          <a:prstGeom prst="roundRect">
            <a:avLst>
              <a:gd name="adj" fmla="val 40000"/>
            </a:avLst>
          </a:prstGeom>
          <a:solidFill>
            <a:schemeClr val="accent1"/>
          </a:solidFill>
          <a:ln/>
        </p:spPr>
      </p:sp>
      <p:sp>
        <p:nvSpPr>
          <p:cNvPr id="20" name="rowbg-368"/>
          <p:cNvSpPr/>
          <p:nvPr/>
        </p:nvSpPr>
        <p:spPr>
          <a:xfrm>
            <a:off x="457200" y="2423160"/>
            <a:ext cx="8229600" cy="292608"/>
          </a:xfrm>
          <a:prstGeom prst="rect">
            <a:avLst/>
          </a:prstGeom>
          <a:solidFill>
            <a:schemeClr val="bg2"/>
          </a:solidFill>
          <a:ln/>
        </p:spPr>
      </p:sp>
      <p:sp>
        <p:nvSpPr>
          <p:cNvPr id="21" name="text-369"/>
          <p:cNvSpPr txBox="1"/>
          <p:nvPr/>
        </p:nvSpPr>
        <p:spPr>
          <a:xfrm>
            <a:off x="548640" y="2423160"/>
            <a:ext cx="3017520" cy="292608"/>
          </a:xfrm>
          <a:prstGeom prst="rect">
            <a:avLst/>
          </a:prstGeom>
          <a:noFill/>
          <a:ln/>
        </p:spPr>
        <p:txBody>
          <a:bodyPr wrap="square" lIns="0" tIns="0" rIns="0" bIns="0" rtlCol="0" anchor="ctr"/>
          <a:lstStyle/>
          <a:p>
            <a:pPr indent="0" marL="0">
              <a:buNone/>
            </a:pPr>
            <a:r>
              <a:rPr lang="en-US" sz="1100" dirty="0">
                <a:solidFill>
                  <a:schemeClr val="tx1"/>
                </a:solidFill>
              </a:rPr>
              <a:t>System integration</a:t>
            </a:r>
            <a:endParaRPr lang="en-US" sz="1100" dirty="0"/>
          </a:p>
        </p:txBody>
      </p:sp>
      <p:sp>
        <p:nvSpPr>
          <p:cNvPr id="22" name="bar-370"/>
          <p:cNvSpPr/>
          <p:nvPr/>
        </p:nvSpPr>
        <p:spPr>
          <a:xfrm>
            <a:off x="5806440" y="2478024"/>
            <a:ext cx="1371600" cy="182880"/>
          </a:xfrm>
          <a:prstGeom prst="roundRect">
            <a:avLst>
              <a:gd name="adj" fmla="val 40000"/>
            </a:avLst>
          </a:prstGeom>
          <a:solidFill>
            <a:schemeClr val="accent1"/>
          </a:solidFill>
          <a:ln/>
        </p:spPr>
      </p:sp>
      <p:sp>
        <p:nvSpPr>
          <p:cNvPr id="23" name="text-371"/>
          <p:cNvSpPr txBox="1"/>
          <p:nvPr/>
        </p:nvSpPr>
        <p:spPr>
          <a:xfrm>
            <a:off x="548640" y="2715768"/>
            <a:ext cx="3017520" cy="292608"/>
          </a:xfrm>
          <a:prstGeom prst="rect">
            <a:avLst/>
          </a:prstGeom>
          <a:noFill/>
          <a:ln/>
        </p:spPr>
        <p:txBody>
          <a:bodyPr wrap="square" lIns="0" tIns="0" rIns="0" bIns="0" rtlCol="0" anchor="ctr"/>
          <a:lstStyle/>
          <a:p>
            <a:pPr indent="0" marL="0">
              <a:buNone/>
            </a:pPr>
            <a:r>
              <a:rPr lang="en-US" sz="1100" dirty="0">
                <a:solidFill>
                  <a:schemeClr val="tx1"/>
                </a:solidFill>
              </a:rPr>
              <a:t>Testing</a:t>
            </a:r>
            <a:endParaRPr lang="en-US" sz="1100" dirty="0"/>
          </a:p>
        </p:txBody>
      </p:sp>
      <p:sp>
        <p:nvSpPr>
          <p:cNvPr id="24" name="bar-372"/>
          <p:cNvSpPr/>
          <p:nvPr/>
        </p:nvSpPr>
        <p:spPr>
          <a:xfrm>
            <a:off x="5806440" y="2770632"/>
            <a:ext cx="2103120" cy="182880"/>
          </a:xfrm>
          <a:prstGeom prst="roundRect">
            <a:avLst>
              <a:gd name="adj" fmla="val 40000"/>
            </a:avLst>
          </a:prstGeom>
          <a:solidFill>
            <a:schemeClr val="accent1"/>
          </a:solidFill>
          <a:ln/>
        </p:spPr>
      </p:sp>
      <p:sp>
        <p:nvSpPr>
          <p:cNvPr id="25" name="rowbg-373"/>
          <p:cNvSpPr/>
          <p:nvPr/>
        </p:nvSpPr>
        <p:spPr>
          <a:xfrm>
            <a:off x="457200" y="3008376"/>
            <a:ext cx="8229600" cy="292608"/>
          </a:xfrm>
          <a:prstGeom prst="rect">
            <a:avLst/>
          </a:prstGeom>
          <a:solidFill>
            <a:schemeClr val="bg2"/>
          </a:solidFill>
          <a:ln/>
        </p:spPr>
      </p:sp>
      <p:sp>
        <p:nvSpPr>
          <p:cNvPr id="26" name="text-374"/>
          <p:cNvSpPr txBox="1"/>
          <p:nvPr/>
        </p:nvSpPr>
        <p:spPr>
          <a:xfrm>
            <a:off x="548640" y="3008376"/>
            <a:ext cx="3017520" cy="292608"/>
          </a:xfrm>
          <a:prstGeom prst="rect">
            <a:avLst/>
          </a:prstGeom>
          <a:noFill/>
          <a:ln/>
        </p:spPr>
        <p:txBody>
          <a:bodyPr wrap="square" lIns="0" tIns="0" rIns="0" bIns="0" rtlCol="0" anchor="ctr"/>
          <a:lstStyle/>
          <a:p>
            <a:pPr indent="0" marL="0">
              <a:buNone/>
            </a:pPr>
            <a:r>
              <a:rPr lang="en-US" sz="1100" dirty="0">
                <a:solidFill>
                  <a:schemeClr val="tx1"/>
                </a:solidFill>
              </a:rPr>
              <a:t>Security testing and evaluation</a:t>
            </a:r>
            <a:endParaRPr lang="en-US" sz="1100" dirty="0"/>
          </a:p>
        </p:txBody>
      </p:sp>
      <p:sp>
        <p:nvSpPr>
          <p:cNvPr id="27" name="bar-375"/>
          <p:cNvSpPr/>
          <p:nvPr/>
        </p:nvSpPr>
        <p:spPr>
          <a:xfrm>
            <a:off x="7269480" y="3063240"/>
            <a:ext cx="640080" cy="182880"/>
          </a:xfrm>
          <a:prstGeom prst="roundRect">
            <a:avLst>
              <a:gd name="adj" fmla="val 40000"/>
            </a:avLst>
          </a:prstGeom>
          <a:solidFill>
            <a:schemeClr val="accent1"/>
          </a:solidFill>
          <a:ln/>
        </p:spPr>
      </p:sp>
      <p:sp>
        <p:nvSpPr>
          <p:cNvPr id="28" name="text-376"/>
          <p:cNvSpPr txBox="1"/>
          <p:nvPr/>
        </p:nvSpPr>
        <p:spPr>
          <a:xfrm>
            <a:off x="548640" y="3300984"/>
            <a:ext cx="3017520" cy="292608"/>
          </a:xfrm>
          <a:prstGeom prst="rect">
            <a:avLst/>
          </a:prstGeom>
          <a:noFill/>
          <a:ln/>
        </p:spPr>
        <p:txBody>
          <a:bodyPr wrap="square" lIns="0" tIns="0" rIns="0" bIns="0" rtlCol="0" anchor="ctr"/>
          <a:lstStyle/>
          <a:p>
            <a:pPr indent="0" marL="0">
              <a:buNone/>
            </a:pPr>
            <a:r>
              <a:rPr lang="en-US" sz="1100" dirty="0">
                <a:solidFill>
                  <a:schemeClr val="tx1"/>
                </a:solidFill>
              </a:rPr>
              <a:t>Deployment and defense</a:t>
            </a:r>
            <a:endParaRPr lang="en-US" sz="1100" dirty="0"/>
          </a:p>
        </p:txBody>
      </p:sp>
      <p:sp>
        <p:nvSpPr>
          <p:cNvPr id="29" name="bar-377"/>
          <p:cNvSpPr/>
          <p:nvPr/>
        </p:nvSpPr>
        <p:spPr>
          <a:xfrm>
            <a:off x="8001000" y="3355848"/>
            <a:ext cx="640080" cy="182880"/>
          </a:xfrm>
          <a:prstGeom prst="roundRect">
            <a:avLst>
              <a:gd name="adj" fmla="val 40000"/>
            </a:avLst>
          </a:prstGeom>
          <a:solidFill>
            <a:schemeClr val="accent1"/>
          </a:solidFill>
          <a:ln/>
        </p:spPr>
      </p:sp>
      <p:sp>
        <p:nvSpPr>
          <p:cNvPr id="30" name="rowbg-378"/>
          <p:cNvSpPr/>
          <p:nvPr/>
        </p:nvSpPr>
        <p:spPr>
          <a:xfrm>
            <a:off x="457200" y="3593592"/>
            <a:ext cx="8229600" cy="292608"/>
          </a:xfrm>
          <a:prstGeom prst="rect">
            <a:avLst/>
          </a:prstGeom>
          <a:solidFill>
            <a:schemeClr val="bg2"/>
          </a:solidFill>
          <a:ln/>
        </p:spPr>
      </p:sp>
      <p:sp>
        <p:nvSpPr>
          <p:cNvPr id="31" name="text-379"/>
          <p:cNvSpPr txBox="1"/>
          <p:nvPr/>
        </p:nvSpPr>
        <p:spPr>
          <a:xfrm>
            <a:off x="548640" y="3593592"/>
            <a:ext cx="3017520" cy="292608"/>
          </a:xfrm>
          <a:prstGeom prst="rect">
            <a:avLst/>
          </a:prstGeom>
          <a:noFill/>
          <a:ln/>
        </p:spPr>
        <p:txBody>
          <a:bodyPr wrap="square" lIns="0" tIns="0" rIns="0" bIns="0" rtlCol="0" anchor="ctr"/>
          <a:lstStyle/>
          <a:p>
            <a:pPr indent="0" marL="0">
              <a:buNone/>
            </a:pPr>
            <a:r>
              <a:rPr lang="en-US" sz="1100" dirty="0">
                <a:solidFill>
                  <a:schemeClr val="tx1"/>
                </a:solidFill>
              </a:rPr>
              <a:t>Documentation (throughout)</a:t>
            </a:r>
            <a:endParaRPr lang="en-US" sz="1100" dirty="0"/>
          </a:p>
        </p:txBody>
      </p:sp>
      <p:sp>
        <p:nvSpPr>
          <p:cNvPr id="32" name="bar-380"/>
          <p:cNvSpPr/>
          <p:nvPr/>
        </p:nvSpPr>
        <p:spPr>
          <a:xfrm>
            <a:off x="3611880" y="3648456"/>
            <a:ext cx="5029200" cy="182880"/>
          </a:xfrm>
          <a:prstGeom prst="roundRect">
            <a:avLst>
              <a:gd name="adj" fmla="val 40000"/>
            </a:avLst>
          </a:prstGeom>
          <a:solidFill>
            <a:schemeClr val="accent1"/>
          </a:solidFill>
          <a:ln/>
        </p:spPr>
      </p:sp>
      <p:sp>
        <p:nvSpPr>
          <p:cNvPr id="33" name="iconbg-381"/>
          <p:cNvSpPr/>
          <p:nvPr/>
        </p:nvSpPr>
        <p:spPr>
          <a:xfrm>
            <a:off x="457200" y="4114800"/>
            <a:ext cx="384048" cy="384048"/>
          </a:xfrm>
          <a:prstGeom prst="ellipse">
            <a:avLst/>
          </a:prstGeom>
          <a:solidFill>
            <a:schemeClr val="accent5"/>
          </a:solidFill>
          <a:ln/>
        </p:spPr>
      </p:sp>
      <p:pic>
        <p:nvPicPr>
          <p:cNvPr id="34" name="icon-382" descr="preencoded.png">    </p:cNvPr>
          <p:cNvPicPr>
            <a:picLocks noChangeAspect="1"/>
          </p:cNvPicPr>
          <p:nvPr/>
        </p:nvPicPr>
        <p:blipFill>
          <a:blip r:embed="rId1"/>
          <a:stretch>
            <a:fillRect/>
          </a:stretch>
        </p:blipFill>
        <p:spPr>
          <a:xfrm>
            <a:off x="541691" y="4199291"/>
            <a:ext cx="215067" cy="215067"/>
          </a:xfrm>
          <a:prstGeom prst="rect">
            <a:avLst/>
          </a:prstGeom>
        </p:spPr>
      </p:pic>
      <p:sp>
        <p:nvSpPr>
          <p:cNvPr id="35" name="text-383"/>
          <p:cNvSpPr txBox="1"/>
          <p:nvPr/>
        </p:nvSpPr>
        <p:spPr>
          <a:xfrm>
            <a:off x="932688" y="4069080"/>
            <a:ext cx="2194560" cy="228600"/>
          </a:xfrm>
          <a:prstGeom prst="rect">
            <a:avLst/>
          </a:prstGeom>
          <a:noFill/>
          <a:ln/>
        </p:spPr>
        <p:txBody>
          <a:bodyPr wrap="square" lIns="0" tIns="0" rIns="0" bIns="0" rtlCol="0" anchor="t"/>
          <a:lstStyle/>
          <a:p>
            <a:pPr indent="0" marL="0">
              <a:buNone/>
            </a:pPr>
            <a:r>
              <a:rPr lang="en-US" sz="1200" b="1" dirty="0">
                <a:solidFill>
                  <a:schemeClr val="tx2"/>
                </a:solidFill>
              </a:rPr>
              <a:t>Muhammad Nabeel</a:t>
            </a:r>
            <a:endParaRPr lang="en-US" sz="1200" dirty="0"/>
          </a:p>
        </p:txBody>
      </p:sp>
      <p:sp>
        <p:nvSpPr>
          <p:cNvPr id="36" name="text-384"/>
          <p:cNvSpPr txBox="1"/>
          <p:nvPr/>
        </p:nvSpPr>
        <p:spPr>
          <a:xfrm>
            <a:off x="932688" y="4297680"/>
            <a:ext cx="2194560" cy="365760"/>
          </a:xfrm>
          <a:prstGeom prst="rect">
            <a:avLst/>
          </a:prstGeom>
          <a:noFill/>
          <a:ln/>
        </p:spPr>
        <p:txBody>
          <a:bodyPr wrap="square" lIns="0" tIns="0" rIns="0" bIns="0" rtlCol="0" anchor="t"/>
          <a:lstStyle/>
          <a:p>
            <a:pPr indent="0" marL="0">
              <a:buNone/>
            </a:pPr>
            <a:r>
              <a:rPr lang="en-US" sz="1000" dirty="0">
                <a:solidFill>
                  <a:schemeClr val="tx1"/>
                </a:solidFill>
              </a:rPr>
              <a:t>Full-stack, RAG and system integration</a:t>
            </a:r>
            <a:endParaRPr lang="en-US" sz="1000" dirty="0"/>
          </a:p>
        </p:txBody>
      </p:sp>
      <p:sp>
        <p:nvSpPr>
          <p:cNvPr id="37" name="iconbg-385"/>
          <p:cNvSpPr/>
          <p:nvPr/>
        </p:nvSpPr>
        <p:spPr>
          <a:xfrm>
            <a:off x="3246120" y="4114800"/>
            <a:ext cx="384048" cy="384048"/>
          </a:xfrm>
          <a:prstGeom prst="ellipse">
            <a:avLst/>
          </a:prstGeom>
          <a:solidFill>
            <a:schemeClr val="accent5"/>
          </a:solidFill>
          <a:ln/>
        </p:spPr>
      </p:sp>
      <p:pic>
        <p:nvPicPr>
          <p:cNvPr id="38" name="icon-386" descr="preencoded.png">    </p:cNvPr>
          <p:cNvPicPr>
            <a:picLocks noChangeAspect="1"/>
          </p:cNvPicPr>
          <p:nvPr/>
        </p:nvPicPr>
        <p:blipFill>
          <a:blip r:embed="rId2"/>
          <a:stretch>
            <a:fillRect/>
          </a:stretch>
        </p:blipFill>
        <p:spPr>
          <a:xfrm>
            <a:off x="3330611" y="4199291"/>
            <a:ext cx="215067" cy="215067"/>
          </a:xfrm>
          <a:prstGeom prst="rect">
            <a:avLst/>
          </a:prstGeom>
        </p:spPr>
      </p:pic>
      <p:sp>
        <p:nvSpPr>
          <p:cNvPr id="39" name="text-387"/>
          <p:cNvSpPr txBox="1"/>
          <p:nvPr/>
        </p:nvSpPr>
        <p:spPr>
          <a:xfrm>
            <a:off x="3721608" y="4069080"/>
            <a:ext cx="2194560" cy="228600"/>
          </a:xfrm>
          <a:prstGeom prst="rect">
            <a:avLst/>
          </a:prstGeom>
          <a:noFill/>
          <a:ln/>
        </p:spPr>
        <p:txBody>
          <a:bodyPr wrap="square" lIns="0" tIns="0" rIns="0" bIns="0" rtlCol="0" anchor="t"/>
          <a:lstStyle/>
          <a:p>
            <a:pPr indent="0" marL="0">
              <a:buNone/>
            </a:pPr>
            <a:r>
              <a:rPr lang="en-US" sz="1200" b="1" dirty="0">
                <a:solidFill>
                  <a:schemeClr val="tx2"/>
                </a:solidFill>
              </a:rPr>
              <a:t>Ashir Qureshi</a:t>
            </a:r>
            <a:endParaRPr lang="en-US" sz="1200" dirty="0"/>
          </a:p>
        </p:txBody>
      </p:sp>
      <p:sp>
        <p:nvSpPr>
          <p:cNvPr id="40" name="text-388"/>
          <p:cNvSpPr txBox="1"/>
          <p:nvPr/>
        </p:nvSpPr>
        <p:spPr>
          <a:xfrm>
            <a:off x="3721608" y="4297680"/>
            <a:ext cx="2194560" cy="365760"/>
          </a:xfrm>
          <a:prstGeom prst="rect">
            <a:avLst/>
          </a:prstGeom>
          <a:noFill/>
          <a:ln/>
        </p:spPr>
        <p:txBody>
          <a:bodyPr wrap="square" lIns="0" tIns="0" rIns="0" bIns="0" rtlCol="0" anchor="t"/>
          <a:lstStyle/>
          <a:p>
            <a:pPr indent="0" marL="0">
              <a:buNone/>
            </a:pPr>
            <a:r>
              <a:rPr lang="en-US" sz="1000" dirty="0">
                <a:solidFill>
                  <a:schemeClr val="tx1"/>
                </a:solidFill>
              </a:rPr>
              <a:t>Full-stack, feature implementation and integration</a:t>
            </a:r>
            <a:endParaRPr lang="en-US" sz="1000" dirty="0"/>
          </a:p>
        </p:txBody>
      </p:sp>
      <p:sp>
        <p:nvSpPr>
          <p:cNvPr id="41" name="iconbg-389"/>
          <p:cNvSpPr/>
          <p:nvPr/>
        </p:nvSpPr>
        <p:spPr>
          <a:xfrm>
            <a:off x="6035040" y="4114800"/>
            <a:ext cx="384048" cy="384048"/>
          </a:xfrm>
          <a:prstGeom prst="ellipse">
            <a:avLst/>
          </a:prstGeom>
          <a:solidFill>
            <a:schemeClr val="accent5"/>
          </a:solidFill>
          <a:ln/>
        </p:spPr>
      </p:sp>
      <p:pic>
        <p:nvPicPr>
          <p:cNvPr id="42" name="icon-390" descr="preencoded.png">    </p:cNvPr>
          <p:cNvPicPr>
            <a:picLocks noChangeAspect="1"/>
          </p:cNvPicPr>
          <p:nvPr/>
        </p:nvPicPr>
        <p:blipFill>
          <a:blip r:embed="rId3"/>
          <a:stretch>
            <a:fillRect/>
          </a:stretch>
        </p:blipFill>
        <p:spPr>
          <a:xfrm>
            <a:off x="6119531" y="4199291"/>
            <a:ext cx="215067" cy="215067"/>
          </a:xfrm>
          <a:prstGeom prst="rect">
            <a:avLst/>
          </a:prstGeom>
        </p:spPr>
      </p:pic>
      <p:sp>
        <p:nvSpPr>
          <p:cNvPr id="43" name="text-391"/>
          <p:cNvSpPr txBox="1"/>
          <p:nvPr/>
        </p:nvSpPr>
        <p:spPr>
          <a:xfrm>
            <a:off x="6510528" y="4069080"/>
            <a:ext cx="2194560" cy="228600"/>
          </a:xfrm>
          <a:prstGeom prst="rect">
            <a:avLst/>
          </a:prstGeom>
          <a:noFill/>
          <a:ln/>
        </p:spPr>
        <p:txBody>
          <a:bodyPr wrap="square" lIns="0" tIns="0" rIns="0" bIns="0" rtlCol="0" anchor="t"/>
          <a:lstStyle/>
          <a:p>
            <a:pPr indent="0" marL="0">
              <a:buNone/>
            </a:pPr>
            <a:r>
              <a:rPr lang="en-US" sz="1200" b="1" dirty="0">
                <a:solidFill>
                  <a:schemeClr val="tx2"/>
                </a:solidFill>
              </a:rPr>
              <a:t>Muhammad Sharjeel</a:t>
            </a:r>
            <a:endParaRPr lang="en-US" sz="1200" dirty="0"/>
          </a:p>
        </p:txBody>
      </p:sp>
      <p:sp>
        <p:nvSpPr>
          <p:cNvPr id="44" name="text-392"/>
          <p:cNvSpPr txBox="1"/>
          <p:nvPr/>
        </p:nvSpPr>
        <p:spPr>
          <a:xfrm>
            <a:off x="6510528" y="4297680"/>
            <a:ext cx="2194560" cy="365760"/>
          </a:xfrm>
          <a:prstGeom prst="rect">
            <a:avLst/>
          </a:prstGeom>
          <a:noFill/>
          <a:ln/>
        </p:spPr>
        <p:txBody>
          <a:bodyPr wrap="square" lIns="0" tIns="0" rIns="0" bIns="0" rtlCol="0" anchor="t"/>
          <a:lstStyle/>
          <a:p>
            <a:pPr indent="0" marL="0">
              <a:buNone/>
            </a:pPr>
            <a:r>
              <a:rPr lang="en-US" sz="1000" dirty="0">
                <a:solidFill>
                  <a:schemeClr val="tx1"/>
                </a:solidFill>
              </a:rPr>
              <a:t>QA and testing: functional, system, quality assurance</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548640"/>
          </a:xfrm>
          <a:prstGeom prst="rect">
            <a:avLst/>
          </a:prstGeom>
          <a:noFill/>
          <a:ln/>
        </p:spPr>
        <p:txBody>
          <a:bodyPr wrap="square" lIns="0" tIns="0" rIns="0" bIns="0" rtlCol="0" anchor="ctr"/>
          <a:lstStyle/>
          <a:p>
            <a:pPr algn="l" indent="0" marL="0">
              <a:buNone/>
            </a:pPr>
            <a:r>
              <a:rPr lang="en-US" sz="2800" b="1" dirty="0">
                <a:solidFill>
                  <a:schemeClr val="tx2"/>
                </a:solidFill>
              </a:rPr>
              <a:t>Why RAG Instead of a Plain LLM?</a:t>
            </a:r>
            <a:endParaRPr lang="en-US" sz="2800" dirty="0"/>
          </a:p>
        </p:txBody>
      </p:sp>
      <p:sp>
        <p:nvSpPr>
          <p:cNvPr id="3" name="text-393"/>
          <p:cNvSpPr txBox="1"/>
          <p:nvPr/>
        </p:nvSpPr>
        <p:spPr>
          <a:xfrm>
            <a:off x="457200" y="960120"/>
            <a:ext cx="3931920" cy="274320"/>
          </a:xfrm>
          <a:prstGeom prst="rect">
            <a:avLst/>
          </a:prstGeom>
          <a:noFill/>
          <a:ln/>
        </p:spPr>
        <p:txBody>
          <a:bodyPr wrap="square" lIns="0" tIns="0" rIns="0" bIns="0" rtlCol="0" anchor="t"/>
          <a:lstStyle/>
          <a:p>
            <a:pPr indent="0" marL="0">
              <a:buNone/>
            </a:pPr>
            <a:r>
              <a:rPr lang="en-US" sz="1500" b="1" dirty="0">
                <a:solidFill>
                  <a:schemeClr val="accent6"/>
                </a:solidFill>
              </a:rPr>
              <a:t>Standard LLM (baseline)</a:t>
            </a:r>
            <a:endParaRPr lang="en-US" sz="1500" dirty="0"/>
          </a:p>
        </p:txBody>
      </p:sp>
      <p:sp>
        <p:nvSpPr>
          <p:cNvPr id="4" name="box-394"/>
          <p:cNvSpPr/>
          <p:nvPr/>
        </p:nvSpPr>
        <p:spPr>
          <a:xfrm>
            <a:off x="457200" y="1325880"/>
            <a:ext cx="3931920" cy="411480"/>
          </a:xfrm>
          <a:prstGeom prst="roundRect">
            <a:avLst>
              <a:gd name="adj" fmla="val 17778"/>
            </a:avLst>
          </a:prstGeom>
          <a:solidFill>
            <a:schemeClr val="bg2"/>
          </a:solidFill>
          <a:ln/>
        </p:spPr>
      </p:sp>
      <p:sp>
        <p:nvSpPr>
          <p:cNvPr id="5" name="boxtext-395"/>
          <p:cNvSpPr txBox="1"/>
          <p:nvPr/>
        </p:nvSpPr>
        <p:spPr>
          <a:xfrm>
            <a:off x="457200" y="1325880"/>
            <a:ext cx="3931920" cy="411480"/>
          </a:xfrm>
          <a:prstGeom prst="rect">
            <a:avLst/>
          </a:prstGeom>
          <a:noFill/>
          <a:ln/>
        </p:spPr>
        <p:txBody>
          <a:bodyPr wrap="square" lIns="762" tIns="762" rIns="762" bIns="762" rtlCol="0" anchor="ctr"/>
          <a:lstStyle/>
          <a:p>
            <a:pPr algn="ctr" indent="0" marL="0">
              <a:buNone/>
            </a:pPr>
            <a:r>
              <a:rPr lang="en-US" sz="1200" dirty="0">
                <a:solidFill>
                  <a:schemeClr val="tx2"/>
                </a:solidFill>
              </a:rPr>
              <a:t>Citizen question</a:t>
            </a:r>
            <a:endParaRPr lang="en-US" sz="1200" dirty="0"/>
          </a:p>
        </p:txBody>
      </p:sp>
      <p:sp>
        <p:nvSpPr>
          <p:cNvPr id="6" name="arrow-396"/>
          <p:cNvSpPr/>
          <p:nvPr/>
        </p:nvSpPr>
        <p:spPr>
          <a:xfrm>
            <a:off x="2423160" y="1746504"/>
            <a:ext cx="0" cy="118872"/>
          </a:xfrm>
          <a:prstGeom prst="line">
            <a:avLst/>
          </a:prstGeom>
          <a:noFill/>
          <a:ln w="19050">
            <a:solidFill>
              <a:schemeClr val="accent5"/>
            </a:solidFill>
            <a:prstDash val="solid"/>
            <a:tailEnd type="triangle"/>
          </a:ln>
        </p:spPr>
      </p:sp>
      <p:sp>
        <p:nvSpPr>
          <p:cNvPr id="7" name="box-397"/>
          <p:cNvSpPr/>
          <p:nvPr/>
        </p:nvSpPr>
        <p:spPr>
          <a:xfrm>
            <a:off x="457200" y="1874520"/>
            <a:ext cx="3931920" cy="411480"/>
          </a:xfrm>
          <a:prstGeom prst="roundRect">
            <a:avLst>
              <a:gd name="adj" fmla="val 17778"/>
            </a:avLst>
          </a:prstGeom>
          <a:solidFill>
            <a:schemeClr val="bg2"/>
          </a:solidFill>
          <a:ln/>
        </p:spPr>
      </p:sp>
      <p:sp>
        <p:nvSpPr>
          <p:cNvPr id="8" name="boxtext-398"/>
          <p:cNvSpPr txBox="1"/>
          <p:nvPr/>
        </p:nvSpPr>
        <p:spPr>
          <a:xfrm>
            <a:off x="457200" y="1874520"/>
            <a:ext cx="3931920" cy="411480"/>
          </a:xfrm>
          <a:prstGeom prst="rect">
            <a:avLst/>
          </a:prstGeom>
          <a:noFill/>
          <a:ln/>
        </p:spPr>
        <p:txBody>
          <a:bodyPr wrap="square" lIns="762" tIns="762" rIns="762" bIns="762" rtlCol="0" anchor="ctr"/>
          <a:lstStyle/>
          <a:p>
            <a:pPr algn="ctr" indent="0" marL="0">
              <a:buNone/>
            </a:pPr>
            <a:r>
              <a:rPr lang="en-US" sz="1200" dirty="0">
                <a:solidFill>
                  <a:schemeClr val="tx2"/>
                </a:solidFill>
              </a:rPr>
              <a:t>LLM answers from its training memory</a:t>
            </a:r>
            <a:endParaRPr lang="en-US" sz="1200" dirty="0"/>
          </a:p>
        </p:txBody>
      </p:sp>
      <p:sp>
        <p:nvSpPr>
          <p:cNvPr id="9" name="arrow-399"/>
          <p:cNvSpPr/>
          <p:nvPr/>
        </p:nvSpPr>
        <p:spPr>
          <a:xfrm>
            <a:off x="2423160" y="2295144"/>
            <a:ext cx="0" cy="118872"/>
          </a:xfrm>
          <a:prstGeom prst="line">
            <a:avLst/>
          </a:prstGeom>
          <a:noFill/>
          <a:ln w="19050">
            <a:solidFill>
              <a:schemeClr val="accent5"/>
            </a:solidFill>
            <a:prstDash val="solid"/>
            <a:tailEnd type="triangle"/>
          </a:ln>
        </p:spPr>
      </p:sp>
      <p:sp>
        <p:nvSpPr>
          <p:cNvPr id="10" name="box-400"/>
          <p:cNvSpPr/>
          <p:nvPr/>
        </p:nvSpPr>
        <p:spPr>
          <a:xfrm>
            <a:off x="457200" y="2423160"/>
            <a:ext cx="3931920" cy="457200"/>
          </a:xfrm>
          <a:prstGeom prst="roundRect">
            <a:avLst>
              <a:gd name="adj" fmla="val 16000"/>
            </a:avLst>
          </a:prstGeom>
          <a:solidFill>
            <a:schemeClr val="accent6"/>
          </a:solidFill>
          <a:ln/>
        </p:spPr>
      </p:sp>
      <p:sp>
        <p:nvSpPr>
          <p:cNvPr id="11" name="boxtext-401"/>
          <p:cNvSpPr txBox="1"/>
          <p:nvPr/>
        </p:nvSpPr>
        <p:spPr>
          <a:xfrm>
            <a:off x="457200" y="2423160"/>
            <a:ext cx="3931920" cy="457200"/>
          </a:xfrm>
          <a:prstGeom prst="rect">
            <a:avLst/>
          </a:prstGeom>
          <a:noFill/>
          <a:ln/>
        </p:spPr>
        <p:txBody>
          <a:bodyPr wrap="square" lIns="762" tIns="762" rIns="762" bIns="762" rtlCol="0" anchor="ctr"/>
          <a:lstStyle/>
          <a:p>
            <a:pPr algn="ctr" indent="0" marL="0">
              <a:buNone/>
            </a:pPr>
            <a:r>
              <a:rPr lang="en-US" sz="1200" b="1" dirty="0">
                <a:solidFill>
                  <a:schemeClr val="bg1"/>
                </a:solidFill>
              </a:rPr>
              <a:t>Answer with no sources</a:t>
            </a:r>
            <a:endParaRPr lang="en-US" sz="1200" dirty="0"/>
          </a:p>
        </p:txBody>
      </p:sp>
      <p:sp>
        <p:nvSpPr>
          <p:cNvPr id="12" name="text-402"/>
          <p:cNvSpPr txBox="1"/>
          <p:nvPr/>
        </p:nvSpPr>
        <p:spPr>
          <a:xfrm>
            <a:off x="457200" y="2953512"/>
            <a:ext cx="3931920" cy="73152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chemeClr val="tx1"/>
                </a:solidFill>
              </a:rPr>
              <a:t>May not reflect Pakistani law</a:t>
            </a:r>
            <a:endParaRPr lang="en-US" sz="1100" dirty="0"/>
          </a:p>
          <a:p>
            <a:pPr marL="342900" indent="-342900">
              <a:spcAft>
                <a:spcPts val="200"/>
              </a:spcAft>
              <a:buSzPct val="100000"/>
              <a:buChar char="•"/>
            </a:pPr>
            <a:r>
              <a:rPr lang="en-US" sz="1100" dirty="0">
                <a:solidFill>
                  <a:schemeClr val="tx1"/>
                </a:solidFill>
              </a:rPr>
              <a:t>Cannot be checked</a:t>
            </a:r>
            <a:endParaRPr lang="en-US" sz="1100" dirty="0"/>
          </a:p>
          <a:p>
            <a:pPr marL="342900" indent="-342900">
              <a:spcAft>
                <a:spcPts val="200"/>
              </a:spcAft>
              <a:buSzPct val="100000"/>
              <a:buChar char="•"/>
            </a:pPr>
            <a:r>
              <a:rPr lang="en-US" sz="1100" dirty="0">
                <a:solidFill>
                  <a:schemeClr val="tx1"/>
                </a:solidFill>
              </a:rPr>
              <a:t>Can hallucinate sections or cases</a:t>
            </a:r>
            <a:endParaRPr lang="en-US" sz="1100" dirty="0"/>
          </a:p>
        </p:txBody>
      </p:sp>
      <p:sp>
        <p:nvSpPr>
          <p:cNvPr id="13" name="text-403"/>
          <p:cNvSpPr txBox="1"/>
          <p:nvPr/>
        </p:nvSpPr>
        <p:spPr>
          <a:xfrm>
            <a:off x="4754880" y="960120"/>
            <a:ext cx="3931920" cy="274320"/>
          </a:xfrm>
          <a:prstGeom prst="rect">
            <a:avLst/>
          </a:prstGeom>
          <a:noFill/>
          <a:ln/>
        </p:spPr>
        <p:txBody>
          <a:bodyPr wrap="square" lIns="0" tIns="0" rIns="0" bIns="0" rtlCol="0" anchor="t"/>
          <a:lstStyle/>
          <a:p>
            <a:pPr indent="0" marL="0">
              <a:buNone/>
            </a:pPr>
            <a:r>
              <a:rPr lang="en-US" sz="1500" b="1" dirty="0">
                <a:solidFill>
                  <a:schemeClr val="accent1"/>
                </a:solidFill>
              </a:rPr>
              <a:t>Our RAG system</a:t>
            </a:r>
            <a:endParaRPr lang="en-US" sz="1500" dirty="0"/>
          </a:p>
        </p:txBody>
      </p:sp>
      <p:sp>
        <p:nvSpPr>
          <p:cNvPr id="14" name="box-404"/>
          <p:cNvSpPr/>
          <p:nvPr/>
        </p:nvSpPr>
        <p:spPr>
          <a:xfrm>
            <a:off x="4754880" y="1325880"/>
            <a:ext cx="3931920" cy="411480"/>
          </a:xfrm>
          <a:prstGeom prst="roundRect">
            <a:avLst>
              <a:gd name="adj" fmla="val 17778"/>
            </a:avLst>
          </a:prstGeom>
          <a:solidFill>
            <a:schemeClr val="bg2"/>
          </a:solidFill>
          <a:ln/>
        </p:spPr>
      </p:sp>
      <p:sp>
        <p:nvSpPr>
          <p:cNvPr id="15" name="boxtext-405"/>
          <p:cNvSpPr txBox="1"/>
          <p:nvPr/>
        </p:nvSpPr>
        <p:spPr>
          <a:xfrm>
            <a:off x="4754880" y="1325880"/>
            <a:ext cx="3931920" cy="411480"/>
          </a:xfrm>
          <a:prstGeom prst="rect">
            <a:avLst/>
          </a:prstGeom>
          <a:noFill/>
          <a:ln/>
        </p:spPr>
        <p:txBody>
          <a:bodyPr wrap="square" lIns="762" tIns="762" rIns="762" bIns="762" rtlCol="0" anchor="ctr"/>
          <a:lstStyle/>
          <a:p>
            <a:pPr algn="ctr" indent="0" marL="0">
              <a:buNone/>
            </a:pPr>
            <a:r>
              <a:rPr lang="en-US" sz="1200" dirty="0">
                <a:solidFill>
                  <a:schemeClr val="tx2"/>
                </a:solidFill>
              </a:rPr>
              <a:t>Citizen question + clarified facts</a:t>
            </a:r>
            <a:endParaRPr lang="en-US" sz="1200" dirty="0"/>
          </a:p>
        </p:txBody>
      </p:sp>
      <p:sp>
        <p:nvSpPr>
          <p:cNvPr id="16" name="arrow-406"/>
          <p:cNvSpPr/>
          <p:nvPr/>
        </p:nvSpPr>
        <p:spPr>
          <a:xfrm>
            <a:off x="6720840" y="1746504"/>
            <a:ext cx="0" cy="118872"/>
          </a:xfrm>
          <a:prstGeom prst="line">
            <a:avLst/>
          </a:prstGeom>
          <a:noFill/>
          <a:ln w="19050">
            <a:solidFill>
              <a:schemeClr val="accent5"/>
            </a:solidFill>
            <a:prstDash val="solid"/>
            <a:tailEnd type="triangle"/>
          </a:ln>
        </p:spPr>
      </p:sp>
      <p:sp>
        <p:nvSpPr>
          <p:cNvPr id="17" name="box-407"/>
          <p:cNvSpPr/>
          <p:nvPr/>
        </p:nvSpPr>
        <p:spPr>
          <a:xfrm>
            <a:off x="4754880" y="1874520"/>
            <a:ext cx="3931920" cy="411480"/>
          </a:xfrm>
          <a:prstGeom prst="roundRect">
            <a:avLst>
              <a:gd name="adj" fmla="val 17778"/>
            </a:avLst>
          </a:prstGeom>
          <a:solidFill>
            <a:schemeClr val="bg2"/>
          </a:solidFill>
          <a:ln/>
        </p:spPr>
      </p:sp>
      <p:sp>
        <p:nvSpPr>
          <p:cNvPr id="18" name="boxtext-408"/>
          <p:cNvSpPr txBox="1"/>
          <p:nvPr/>
        </p:nvSpPr>
        <p:spPr>
          <a:xfrm>
            <a:off x="4754880" y="1874520"/>
            <a:ext cx="3931920" cy="411480"/>
          </a:xfrm>
          <a:prstGeom prst="rect">
            <a:avLst/>
          </a:prstGeom>
          <a:noFill/>
          <a:ln/>
        </p:spPr>
        <p:txBody>
          <a:bodyPr wrap="square" lIns="762" tIns="762" rIns="762" bIns="762" rtlCol="0" anchor="ctr"/>
          <a:lstStyle/>
          <a:p>
            <a:pPr algn="ctr" indent="0" marL="0">
              <a:buNone/>
            </a:pPr>
            <a:r>
              <a:rPr lang="en-US" sz="1200" dirty="0">
                <a:solidFill>
                  <a:schemeClr val="tx2"/>
                </a:solidFill>
              </a:rPr>
              <a:t>Retrieve verified Pakistani sources</a:t>
            </a:r>
            <a:endParaRPr lang="en-US" sz="1200" dirty="0"/>
          </a:p>
        </p:txBody>
      </p:sp>
      <p:sp>
        <p:nvSpPr>
          <p:cNvPr id="19" name="arrow-409"/>
          <p:cNvSpPr/>
          <p:nvPr/>
        </p:nvSpPr>
        <p:spPr>
          <a:xfrm>
            <a:off x="6720840" y="2295144"/>
            <a:ext cx="0" cy="118872"/>
          </a:xfrm>
          <a:prstGeom prst="line">
            <a:avLst/>
          </a:prstGeom>
          <a:noFill/>
          <a:ln w="19050">
            <a:solidFill>
              <a:schemeClr val="accent5"/>
            </a:solidFill>
            <a:prstDash val="solid"/>
            <a:tailEnd type="triangle"/>
          </a:ln>
        </p:spPr>
      </p:sp>
      <p:sp>
        <p:nvSpPr>
          <p:cNvPr id="20" name="box-410"/>
          <p:cNvSpPr/>
          <p:nvPr/>
        </p:nvSpPr>
        <p:spPr>
          <a:xfrm>
            <a:off x="4754880" y="2423160"/>
            <a:ext cx="3931920" cy="411480"/>
          </a:xfrm>
          <a:prstGeom prst="roundRect">
            <a:avLst>
              <a:gd name="adj" fmla="val 17778"/>
            </a:avLst>
          </a:prstGeom>
          <a:solidFill>
            <a:schemeClr val="bg2"/>
          </a:solidFill>
          <a:ln/>
        </p:spPr>
      </p:sp>
      <p:sp>
        <p:nvSpPr>
          <p:cNvPr id="21" name="boxtext-411"/>
          <p:cNvSpPr txBox="1"/>
          <p:nvPr/>
        </p:nvSpPr>
        <p:spPr>
          <a:xfrm>
            <a:off x="4754880" y="2423160"/>
            <a:ext cx="3931920" cy="411480"/>
          </a:xfrm>
          <a:prstGeom prst="rect">
            <a:avLst/>
          </a:prstGeom>
          <a:noFill/>
          <a:ln/>
        </p:spPr>
        <p:txBody>
          <a:bodyPr wrap="square" lIns="762" tIns="762" rIns="762" bIns="762" rtlCol="0" anchor="ctr"/>
          <a:lstStyle/>
          <a:p>
            <a:pPr algn="ctr" indent="0" marL="0">
              <a:buNone/>
            </a:pPr>
            <a:r>
              <a:rPr lang="en-US" sz="1200" dirty="0">
                <a:solidFill>
                  <a:schemeClr val="tx2"/>
                </a:solidFill>
              </a:rPr>
              <a:t>LLM answers only from those sources</a:t>
            </a:r>
            <a:endParaRPr lang="en-US" sz="1200" dirty="0"/>
          </a:p>
        </p:txBody>
      </p:sp>
      <p:sp>
        <p:nvSpPr>
          <p:cNvPr id="22" name="arrow-412"/>
          <p:cNvSpPr/>
          <p:nvPr/>
        </p:nvSpPr>
        <p:spPr>
          <a:xfrm>
            <a:off x="6720840" y="2843784"/>
            <a:ext cx="0" cy="118872"/>
          </a:xfrm>
          <a:prstGeom prst="line">
            <a:avLst/>
          </a:prstGeom>
          <a:noFill/>
          <a:ln w="19050">
            <a:solidFill>
              <a:schemeClr val="accent5"/>
            </a:solidFill>
            <a:prstDash val="solid"/>
            <a:tailEnd type="triangle"/>
          </a:ln>
        </p:spPr>
      </p:sp>
      <p:sp>
        <p:nvSpPr>
          <p:cNvPr id="23" name="box-413"/>
          <p:cNvSpPr/>
          <p:nvPr/>
        </p:nvSpPr>
        <p:spPr>
          <a:xfrm>
            <a:off x="4754880" y="2971800"/>
            <a:ext cx="3931920" cy="411480"/>
          </a:xfrm>
          <a:prstGeom prst="roundRect">
            <a:avLst>
              <a:gd name="adj" fmla="val 17778"/>
            </a:avLst>
          </a:prstGeom>
          <a:solidFill>
            <a:schemeClr val="bg2"/>
          </a:solidFill>
          <a:ln/>
        </p:spPr>
      </p:sp>
      <p:sp>
        <p:nvSpPr>
          <p:cNvPr id="24" name="boxtext-414"/>
          <p:cNvSpPr txBox="1"/>
          <p:nvPr/>
        </p:nvSpPr>
        <p:spPr>
          <a:xfrm>
            <a:off x="4754880" y="2971800"/>
            <a:ext cx="3931920" cy="411480"/>
          </a:xfrm>
          <a:prstGeom prst="rect">
            <a:avLst/>
          </a:prstGeom>
          <a:noFill/>
          <a:ln/>
        </p:spPr>
        <p:txBody>
          <a:bodyPr wrap="square" lIns="762" tIns="762" rIns="762" bIns="762" rtlCol="0" anchor="ctr"/>
          <a:lstStyle/>
          <a:p>
            <a:pPr algn="ctr" indent="0" marL="0">
              <a:buNone/>
            </a:pPr>
            <a:r>
              <a:rPr lang="en-US" sz="1200" dirty="0">
                <a:solidFill>
                  <a:schemeClr val="tx2"/>
                </a:solidFill>
              </a:rPr>
              <a:t>Source and citation check</a:t>
            </a:r>
            <a:endParaRPr lang="en-US" sz="1200" dirty="0"/>
          </a:p>
        </p:txBody>
      </p:sp>
      <p:sp>
        <p:nvSpPr>
          <p:cNvPr id="25" name="arrow-415"/>
          <p:cNvSpPr/>
          <p:nvPr/>
        </p:nvSpPr>
        <p:spPr>
          <a:xfrm>
            <a:off x="6720840" y="3392424"/>
            <a:ext cx="0" cy="118872"/>
          </a:xfrm>
          <a:prstGeom prst="line">
            <a:avLst/>
          </a:prstGeom>
          <a:noFill/>
          <a:ln w="19050">
            <a:solidFill>
              <a:schemeClr val="accent5"/>
            </a:solidFill>
            <a:prstDash val="solid"/>
            <a:tailEnd type="triangle"/>
          </a:ln>
        </p:spPr>
      </p:sp>
      <p:sp>
        <p:nvSpPr>
          <p:cNvPr id="26" name="box-416"/>
          <p:cNvSpPr/>
          <p:nvPr/>
        </p:nvSpPr>
        <p:spPr>
          <a:xfrm>
            <a:off x="4754880" y="3520440"/>
            <a:ext cx="3931920" cy="457200"/>
          </a:xfrm>
          <a:prstGeom prst="roundRect">
            <a:avLst>
              <a:gd name="adj" fmla="val 16000"/>
            </a:avLst>
          </a:prstGeom>
          <a:solidFill>
            <a:schemeClr val="tx2"/>
          </a:solidFill>
          <a:ln/>
        </p:spPr>
      </p:sp>
      <p:sp>
        <p:nvSpPr>
          <p:cNvPr id="27" name="boxtext-417"/>
          <p:cNvSpPr txBox="1"/>
          <p:nvPr/>
        </p:nvSpPr>
        <p:spPr>
          <a:xfrm>
            <a:off x="4754880" y="3520440"/>
            <a:ext cx="3931920" cy="457200"/>
          </a:xfrm>
          <a:prstGeom prst="rect">
            <a:avLst/>
          </a:prstGeom>
          <a:noFill/>
          <a:ln/>
        </p:spPr>
        <p:txBody>
          <a:bodyPr wrap="square" lIns="762" tIns="762" rIns="762" bIns="762" rtlCol="0" anchor="ctr"/>
          <a:lstStyle/>
          <a:p>
            <a:pPr algn="ctr" indent="0" marL="0">
              <a:buNone/>
            </a:pPr>
            <a:r>
              <a:rPr lang="en-US" sz="1200" b="1" dirty="0">
                <a:solidFill>
                  <a:schemeClr val="bg1"/>
                </a:solidFill>
              </a:rPr>
              <a:t>Plain-language answer with citations</a:t>
            </a:r>
            <a:endParaRPr lang="en-US" sz="1200" dirty="0"/>
          </a:p>
        </p:txBody>
      </p:sp>
      <p:sp>
        <p:nvSpPr>
          <p:cNvPr id="28" name="text-418"/>
          <p:cNvSpPr txBox="1"/>
          <p:nvPr/>
        </p:nvSpPr>
        <p:spPr>
          <a:xfrm>
            <a:off x="4754880" y="4050792"/>
            <a:ext cx="3931920" cy="731520"/>
          </a:xfrm>
          <a:prstGeom prst="rect">
            <a:avLst/>
          </a:prstGeom>
          <a:noFill/>
          <a:ln/>
        </p:spPr>
        <p:txBody>
          <a:bodyPr wrap="square" lIns="0" tIns="0" rIns="0" bIns="0" rtlCol="0" anchor="t"/>
          <a:lstStyle/>
          <a:p>
            <a:pPr indent="0" marL="0">
              <a:spcAft>
                <a:spcPts val="200"/>
              </a:spcAft>
              <a:buNone/>
            </a:pPr>
            <a:endParaRPr lang="en-US" sz="1100" dirty="0"/>
          </a:p>
        </p:txBody>
      </p:sp>
      <p:sp>
        <p:nvSpPr>
          <p:cNvPr id="29" name="box-419"/>
          <p:cNvSpPr/>
          <p:nvPr/>
        </p:nvSpPr>
        <p:spPr>
          <a:xfrm>
            <a:off x="457200" y="3703320"/>
            <a:ext cx="3931920" cy="914400"/>
          </a:xfrm>
          <a:prstGeom prst="roundRect">
            <a:avLst>
              <a:gd name="adj" fmla="val 8000"/>
            </a:avLst>
          </a:prstGeom>
          <a:solidFill>
            <a:schemeClr val="tx2"/>
          </a:solidFill>
          <a:ln/>
        </p:spPr>
      </p:sp>
      <p:sp>
        <p:nvSpPr>
          <p:cNvPr id="30" name="boxtext-420"/>
          <p:cNvSpPr txBox="1"/>
          <p:nvPr/>
        </p:nvSpPr>
        <p:spPr>
          <a:xfrm>
            <a:off x="640080" y="3703320"/>
            <a:ext cx="3566160" cy="914400"/>
          </a:xfrm>
          <a:prstGeom prst="rect">
            <a:avLst/>
          </a:prstGeom>
          <a:noFill/>
          <a:ln/>
        </p:spPr>
        <p:txBody>
          <a:bodyPr wrap="square" lIns="0" tIns="0" rIns="0" bIns="0" rtlCol="0" anchor="ctr"/>
          <a:lstStyle/>
          <a:p>
            <a:pPr algn="l" indent="0" marL="0">
              <a:buNone/>
            </a:pPr>
            <a:r>
              <a:rPr lang="en-US" sz="1100" b="1" dirty="0">
                <a:solidFill>
                  <a:schemeClr val="accent2"/>
                </a:solidFill>
              </a:rPr>
              <a:t>Evaluation plan</a:t>
            </a:r>
            <a:endParaRPr lang="en-US" sz="1100" dirty="0"/>
          </a:p>
          <a:p>
            <a:pPr algn="l" indent="0" marL="0">
              <a:buNone/>
            </a:pPr>
            <a:r>
              <a:rPr lang="en-US" sz="1100" dirty="0">
                <a:solidFill>
                  <a:schemeClr val="bg1"/>
                </a:solidFill>
              </a:rPr>
              <a:t>Same legal questions to both systems, scored on defined quality measures; usability measured with SUS (System Usability Scale).</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548640"/>
          </a:xfrm>
          <a:prstGeom prst="rect">
            <a:avLst/>
          </a:prstGeom>
          <a:noFill/>
          <a:ln/>
        </p:spPr>
        <p:txBody>
          <a:bodyPr wrap="square" lIns="0" tIns="0" rIns="0" bIns="0" rtlCol="0" anchor="ctr"/>
          <a:lstStyle/>
          <a:p>
            <a:pPr algn="l" indent="0" marL="0">
              <a:buNone/>
            </a:pPr>
            <a:r>
              <a:rPr lang="en-US" sz="2800" b="1" dirty="0">
                <a:solidFill>
                  <a:schemeClr val="tx2"/>
                </a:solidFill>
              </a:rPr>
              <a:t>Documents and Evidence Checklist</a:t>
            </a:r>
            <a:endParaRPr lang="en-US" sz="2800" dirty="0"/>
          </a:p>
        </p:txBody>
      </p:sp>
      <p:sp>
        <p:nvSpPr>
          <p:cNvPr id="3" name="box-421"/>
          <p:cNvSpPr/>
          <p:nvPr/>
        </p:nvSpPr>
        <p:spPr>
          <a:xfrm>
            <a:off x="457200" y="1097280"/>
            <a:ext cx="1554480" cy="731520"/>
          </a:xfrm>
          <a:prstGeom prst="roundRect">
            <a:avLst>
              <a:gd name="adj" fmla="val 10000"/>
            </a:avLst>
          </a:prstGeom>
          <a:solidFill>
            <a:schemeClr val="accent3"/>
          </a:solidFill>
          <a:ln/>
        </p:spPr>
      </p:sp>
      <p:sp>
        <p:nvSpPr>
          <p:cNvPr id="4" name="boxtext-422"/>
          <p:cNvSpPr txBox="1"/>
          <p:nvPr/>
        </p:nvSpPr>
        <p:spPr>
          <a:xfrm>
            <a:off x="457200" y="1097280"/>
            <a:ext cx="1554480" cy="731520"/>
          </a:xfrm>
          <a:prstGeom prst="rect">
            <a:avLst/>
          </a:prstGeom>
          <a:noFill/>
          <a:ln/>
        </p:spPr>
        <p:txBody>
          <a:bodyPr wrap="square" lIns="762" tIns="762" rIns="762" bIns="762" rtlCol="0" anchor="ctr"/>
          <a:lstStyle/>
          <a:p>
            <a:pPr algn="ctr" indent="0" marL="0">
              <a:buNone/>
            </a:pPr>
            <a:r>
              <a:rPr lang="en-US" sz="1100" b="1" dirty="0">
                <a:solidFill>
                  <a:schemeClr val="tx2"/>
                </a:solidFill>
              </a:rPr>
              <a:t>User uploads agreement, notice or photo</a:t>
            </a:r>
            <a:endParaRPr lang="en-US" sz="1100" dirty="0"/>
          </a:p>
        </p:txBody>
      </p:sp>
      <p:sp>
        <p:nvSpPr>
          <p:cNvPr id="5" name="decision"/>
          <p:cNvSpPr/>
          <p:nvPr/>
        </p:nvSpPr>
        <p:spPr>
          <a:xfrm>
            <a:off x="2331720" y="960120"/>
            <a:ext cx="1463040" cy="1005840"/>
          </a:xfrm>
          <a:prstGeom prst="diamond">
            <a:avLst/>
          </a:prstGeom>
          <a:solidFill>
            <a:schemeClr val="accent2"/>
          </a:solidFill>
          <a:ln/>
        </p:spPr>
      </p:sp>
      <p:sp>
        <p:nvSpPr>
          <p:cNvPr id="6" name="text-423"/>
          <p:cNvSpPr txBox="1"/>
          <p:nvPr/>
        </p:nvSpPr>
        <p:spPr>
          <a:xfrm>
            <a:off x="2514600" y="1188720"/>
            <a:ext cx="1097280" cy="548640"/>
          </a:xfrm>
          <a:prstGeom prst="rect">
            <a:avLst/>
          </a:prstGeom>
          <a:noFill/>
          <a:ln/>
        </p:spPr>
        <p:txBody>
          <a:bodyPr wrap="square" lIns="0" tIns="0" rIns="0" bIns="0" rtlCol="0" anchor="ctr"/>
          <a:lstStyle/>
          <a:p>
            <a:pPr algn="ctr" indent="0" marL="0">
              <a:buNone/>
            </a:pPr>
            <a:r>
              <a:rPr lang="en-US" sz="1100" b="1" dirty="0">
                <a:solidFill>
                  <a:schemeClr val="bg1"/>
                </a:solidFill>
              </a:rPr>
              <a:t>Digital PDF or scan?</a:t>
            </a:r>
            <a:endParaRPr lang="en-US" sz="1100" dirty="0"/>
          </a:p>
        </p:txBody>
      </p:sp>
      <p:sp>
        <p:nvSpPr>
          <p:cNvPr id="7" name="arrow-424"/>
          <p:cNvSpPr/>
          <p:nvPr/>
        </p:nvSpPr>
        <p:spPr>
          <a:xfrm>
            <a:off x="2020824" y="1463040"/>
            <a:ext cx="301752" cy="0"/>
          </a:xfrm>
          <a:prstGeom prst="line">
            <a:avLst/>
          </a:prstGeom>
          <a:noFill/>
          <a:ln w="19050">
            <a:solidFill>
              <a:schemeClr val="accent1"/>
            </a:solidFill>
            <a:prstDash val="solid"/>
            <a:tailEnd type="triangle"/>
          </a:ln>
        </p:spPr>
      </p:sp>
      <p:sp>
        <p:nvSpPr>
          <p:cNvPr id="8" name="box-425"/>
          <p:cNvSpPr/>
          <p:nvPr/>
        </p:nvSpPr>
        <p:spPr>
          <a:xfrm>
            <a:off x="4206240" y="914400"/>
            <a:ext cx="1554480" cy="502920"/>
          </a:xfrm>
          <a:prstGeom prst="roundRect">
            <a:avLst>
              <a:gd name="adj" fmla="val 14545"/>
            </a:avLst>
          </a:prstGeom>
          <a:solidFill>
            <a:schemeClr val="bg2"/>
          </a:solidFill>
          <a:ln/>
        </p:spPr>
      </p:sp>
      <p:sp>
        <p:nvSpPr>
          <p:cNvPr id="9" name="boxtext-426"/>
          <p:cNvSpPr txBox="1"/>
          <p:nvPr/>
        </p:nvSpPr>
        <p:spPr>
          <a:xfrm>
            <a:off x="4206240" y="914400"/>
            <a:ext cx="1554480" cy="502920"/>
          </a:xfrm>
          <a:prstGeom prst="rect">
            <a:avLst/>
          </a:prstGeom>
          <a:noFill/>
          <a:ln/>
        </p:spPr>
        <p:txBody>
          <a:bodyPr wrap="square" lIns="762" tIns="762" rIns="762" bIns="762" rtlCol="0" anchor="ctr"/>
          <a:lstStyle/>
          <a:p>
            <a:pPr algn="ctr" indent="0" marL="0">
              <a:buNone/>
            </a:pPr>
            <a:r>
              <a:rPr lang="en-US" sz="1100" b="1" dirty="0">
                <a:solidFill>
                  <a:schemeClr val="tx2"/>
                </a:solidFill>
              </a:rPr>
              <a:t>PyMuPDF text extraction</a:t>
            </a:r>
            <a:endParaRPr lang="en-US" sz="1100" dirty="0"/>
          </a:p>
        </p:txBody>
      </p:sp>
      <p:sp>
        <p:nvSpPr>
          <p:cNvPr id="10" name="box-427"/>
          <p:cNvSpPr/>
          <p:nvPr/>
        </p:nvSpPr>
        <p:spPr>
          <a:xfrm>
            <a:off x="4206240" y="1508760"/>
            <a:ext cx="1554480" cy="502920"/>
          </a:xfrm>
          <a:prstGeom prst="roundRect">
            <a:avLst>
              <a:gd name="adj" fmla="val 14545"/>
            </a:avLst>
          </a:prstGeom>
          <a:solidFill>
            <a:schemeClr val="bg2"/>
          </a:solidFill>
          <a:ln/>
        </p:spPr>
      </p:sp>
      <p:sp>
        <p:nvSpPr>
          <p:cNvPr id="11" name="boxtext-428"/>
          <p:cNvSpPr txBox="1"/>
          <p:nvPr/>
        </p:nvSpPr>
        <p:spPr>
          <a:xfrm>
            <a:off x="4206240" y="1508760"/>
            <a:ext cx="1554480" cy="502920"/>
          </a:xfrm>
          <a:prstGeom prst="rect">
            <a:avLst/>
          </a:prstGeom>
          <a:noFill/>
          <a:ln/>
        </p:spPr>
        <p:txBody>
          <a:bodyPr wrap="square" lIns="762" tIns="762" rIns="762" bIns="762" rtlCol="0" anchor="ctr"/>
          <a:lstStyle/>
          <a:p>
            <a:pPr algn="ctr" indent="0" marL="0">
              <a:buNone/>
            </a:pPr>
            <a:r>
              <a:rPr lang="en-US" sz="1100" b="1" dirty="0">
                <a:solidFill>
                  <a:schemeClr val="tx2"/>
                </a:solidFill>
              </a:rPr>
              <a:t>OCR for scans and images</a:t>
            </a:r>
            <a:endParaRPr lang="en-US" sz="1100" dirty="0"/>
          </a:p>
        </p:txBody>
      </p:sp>
      <p:sp>
        <p:nvSpPr>
          <p:cNvPr id="12" name="arrow-429"/>
          <p:cNvSpPr/>
          <p:nvPr/>
        </p:nvSpPr>
        <p:spPr>
          <a:xfrm flipV="1">
            <a:off x="3794760" y="1170432"/>
            <a:ext cx="402336" cy="292608"/>
          </a:xfrm>
          <a:prstGeom prst="line">
            <a:avLst/>
          </a:prstGeom>
          <a:noFill/>
          <a:ln w="19050">
            <a:solidFill>
              <a:schemeClr val="accent1"/>
            </a:solidFill>
            <a:prstDash val="solid"/>
            <a:tailEnd type="triangle"/>
          </a:ln>
        </p:spPr>
      </p:sp>
      <p:sp>
        <p:nvSpPr>
          <p:cNvPr id="13" name="arrow-430"/>
          <p:cNvSpPr/>
          <p:nvPr/>
        </p:nvSpPr>
        <p:spPr>
          <a:xfrm>
            <a:off x="3794760" y="1463040"/>
            <a:ext cx="402336" cy="292608"/>
          </a:xfrm>
          <a:prstGeom prst="line">
            <a:avLst/>
          </a:prstGeom>
          <a:noFill/>
          <a:ln w="19050">
            <a:solidFill>
              <a:schemeClr val="accent1"/>
            </a:solidFill>
            <a:prstDash val="solid"/>
            <a:tailEnd type="triangle"/>
          </a:ln>
        </p:spPr>
      </p:sp>
      <p:sp>
        <p:nvSpPr>
          <p:cNvPr id="14" name="text-431"/>
          <p:cNvSpPr txBox="1"/>
          <p:nvPr/>
        </p:nvSpPr>
        <p:spPr>
          <a:xfrm>
            <a:off x="3749040" y="1024128"/>
            <a:ext cx="411480" cy="182880"/>
          </a:xfrm>
          <a:prstGeom prst="rect">
            <a:avLst/>
          </a:prstGeom>
          <a:noFill/>
          <a:ln/>
        </p:spPr>
        <p:txBody>
          <a:bodyPr wrap="square" lIns="0" tIns="0" rIns="0" bIns="0" rtlCol="0" anchor="t"/>
          <a:lstStyle/>
          <a:p>
            <a:pPr indent="0" marL="0">
              <a:buNone/>
            </a:pPr>
            <a:r>
              <a:rPr lang="en-US" sz="1000" dirty="0">
                <a:solidFill>
                  <a:schemeClr val="accent5"/>
                </a:solidFill>
              </a:rPr>
              <a:t>PDF</a:t>
            </a:r>
            <a:endParaRPr lang="en-US" sz="1000" dirty="0"/>
          </a:p>
        </p:txBody>
      </p:sp>
      <p:sp>
        <p:nvSpPr>
          <p:cNvPr id="15" name="text-432"/>
          <p:cNvSpPr txBox="1"/>
          <p:nvPr/>
        </p:nvSpPr>
        <p:spPr>
          <a:xfrm>
            <a:off x="3749040" y="1755648"/>
            <a:ext cx="411480" cy="182880"/>
          </a:xfrm>
          <a:prstGeom prst="rect">
            <a:avLst/>
          </a:prstGeom>
          <a:noFill/>
          <a:ln/>
        </p:spPr>
        <p:txBody>
          <a:bodyPr wrap="square" lIns="0" tIns="0" rIns="0" bIns="0" rtlCol="0" anchor="t"/>
          <a:lstStyle/>
          <a:p>
            <a:pPr indent="0" marL="0">
              <a:buNone/>
            </a:pPr>
            <a:r>
              <a:rPr lang="en-US" sz="1000" dirty="0">
                <a:solidFill>
                  <a:schemeClr val="accent5"/>
                </a:solidFill>
              </a:rPr>
              <a:t>scan</a:t>
            </a:r>
            <a:endParaRPr lang="en-US" sz="1000" dirty="0"/>
          </a:p>
        </p:txBody>
      </p:sp>
      <p:sp>
        <p:nvSpPr>
          <p:cNvPr id="16" name="box-433"/>
          <p:cNvSpPr/>
          <p:nvPr/>
        </p:nvSpPr>
        <p:spPr>
          <a:xfrm>
            <a:off x="6126480" y="1097280"/>
            <a:ext cx="2560320" cy="731520"/>
          </a:xfrm>
          <a:prstGeom prst="roundRect">
            <a:avLst>
              <a:gd name="adj" fmla="val 10000"/>
            </a:avLst>
          </a:prstGeom>
          <a:solidFill>
            <a:schemeClr val="tx2"/>
          </a:solidFill>
          <a:ln/>
        </p:spPr>
      </p:sp>
      <p:sp>
        <p:nvSpPr>
          <p:cNvPr id="17" name="boxtext-434"/>
          <p:cNvSpPr txBox="1"/>
          <p:nvPr/>
        </p:nvSpPr>
        <p:spPr>
          <a:xfrm>
            <a:off x="6126480" y="1097280"/>
            <a:ext cx="2560320" cy="731520"/>
          </a:xfrm>
          <a:prstGeom prst="rect">
            <a:avLst/>
          </a:prstGeom>
          <a:noFill/>
          <a:ln/>
        </p:spPr>
        <p:txBody>
          <a:bodyPr wrap="square" lIns="762" tIns="762" rIns="762" bIns="762" rtlCol="0" anchor="ctr"/>
          <a:lstStyle/>
          <a:p>
            <a:pPr algn="ctr" indent="0" marL="0">
              <a:buNone/>
            </a:pPr>
            <a:r>
              <a:rPr lang="en-US" sz="1100" b="1" dirty="0">
                <a:solidFill>
                  <a:schemeClr val="bg1"/>
                </a:solidFill>
              </a:rPr>
              <a:t>Extract relevant text and clauses, link to the case</a:t>
            </a:r>
            <a:endParaRPr lang="en-US" sz="1100" dirty="0"/>
          </a:p>
        </p:txBody>
      </p:sp>
      <p:sp>
        <p:nvSpPr>
          <p:cNvPr id="18" name="arrow-435"/>
          <p:cNvSpPr/>
          <p:nvPr/>
        </p:nvSpPr>
        <p:spPr>
          <a:xfrm>
            <a:off x="5769864" y="1170432"/>
            <a:ext cx="347472" cy="201168"/>
          </a:xfrm>
          <a:prstGeom prst="line">
            <a:avLst/>
          </a:prstGeom>
          <a:noFill/>
          <a:ln w="19050">
            <a:solidFill>
              <a:schemeClr val="accent1"/>
            </a:solidFill>
            <a:prstDash val="solid"/>
            <a:tailEnd type="triangle"/>
          </a:ln>
        </p:spPr>
      </p:sp>
      <p:sp>
        <p:nvSpPr>
          <p:cNvPr id="19" name="arrow-436"/>
          <p:cNvSpPr/>
          <p:nvPr/>
        </p:nvSpPr>
        <p:spPr>
          <a:xfrm flipV="1">
            <a:off x="5769864" y="1554480"/>
            <a:ext cx="347472" cy="201168"/>
          </a:xfrm>
          <a:prstGeom prst="line">
            <a:avLst/>
          </a:prstGeom>
          <a:noFill/>
          <a:ln w="19050">
            <a:solidFill>
              <a:schemeClr val="accent1"/>
            </a:solidFill>
            <a:prstDash val="solid"/>
            <a:tailEnd type="triangle"/>
          </a:ln>
        </p:spPr>
      </p:sp>
      <p:sp>
        <p:nvSpPr>
          <p:cNvPr id="20" name="text-437"/>
          <p:cNvSpPr txBox="1"/>
          <p:nvPr/>
        </p:nvSpPr>
        <p:spPr>
          <a:xfrm>
            <a:off x="457200" y="2240280"/>
            <a:ext cx="4572000" cy="274320"/>
          </a:xfrm>
          <a:prstGeom prst="rect">
            <a:avLst/>
          </a:prstGeom>
          <a:noFill/>
          <a:ln/>
        </p:spPr>
        <p:txBody>
          <a:bodyPr wrap="square" lIns="0" tIns="0" rIns="0" bIns="0" rtlCol="0" anchor="t"/>
          <a:lstStyle/>
          <a:p>
            <a:pPr indent="0" marL="0">
              <a:buNone/>
            </a:pPr>
            <a:r>
              <a:rPr lang="en-US" sz="1200" b="1" dirty="0">
                <a:solidFill>
                  <a:schemeClr val="tx2"/>
                </a:solidFill>
              </a:rPr>
              <a:t>Combined with retrieved sources, the RAG service produces:</a:t>
            </a:r>
            <a:endParaRPr lang="en-US" sz="1200" dirty="0"/>
          </a:p>
        </p:txBody>
      </p:sp>
      <p:sp>
        <p:nvSpPr>
          <p:cNvPr id="21" name="box-438"/>
          <p:cNvSpPr/>
          <p:nvPr/>
        </p:nvSpPr>
        <p:spPr>
          <a:xfrm>
            <a:off x="457200" y="2606040"/>
            <a:ext cx="4572000" cy="2011680"/>
          </a:xfrm>
          <a:prstGeom prst="roundRect">
            <a:avLst>
              <a:gd name="adj" fmla="val 3636"/>
            </a:avLst>
          </a:prstGeom>
          <a:solidFill>
            <a:schemeClr val="bg2"/>
          </a:solidFill>
          <a:ln/>
        </p:spPr>
      </p:sp>
      <p:sp>
        <p:nvSpPr>
          <p:cNvPr id="22" name="text-439"/>
          <p:cNvSpPr txBox="1"/>
          <p:nvPr/>
        </p:nvSpPr>
        <p:spPr>
          <a:xfrm>
            <a:off x="640080" y="2697480"/>
            <a:ext cx="4206240" cy="256032"/>
          </a:xfrm>
          <a:prstGeom prst="rect">
            <a:avLst/>
          </a:prstGeom>
          <a:noFill/>
          <a:ln/>
        </p:spPr>
        <p:txBody>
          <a:bodyPr wrap="square" lIns="0" tIns="0" rIns="0" bIns="0" rtlCol="0" anchor="t"/>
          <a:lstStyle/>
          <a:p>
            <a:pPr indent="0" marL="0">
              <a:buNone/>
            </a:pPr>
            <a:r>
              <a:rPr lang="en-US" sz="1100" b="1" dirty="0">
                <a:solidFill>
                  <a:schemeClr val="accent5"/>
                </a:solidFill>
              </a:rPr>
              <a:t>Example checklist: tenancy and eviction case (illustrative)</a:t>
            </a:r>
            <a:endParaRPr lang="en-US" sz="1100" dirty="0"/>
          </a:p>
        </p:txBody>
      </p:sp>
      <p:sp>
        <p:nvSpPr>
          <p:cNvPr id="23" name="check-440"/>
          <p:cNvSpPr/>
          <p:nvPr/>
        </p:nvSpPr>
        <p:spPr>
          <a:xfrm>
            <a:off x="685800" y="3054096"/>
            <a:ext cx="182880" cy="182880"/>
          </a:xfrm>
          <a:prstGeom prst="roundRect">
            <a:avLst>
              <a:gd name="adj" fmla="val 15000"/>
            </a:avLst>
          </a:prstGeom>
          <a:solidFill>
            <a:schemeClr val="accent1"/>
          </a:solidFill>
          <a:ln w="12700">
            <a:solidFill>
              <a:schemeClr val="accent1"/>
            </a:solidFill>
            <a:prstDash val="solid"/>
          </a:ln>
        </p:spPr>
      </p:sp>
      <p:sp>
        <p:nvSpPr>
          <p:cNvPr id="24" name="text-441"/>
          <p:cNvSpPr txBox="1"/>
          <p:nvPr/>
        </p:nvSpPr>
        <p:spPr>
          <a:xfrm>
            <a:off x="987552" y="3017520"/>
            <a:ext cx="3931920" cy="256032"/>
          </a:xfrm>
          <a:prstGeom prst="rect">
            <a:avLst/>
          </a:prstGeom>
          <a:noFill/>
          <a:ln/>
        </p:spPr>
        <p:txBody>
          <a:bodyPr wrap="square" lIns="0" tIns="0" rIns="0" bIns="0" rtlCol="0" anchor="ctr"/>
          <a:lstStyle/>
          <a:p>
            <a:pPr indent="0" marL="0">
              <a:buNone/>
            </a:pPr>
            <a:r>
              <a:rPr lang="en-US" sz="1200" dirty="0">
                <a:solidFill>
                  <a:schemeClr val="tx1"/>
                </a:solidFill>
              </a:rPr>
              <a:t>Tenancy agreement  (uploaded)</a:t>
            </a:r>
            <a:endParaRPr lang="en-US" sz="1200" dirty="0"/>
          </a:p>
        </p:txBody>
      </p:sp>
      <p:sp>
        <p:nvSpPr>
          <p:cNvPr id="25" name="check-442"/>
          <p:cNvSpPr/>
          <p:nvPr/>
        </p:nvSpPr>
        <p:spPr>
          <a:xfrm>
            <a:off x="685800" y="3364992"/>
            <a:ext cx="182880" cy="182880"/>
          </a:xfrm>
          <a:prstGeom prst="roundRect">
            <a:avLst>
              <a:gd name="adj" fmla="val 15000"/>
            </a:avLst>
          </a:prstGeom>
          <a:solidFill>
            <a:schemeClr val="accent1"/>
          </a:solidFill>
          <a:ln w="12700">
            <a:solidFill>
              <a:schemeClr val="accent1"/>
            </a:solidFill>
            <a:prstDash val="solid"/>
          </a:ln>
        </p:spPr>
      </p:sp>
      <p:sp>
        <p:nvSpPr>
          <p:cNvPr id="26" name="text-443"/>
          <p:cNvSpPr txBox="1"/>
          <p:nvPr/>
        </p:nvSpPr>
        <p:spPr>
          <a:xfrm>
            <a:off x="987552" y="3328416"/>
            <a:ext cx="3931920" cy="256032"/>
          </a:xfrm>
          <a:prstGeom prst="rect">
            <a:avLst/>
          </a:prstGeom>
          <a:noFill/>
          <a:ln/>
        </p:spPr>
        <p:txBody>
          <a:bodyPr wrap="square" lIns="0" tIns="0" rIns="0" bIns="0" rtlCol="0" anchor="ctr"/>
          <a:lstStyle/>
          <a:p>
            <a:pPr indent="0" marL="0">
              <a:buNone/>
            </a:pPr>
            <a:r>
              <a:rPr lang="en-US" sz="1200" dirty="0">
                <a:solidFill>
                  <a:schemeClr val="tx1"/>
                </a:solidFill>
              </a:rPr>
              <a:t>Rent payment receipts  (uploaded)</a:t>
            </a:r>
            <a:endParaRPr lang="en-US" sz="1200" dirty="0"/>
          </a:p>
        </p:txBody>
      </p:sp>
      <p:sp>
        <p:nvSpPr>
          <p:cNvPr id="27" name="check-444"/>
          <p:cNvSpPr/>
          <p:nvPr/>
        </p:nvSpPr>
        <p:spPr>
          <a:xfrm>
            <a:off x="685800" y="3675888"/>
            <a:ext cx="182880" cy="182880"/>
          </a:xfrm>
          <a:prstGeom prst="roundRect">
            <a:avLst>
              <a:gd name="adj" fmla="val 15000"/>
            </a:avLst>
          </a:prstGeom>
          <a:solidFill>
            <a:schemeClr val="bg1"/>
          </a:solidFill>
          <a:ln w="12700">
            <a:solidFill>
              <a:schemeClr val="accent1"/>
            </a:solidFill>
            <a:prstDash val="solid"/>
          </a:ln>
        </p:spPr>
      </p:sp>
      <p:sp>
        <p:nvSpPr>
          <p:cNvPr id="28" name="text-445"/>
          <p:cNvSpPr txBox="1"/>
          <p:nvPr/>
        </p:nvSpPr>
        <p:spPr>
          <a:xfrm>
            <a:off x="987552" y="3639312"/>
            <a:ext cx="3931920" cy="256032"/>
          </a:xfrm>
          <a:prstGeom prst="rect">
            <a:avLst/>
          </a:prstGeom>
          <a:noFill/>
          <a:ln/>
        </p:spPr>
        <p:txBody>
          <a:bodyPr wrap="square" lIns="0" tIns="0" rIns="0" bIns="0" rtlCol="0" anchor="ctr"/>
          <a:lstStyle/>
          <a:p>
            <a:pPr indent="0" marL="0">
              <a:buNone/>
            </a:pPr>
            <a:r>
              <a:rPr lang="en-US" sz="1200" dirty="0">
                <a:solidFill>
                  <a:schemeClr val="tx1"/>
                </a:solidFill>
              </a:rPr>
              <a:t>Eviction notice (if received)</a:t>
            </a:r>
            <a:endParaRPr lang="en-US" sz="1200" dirty="0"/>
          </a:p>
        </p:txBody>
      </p:sp>
      <p:sp>
        <p:nvSpPr>
          <p:cNvPr id="29" name="check-446"/>
          <p:cNvSpPr/>
          <p:nvPr/>
        </p:nvSpPr>
        <p:spPr>
          <a:xfrm>
            <a:off x="685800" y="3986784"/>
            <a:ext cx="182880" cy="182880"/>
          </a:xfrm>
          <a:prstGeom prst="roundRect">
            <a:avLst>
              <a:gd name="adj" fmla="val 15000"/>
            </a:avLst>
          </a:prstGeom>
          <a:solidFill>
            <a:schemeClr val="bg1"/>
          </a:solidFill>
          <a:ln w="12700">
            <a:solidFill>
              <a:schemeClr val="accent1"/>
            </a:solidFill>
            <a:prstDash val="solid"/>
          </a:ln>
        </p:spPr>
      </p:sp>
      <p:sp>
        <p:nvSpPr>
          <p:cNvPr id="30" name="text-447"/>
          <p:cNvSpPr txBox="1"/>
          <p:nvPr/>
        </p:nvSpPr>
        <p:spPr>
          <a:xfrm>
            <a:off x="987552" y="3950208"/>
            <a:ext cx="3931920" cy="256032"/>
          </a:xfrm>
          <a:prstGeom prst="rect">
            <a:avLst/>
          </a:prstGeom>
          <a:noFill/>
          <a:ln/>
        </p:spPr>
        <p:txBody>
          <a:bodyPr wrap="square" lIns="0" tIns="0" rIns="0" bIns="0" rtlCol="0" anchor="ctr"/>
          <a:lstStyle/>
          <a:p>
            <a:pPr indent="0" marL="0">
              <a:buNone/>
            </a:pPr>
            <a:r>
              <a:rPr lang="en-US" sz="1200" dirty="0">
                <a:solidFill>
                  <a:schemeClr val="tx1"/>
                </a:solidFill>
              </a:rPr>
              <a:t>CNIC copies of both parties</a:t>
            </a:r>
            <a:endParaRPr lang="en-US" sz="1200" dirty="0"/>
          </a:p>
        </p:txBody>
      </p:sp>
      <p:sp>
        <p:nvSpPr>
          <p:cNvPr id="31" name="check-448"/>
          <p:cNvSpPr/>
          <p:nvPr/>
        </p:nvSpPr>
        <p:spPr>
          <a:xfrm>
            <a:off x="685800" y="4297680"/>
            <a:ext cx="182880" cy="182880"/>
          </a:xfrm>
          <a:prstGeom prst="roundRect">
            <a:avLst>
              <a:gd name="adj" fmla="val 15000"/>
            </a:avLst>
          </a:prstGeom>
          <a:solidFill>
            <a:schemeClr val="bg1"/>
          </a:solidFill>
          <a:ln w="12700">
            <a:solidFill>
              <a:schemeClr val="accent1"/>
            </a:solidFill>
            <a:prstDash val="solid"/>
          </a:ln>
        </p:spPr>
      </p:sp>
      <p:sp>
        <p:nvSpPr>
          <p:cNvPr id="32" name="text-449"/>
          <p:cNvSpPr txBox="1"/>
          <p:nvPr/>
        </p:nvSpPr>
        <p:spPr>
          <a:xfrm>
            <a:off x="987552" y="4261104"/>
            <a:ext cx="3931920" cy="256032"/>
          </a:xfrm>
          <a:prstGeom prst="rect">
            <a:avLst/>
          </a:prstGeom>
          <a:noFill/>
          <a:ln/>
        </p:spPr>
        <p:txBody>
          <a:bodyPr wrap="square" lIns="0" tIns="0" rIns="0" bIns="0" rtlCol="0" anchor="ctr"/>
          <a:lstStyle/>
          <a:p>
            <a:pPr indent="0" marL="0">
              <a:buNone/>
            </a:pPr>
            <a:r>
              <a:rPr lang="en-US" sz="1200" dirty="0">
                <a:solidFill>
                  <a:schemeClr val="tx1"/>
                </a:solidFill>
              </a:rPr>
              <a:t>Any messages or letters with the landlord</a:t>
            </a:r>
            <a:endParaRPr lang="en-US" sz="1200" dirty="0"/>
          </a:p>
        </p:txBody>
      </p:sp>
      <p:sp>
        <p:nvSpPr>
          <p:cNvPr id="33" name="box-450"/>
          <p:cNvSpPr/>
          <p:nvPr/>
        </p:nvSpPr>
        <p:spPr>
          <a:xfrm>
            <a:off x="5303520" y="2606040"/>
            <a:ext cx="3383280" cy="2011680"/>
          </a:xfrm>
          <a:prstGeom prst="roundRect">
            <a:avLst>
              <a:gd name="adj" fmla="val 3636"/>
            </a:avLst>
          </a:prstGeom>
          <a:solidFill>
            <a:schemeClr val="tx2"/>
          </a:solidFill>
          <a:ln/>
        </p:spPr>
      </p:sp>
      <p:sp>
        <p:nvSpPr>
          <p:cNvPr id="34" name="text-451"/>
          <p:cNvSpPr txBox="1"/>
          <p:nvPr/>
        </p:nvSpPr>
        <p:spPr>
          <a:xfrm>
            <a:off x="5486400" y="2743200"/>
            <a:ext cx="3063240" cy="1783080"/>
          </a:xfrm>
          <a:prstGeom prst="rect">
            <a:avLst/>
          </a:prstGeom>
          <a:noFill/>
          <a:ln/>
        </p:spPr>
        <p:txBody>
          <a:bodyPr wrap="square" lIns="0" tIns="0" rIns="0" bIns="0" rtlCol="0" anchor="t"/>
          <a:lstStyle/>
          <a:p>
            <a:pPr indent="0" marL="0">
              <a:spcAft>
                <a:spcPts val="500"/>
              </a:spcAft>
              <a:buNone/>
            </a:pPr>
            <a:r>
              <a:rPr lang="en-US" sz="1200" b="1" dirty="0">
                <a:solidFill>
                  <a:schemeClr val="accent2"/>
                </a:solidFill>
              </a:rPr>
              <a:t>Why it matters</a:t>
            </a:r>
            <a:endParaRPr lang="en-US" sz="1200" dirty="0"/>
          </a:p>
          <a:p>
            <a:pPr marL="342900" indent="-342900">
              <a:spcAft>
                <a:spcPts val="500"/>
              </a:spcAft>
              <a:buSzPct val="100000"/>
              <a:buChar char="•"/>
            </a:pPr>
            <a:r>
              <a:rPr lang="en-US" sz="1200" dirty="0">
                <a:solidFill>
                  <a:schemeClr val="bg1"/>
                </a:solidFill>
              </a:rPr>
              <a:t>Citizens know exactly what to prepare before meeting a lawyer.</a:t>
            </a:r>
            <a:endParaRPr lang="en-US" sz="1200" dirty="0"/>
          </a:p>
          <a:p>
            <a:pPr marL="342900" indent="-342900">
              <a:spcAft>
                <a:spcPts val="500"/>
              </a:spcAft>
              <a:buSzPct val="100000"/>
              <a:buChar char="•"/>
            </a:pPr>
            <a:r>
              <a:rPr lang="en-US" sz="1200" dirty="0">
                <a:solidFill>
                  <a:schemeClr val="bg1"/>
                </a:solidFill>
              </a:rPr>
              <a:t>Lawyers receive better-prepared, better-documented cases.</a:t>
            </a:r>
            <a:endParaRPr lang="en-US" sz="1200" dirty="0"/>
          </a:p>
          <a:p>
            <a:pPr marL="342900" indent="-342900">
              <a:spcAft>
                <a:spcPts val="500"/>
              </a:spcAft>
              <a:buSzPct val="100000"/>
              <a:buChar char="•"/>
            </a:pPr>
            <a:r>
              <a:rPr lang="en-US" sz="1200" dirty="0">
                <a:solidFill>
                  <a:schemeClr val="bg1"/>
                </a:solidFill>
              </a:rPr>
              <a:t>No competitor reviewed mentions OCR or evidence checklists.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548640"/>
          </a:xfrm>
          <a:prstGeom prst="rect">
            <a:avLst/>
          </a:prstGeom>
          <a:noFill/>
          <a:ln/>
        </p:spPr>
        <p:txBody>
          <a:bodyPr wrap="square" lIns="0" tIns="0" rIns="0" bIns="0" rtlCol="0" anchor="ctr"/>
          <a:lstStyle/>
          <a:p>
            <a:pPr algn="l" indent="0" marL="0">
              <a:buNone/>
            </a:pPr>
            <a:r>
              <a:rPr lang="en-US" sz="2800" b="1" dirty="0">
                <a:solidFill>
                  <a:schemeClr val="tx2"/>
                </a:solidFill>
              </a:rPr>
              <a:t>Quick Answers to Likely Questions</a:t>
            </a:r>
            <a:endParaRPr lang="en-US" sz="2800" dirty="0"/>
          </a:p>
        </p:txBody>
      </p:sp>
      <p:sp>
        <p:nvSpPr>
          <p:cNvPr id="3" name="box-452"/>
          <p:cNvSpPr/>
          <p:nvPr/>
        </p:nvSpPr>
        <p:spPr>
          <a:xfrm>
            <a:off x="457200" y="1005840"/>
            <a:ext cx="2615184" cy="1691640"/>
          </a:xfrm>
          <a:prstGeom prst="roundRect">
            <a:avLst>
              <a:gd name="adj" fmla="val 4324"/>
            </a:avLst>
          </a:prstGeom>
          <a:solidFill>
            <a:schemeClr val="bg2"/>
          </a:solidFill>
          <a:ln/>
        </p:spPr>
      </p:sp>
      <p:sp>
        <p:nvSpPr>
          <p:cNvPr id="4" name="qbadge-453"/>
          <p:cNvSpPr/>
          <p:nvPr/>
        </p:nvSpPr>
        <p:spPr>
          <a:xfrm>
            <a:off x="594360" y="1143000"/>
            <a:ext cx="329184" cy="329184"/>
          </a:xfrm>
          <a:prstGeom prst="ellipse">
            <a:avLst/>
          </a:prstGeom>
          <a:solidFill>
            <a:schemeClr val="accent2"/>
          </a:solidFill>
          <a:ln/>
        </p:spPr>
      </p:sp>
      <p:sp>
        <p:nvSpPr>
          <p:cNvPr id="5" name="text-454"/>
          <p:cNvSpPr txBox="1"/>
          <p:nvPr/>
        </p:nvSpPr>
        <p:spPr>
          <a:xfrm>
            <a:off x="594360" y="11430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Q</a:t>
            </a:r>
            <a:endParaRPr lang="en-US" sz="1300" dirty="0"/>
          </a:p>
        </p:txBody>
      </p:sp>
      <p:sp>
        <p:nvSpPr>
          <p:cNvPr id="6" name="text-455"/>
          <p:cNvSpPr txBox="1"/>
          <p:nvPr/>
        </p:nvSpPr>
        <p:spPr>
          <a:xfrm>
            <a:off x="1005840" y="1115568"/>
            <a:ext cx="1965960" cy="384048"/>
          </a:xfrm>
          <a:prstGeom prst="rect">
            <a:avLst/>
          </a:prstGeom>
          <a:noFill/>
          <a:ln/>
        </p:spPr>
        <p:txBody>
          <a:bodyPr wrap="square" lIns="0" tIns="0" rIns="0" bIns="0" rtlCol="0" anchor="ctr"/>
          <a:lstStyle/>
          <a:p>
            <a:pPr indent="0" marL="0">
              <a:buNone/>
            </a:pPr>
            <a:r>
              <a:rPr lang="en-US" sz="1300" b="1" dirty="0">
                <a:solidFill>
                  <a:schemeClr val="tx2"/>
                </a:solidFill>
              </a:rPr>
              <a:t>Why two databases?</a:t>
            </a:r>
            <a:endParaRPr lang="en-US" sz="1300" dirty="0"/>
          </a:p>
        </p:txBody>
      </p:sp>
      <p:sp>
        <p:nvSpPr>
          <p:cNvPr id="7" name="text-456"/>
          <p:cNvSpPr txBox="1"/>
          <p:nvPr/>
        </p:nvSpPr>
        <p:spPr>
          <a:xfrm>
            <a:off x="594360" y="1600200"/>
            <a:ext cx="2359152" cy="1051560"/>
          </a:xfrm>
          <a:prstGeom prst="rect">
            <a:avLst/>
          </a:prstGeom>
          <a:noFill/>
          <a:ln/>
        </p:spPr>
        <p:txBody>
          <a:bodyPr wrap="square" lIns="0" tIns="0" rIns="0" bIns="0" rtlCol="0" anchor="t"/>
          <a:lstStyle/>
          <a:p>
            <a:pPr indent="0" marL="0">
              <a:buNone/>
            </a:pPr>
            <a:r>
              <a:rPr lang="en-US" sz="1100" dirty="0">
                <a:solidFill>
                  <a:schemeClr val="tx1"/>
                </a:solidFill>
              </a:rPr>
              <a:t>MongoDB holds app data (users, cases). The vector DB holds only legal embeddings for semantic search. Each can be scaled or replaced on its own.</a:t>
            </a:r>
            <a:endParaRPr lang="en-US" sz="1100" dirty="0"/>
          </a:p>
        </p:txBody>
      </p:sp>
      <p:sp>
        <p:nvSpPr>
          <p:cNvPr id="8" name="box-457"/>
          <p:cNvSpPr/>
          <p:nvPr/>
        </p:nvSpPr>
        <p:spPr>
          <a:xfrm>
            <a:off x="3264408" y="1005840"/>
            <a:ext cx="2615184" cy="1691640"/>
          </a:xfrm>
          <a:prstGeom prst="roundRect">
            <a:avLst>
              <a:gd name="adj" fmla="val 4324"/>
            </a:avLst>
          </a:prstGeom>
          <a:solidFill>
            <a:schemeClr val="bg2"/>
          </a:solidFill>
          <a:ln/>
        </p:spPr>
      </p:sp>
      <p:sp>
        <p:nvSpPr>
          <p:cNvPr id="9" name="qbadge-458"/>
          <p:cNvSpPr/>
          <p:nvPr/>
        </p:nvSpPr>
        <p:spPr>
          <a:xfrm>
            <a:off x="3401568" y="1143000"/>
            <a:ext cx="329184" cy="329184"/>
          </a:xfrm>
          <a:prstGeom prst="ellipse">
            <a:avLst/>
          </a:prstGeom>
          <a:solidFill>
            <a:schemeClr val="accent2"/>
          </a:solidFill>
          <a:ln/>
        </p:spPr>
      </p:sp>
      <p:sp>
        <p:nvSpPr>
          <p:cNvPr id="10" name="text-459"/>
          <p:cNvSpPr txBox="1"/>
          <p:nvPr/>
        </p:nvSpPr>
        <p:spPr>
          <a:xfrm>
            <a:off x="3401568" y="11430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Q</a:t>
            </a:r>
            <a:endParaRPr lang="en-US" sz="1300" dirty="0"/>
          </a:p>
        </p:txBody>
      </p:sp>
      <p:sp>
        <p:nvSpPr>
          <p:cNvPr id="11" name="text-460"/>
          <p:cNvSpPr txBox="1"/>
          <p:nvPr/>
        </p:nvSpPr>
        <p:spPr>
          <a:xfrm>
            <a:off x="3813048" y="1115568"/>
            <a:ext cx="1965960" cy="384048"/>
          </a:xfrm>
          <a:prstGeom prst="rect">
            <a:avLst/>
          </a:prstGeom>
          <a:noFill/>
          <a:ln/>
        </p:spPr>
        <p:txBody>
          <a:bodyPr wrap="square" lIns="0" tIns="0" rIns="0" bIns="0" rtlCol="0" anchor="ctr"/>
          <a:lstStyle/>
          <a:p>
            <a:pPr indent="0" marL="0">
              <a:buNone/>
            </a:pPr>
            <a:r>
              <a:rPr lang="en-US" sz="1300" b="1" dirty="0">
                <a:solidFill>
                  <a:schemeClr val="tx2"/>
                </a:solidFill>
              </a:rPr>
              <a:t>Which vector DB and LLM?</a:t>
            </a:r>
            <a:endParaRPr lang="en-US" sz="1300" dirty="0"/>
          </a:p>
        </p:txBody>
      </p:sp>
      <p:sp>
        <p:nvSpPr>
          <p:cNvPr id="12" name="text-461"/>
          <p:cNvSpPr txBox="1"/>
          <p:nvPr/>
        </p:nvSpPr>
        <p:spPr>
          <a:xfrm>
            <a:off x="3401568" y="1600200"/>
            <a:ext cx="2359152" cy="1051560"/>
          </a:xfrm>
          <a:prstGeom prst="rect">
            <a:avLst/>
          </a:prstGeom>
          <a:noFill/>
          <a:ln/>
        </p:spPr>
        <p:txBody>
          <a:bodyPr wrap="square" lIns="0" tIns="0" rIns="0" bIns="0" rtlCol="0" anchor="t"/>
          <a:lstStyle/>
          <a:p>
            <a:pPr indent="0" marL="0">
              <a:buNone/>
            </a:pPr>
            <a:r>
              <a:rPr lang="en-US" sz="1100" dirty="0">
                <a:solidFill>
                  <a:schemeClr val="tx1"/>
                </a:solidFill>
              </a:rPr>
              <a:t>FAISS, Chroma or Qdrant, chosen after testing. An open-source LLM so it runs without a paid service.</a:t>
            </a:r>
            <a:endParaRPr lang="en-US" sz="1100" dirty="0"/>
          </a:p>
        </p:txBody>
      </p:sp>
      <p:sp>
        <p:nvSpPr>
          <p:cNvPr id="13" name="box-462"/>
          <p:cNvSpPr/>
          <p:nvPr/>
        </p:nvSpPr>
        <p:spPr>
          <a:xfrm>
            <a:off x="6071616" y="1005840"/>
            <a:ext cx="2615184" cy="1691640"/>
          </a:xfrm>
          <a:prstGeom prst="roundRect">
            <a:avLst>
              <a:gd name="adj" fmla="val 4324"/>
            </a:avLst>
          </a:prstGeom>
          <a:solidFill>
            <a:schemeClr val="bg2"/>
          </a:solidFill>
          <a:ln/>
        </p:spPr>
      </p:sp>
      <p:sp>
        <p:nvSpPr>
          <p:cNvPr id="14" name="qbadge-463"/>
          <p:cNvSpPr/>
          <p:nvPr/>
        </p:nvSpPr>
        <p:spPr>
          <a:xfrm>
            <a:off x="6208776" y="1143000"/>
            <a:ext cx="329184" cy="329184"/>
          </a:xfrm>
          <a:prstGeom prst="ellipse">
            <a:avLst/>
          </a:prstGeom>
          <a:solidFill>
            <a:schemeClr val="accent2"/>
          </a:solidFill>
          <a:ln/>
        </p:spPr>
      </p:sp>
      <p:sp>
        <p:nvSpPr>
          <p:cNvPr id="15" name="text-464"/>
          <p:cNvSpPr txBox="1"/>
          <p:nvPr/>
        </p:nvSpPr>
        <p:spPr>
          <a:xfrm>
            <a:off x="6208776" y="11430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Q</a:t>
            </a:r>
            <a:endParaRPr lang="en-US" sz="1300" dirty="0"/>
          </a:p>
        </p:txBody>
      </p:sp>
      <p:sp>
        <p:nvSpPr>
          <p:cNvPr id="16" name="text-465"/>
          <p:cNvSpPr txBox="1"/>
          <p:nvPr/>
        </p:nvSpPr>
        <p:spPr>
          <a:xfrm>
            <a:off x="6620256" y="1115568"/>
            <a:ext cx="1965960" cy="384048"/>
          </a:xfrm>
          <a:prstGeom prst="rect">
            <a:avLst/>
          </a:prstGeom>
          <a:noFill/>
          <a:ln/>
        </p:spPr>
        <p:txBody>
          <a:bodyPr wrap="square" lIns="0" tIns="0" rIns="0" bIns="0" rtlCol="0" anchor="ctr"/>
          <a:lstStyle/>
          <a:p>
            <a:pPr indent="0" marL="0">
              <a:buNone/>
            </a:pPr>
            <a:r>
              <a:rPr lang="en-US" sz="1300" b="1" dirty="0">
                <a:solidFill>
                  <a:schemeClr val="tx2"/>
                </a:solidFill>
              </a:rPr>
              <a:t>How do you stop hallucinations?</a:t>
            </a:r>
            <a:endParaRPr lang="en-US" sz="1300" dirty="0"/>
          </a:p>
        </p:txBody>
      </p:sp>
      <p:sp>
        <p:nvSpPr>
          <p:cNvPr id="17" name="text-466"/>
          <p:cNvSpPr txBox="1"/>
          <p:nvPr/>
        </p:nvSpPr>
        <p:spPr>
          <a:xfrm>
            <a:off x="6208776" y="1600200"/>
            <a:ext cx="2359152" cy="1051560"/>
          </a:xfrm>
          <a:prstGeom prst="rect">
            <a:avLst/>
          </a:prstGeom>
          <a:noFill/>
          <a:ln/>
        </p:spPr>
        <p:txBody>
          <a:bodyPr wrap="square" lIns="0" tIns="0" rIns="0" bIns="0" rtlCol="0" anchor="t"/>
          <a:lstStyle/>
          <a:p>
            <a:pPr indent="0" marL="0">
              <a:buNone/>
            </a:pPr>
            <a:r>
              <a:rPr lang="en-US" sz="1100" dirty="0">
                <a:solidFill>
                  <a:schemeClr val="tx1"/>
                </a:solidFill>
              </a:rPr>
              <a:t>The LLM only sees retrieved, verified text, must cite [S#], and a source and citation check runs before the answer is shown.</a:t>
            </a:r>
            <a:endParaRPr lang="en-US" sz="1100" dirty="0"/>
          </a:p>
        </p:txBody>
      </p:sp>
      <p:sp>
        <p:nvSpPr>
          <p:cNvPr id="18" name="box-467"/>
          <p:cNvSpPr/>
          <p:nvPr/>
        </p:nvSpPr>
        <p:spPr>
          <a:xfrm>
            <a:off x="457200" y="2834640"/>
            <a:ext cx="2615184" cy="1691640"/>
          </a:xfrm>
          <a:prstGeom prst="roundRect">
            <a:avLst>
              <a:gd name="adj" fmla="val 4324"/>
            </a:avLst>
          </a:prstGeom>
          <a:solidFill>
            <a:schemeClr val="bg2"/>
          </a:solidFill>
          <a:ln/>
        </p:spPr>
      </p:sp>
      <p:sp>
        <p:nvSpPr>
          <p:cNvPr id="19" name="qbadge-468"/>
          <p:cNvSpPr/>
          <p:nvPr/>
        </p:nvSpPr>
        <p:spPr>
          <a:xfrm>
            <a:off x="594360" y="2971800"/>
            <a:ext cx="329184" cy="329184"/>
          </a:xfrm>
          <a:prstGeom prst="ellipse">
            <a:avLst/>
          </a:prstGeom>
          <a:solidFill>
            <a:schemeClr val="accent2"/>
          </a:solidFill>
          <a:ln/>
        </p:spPr>
      </p:sp>
      <p:sp>
        <p:nvSpPr>
          <p:cNvPr id="20" name="text-469"/>
          <p:cNvSpPr txBox="1"/>
          <p:nvPr/>
        </p:nvSpPr>
        <p:spPr>
          <a:xfrm>
            <a:off x="594360" y="29718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Q</a:t>
            </a:r>
            <a:endParaRPr lang="en-US" sz="1300" dirty="0"/>
          </a:p>
        </p:txBody>
      </p:sp>
      <p:sp>
        <p:nvSpPr>
          <p:cNvPr id="21" name="text-470"/>
          <p:cNvSpPr txBox="1"/>
          <p:nvPr/>
        </p:nvSpPr>
        <p:spPr>
          <a:xfrm>
            <a:off x="1005840" y="2944368"/>
            <a:ext cx="1965960" cy="384048"/>
          </a:xfrm>
          <a:prstGeom prst="rect">
            <a:avLst/>
          </a:prstGeom>
          <a:noFill/>
          <a:ln/>
        </p:spPr>
        <p:txBody>
          <a:bodyPr wrap="square" lIns="0" tIns="0" rIns="0" bIns="0" rtlCol="0" anchor="ctr"/>
          <a:lstStyle/>
          <a:p>
            <a:pPr indent="0" marL="0">
              <a:buNone/>
            </a:pPr>
            <a:r>
              <a:rPr lang="en-US" sz="1300" b="1" dirty="0">
                <a:solidFill>
                  <a:schemeClr val="tx2"/>
                </a:solidFill>
              </a:rPr>
              <a:t>What if no source matches?</a:t>
            </a:r>
            <a:endParaRPr lang="en-US" sz="1300" dirty="0"/>
          </a:p>
        </p:txBody>
      </p:sp>
      <p:sp>
        <p:nvSpPr>
          <p:cNvPr id="22" name="text-471"/>
          <p:cNvSpPr txBox="1"/>
          <p:nvPr/>
        </p:nvSpPr>
        <p:spPr>
          <a:xfrm>
            <a:off x="594360" y="3429000"/>
            <a:ext cx="2359152" cy="1051560"/>
          </a:xfrm>
          <a:prstGeom prst="rect">
            <a:avLst/>
          </a:prstGeom>
          <a:noFill/>
          <a:ln/>
        </p:spPr>
        <p:txBody>
          <a:bodyPr wrap="square" lIns="0" tIns="0" rIns="0" bIns="0" rtlCol="0" anchor="t"/>
          <a:lstStyle/>
          <a:p>
            <a:pPr indent="0" marL="0">
              <a:buNone/>
            </a:pPr>
            <a:r>
              <a:rPr lang="en-US" sz="1100" dirty="0">
                <a:solidFill>
                  <a:schemeClr val="tx1"/>
                </a:solidFill>
              </a:rPr>
              <a:t>Planned behaviour: say no verified source was found and point the user to a verified lawyer instead of guessing.</a:t>
            </a:r>
            <a:endParaRPr lang="en-US" sz="1100" dirty="0"/>
          </a:p>
        </p:txBody>
      </p:sp>
      <p:sp>
        <p:nvSpPr>
          <p:cNvPr id="23" name="box-472"/>
          <p:cNvSpPr/>
          <p:nvPr/>
        </p:nvSpPr>
        <p:spPr>
          <a:xfrm>
            <a:off x="3264408" y="2834640"/>
            <a:ext cx="2615184" cy="1691640"/>
          </a:xfrm>
          <a:prstGeom prst="roundRect">
            <a:avLst>
              <a:gd name="adj" fmla="val 4324"/>
            </a:avLst>
          </a:prstGeom>
          <a:solidFill>
            <a:schemeClr val="bg2"/>
          </a:solidFill>
          <a:ln/>
        </p:spPr>
      </p:sp>
      <p:sp>
        <p:nvSpPr>
          <p:cNvPr id="24" name="qbadge-473"/>
          <p:cNvSpPr/>
          <p:nvPr/>
        </p:nvSpPr>
        <p:spPr>
          <a:xfrm>
            <a:off x="3401568" y="2971800"/>
            <a:ext cx="329184" cy="329184"/>
          </a:xfrm>
          <a:prstGeom prst="ellipse">
            <a:avLst/>
          </a:prstGeom>
          <a:solidFill>
            <a:schemeClr val="accent2"/>
          </a:solidFill>
          <a:ln/>
        </p:spPr>
      </p:sp>
      <p:sp>
        <p:nvSpPr>
          <p:cNvPr id="25" name="text-474"/>
          <p:cNvSpPr txBox="1"/>
          <p:nvPr/>
        </p:nvSpPr>
        <p:spPr>
          <a:xfrm>
            <a:off x="3401568" y="29718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Q</a:t>
            </a:r>
            <a:endParaRPr lang="en-US" sz="1300" dirty="0"/>
          </a:p>
        </p:txBody>
      </p:sp>
      <p:sp>
        <p:nvSpPr>
          <p:cNvPr id="26" name="text-475"/>
          <p:cNvSpPr txBox="1"/>
          <p:nvPr/>
        </p:nvSpPr>
        <p:spPr>
          <a:xfrm>
            <a:off x="3813048" y="2944368"/>
            <a:ext cx="1965960" cy="384048"/>
          </a:xfrm>
          <a:prstGeom prst="rect">
            <a:avLst/>
          </a:prstGeom>
          <a:noFill/>
          <a:ln/>
        </p:spPr>
        <p:txBody>
          <a:bodyPr wrap="square" lIns="0" tIns="0" rIns="0" bIns="0" rtlCol="0" anchor="ctr"/>
          <a:lstStyle/>
          <a:p>
            <a:pPr indent="0" marL="0">
              <a:buNone/>
            </a:pPr>
            <a:r>
              <a:rPr lang="en-US" sz="1300" b="1" dirty="0">
                <a:solidFill>
                  <a:schemeClr val="tx2"/>
                </a:solidFill>
              </a:rPr>
              <a:t>Does it replace lawyers?</a:t>
            </a:r>
            <a:endParaRPr lang="en-US" sz="1300" dirty="0"/>
          </a:p>
        </p:txBody>
      </p:sp>
      <p:sp>
        <p:nvSpPr>
          <p:cNvPr id="27" name="text-476"/>
          <p:cNvSpPr txBox="1"/>
          <p:nvPr/>
        </p:nvSpPr>
        <p:spPr>
          <a:xfrm>
            <a:off x="3401568" y="3429000"/>
            <a:ext cx="2359152" cy="1051560"/>
          </a:xfrm>
          <a:prstGeom prst="rect">
            <a:avLst/>
          </a:prstGeom>
          <a:noFill/>
          <a:ln/>
        </p:spPr>
        <p:txBody>
          <a:bodyPr wrap="square" lIns="0" tIns="0" rIns="0" bIns="0" rtlCol="0" anchor="t"/>
          <a:lstStyle/>
          <a:p>
            <a:pPr indent="0" marL="0">
              <a:buNone/>
            </a:pPr>
            <a:r>
              <a:rPr lang="en-US" sz="1100" dirty="0">
                <a:solidFill>
                  <a:schemeClr val="tx1"/>
                </a:solidFill>
              </a:rPr>
              <a:t>No. It supports understanding. Matters needing professional judgment should always be reviewed by a lawyer.</a:t>
            </a:r>
            <a:endParaRPr lang="en-US" sz="1100" dirty="0"/>
          </a:p>
        </p:txBody>
      </p:sp>
      <p:sp>
        <p:nvSpPr>
          <p:cNvPr id="28" name="box-477"/>
          <p:cNvSpPr/>
          <p:nvPr/>
        </p:nvSpPr>
        <p:spPr>
          <a:xfrm>
            <a:off x="6071616" y="2834640"/>
            <a:ext cx="2615184" cy="1691640"/>
          </a:xfrm>
          <a:prstGeom prst="roundRect">
            <a:avLst>
              <a:gd name="adj" fmla="val 4324"/>
            </a:avLst>
          </a:prstGeom>
          <a:solidFill>
            <a:schemeClr val="bg2"/>
          </a:solidFill>
          <a:ln/>
        </p:spPr>
      </p:sp>
      <p:sp>
        <p:nvSpPr>
          <p:cNvPr id="29" name="qbadge-478"/>
          <p:cNvSpPr/>
          <p:nvPr/>
        </p:nvSpPr>
        <p:spPr>
          <a:xfrm>
            <a:off x="6208776" y="2971800"/>
            <a:ext cx="329184" cy="329184"/>
          </a:xfrm>
          <a:prstGeom prst="ellipse">
            <a:avLst/>
          </a:prstGeom>
          <a:solidFill>
            <a:schemeClr val="accent2"/>
          </a:solidFill>
          <a:ln/>
        </p:spPr>
      </p:sp>
      <p:sp>
        <p:nvSpPr>
          <p:cNvPr id="30" name="text-479"/>
          <p:cNvSpPr txBox="1"/>
          <p:nvPr/>
        </p:nvSpPr>
        <p:spPr>
          <a:xfrm>
            <a:off x="6208776" y="29718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Q</a:t>
            </a:r>
            <a:endParaRPr lang="en-US" sz="1300" dirty="0"/>
          </a:p>
        </p:txBody>
      </p:sp>
      <p:sp>
        <p:nvSpPr>
          <p:cNvPr id="31" name="text-480"/>
          <p:cNvSpPr txBox="1"/>
          <p:nvPr/>
        </p:nvSpPr>
        <p:spPr>
          <a:xfrm>
            <a:off x="6620256" y="2944368"/>
            <a:ext cx="1965960" cy="384048"/>
          </a:xfrm>
          <a:prstGeom prst="rect">
            <a:avLst/>
          </a:prstGeom>
          <a:noFill/>
          <a:ln/>
        </p:spPr>
        <p:txBody>
          <a:bodyPr wrap="square" lIns="0" tIns="0" rIns="0" bIns="0" rtlCol="0" anchor="ctr"/>
          <a:lstStyle/>
          <a:p>
            <a:pPr indent="0" marL="0">
              <a:buNone/>
            </a:pPr>
            <a:r>
              <a:rPr lang="en-US" sz="1300" b="1" dirty="0">
                <a:solidFill>
                  <a:schemeClr val="tx2"/>
                </a:solidFill>
              </a:rPr>
              <a:t>Why only property and family?</a:t>
            </a:r>
            <a:endParaRPr lang="en-US" sz="1300" dirty="0"/>
          </a:p>
        </p:txBody>
      </p:sp>
      <p:sp>
        <p:nvSpPr>
          <p:cNvPr id="32" name="text-481"/>
          <p:cNvSpPr txBox="1"/>
          <p:nvPr/>
        </p:nvSpPr>
        <p:spPr>
          <a:xfrm>
            <a:off x="6208776" y="3429000"/>
            <a:ext cx="2359152" cy="1051560"/>
          </a:xfrm>
          <a:prstGeom prst="rect">
            <a:avLst/>
          </a:prstGeom>
          <a:noFill/>
          <a:ln/>
        </p:spPr>
        <p:txBody>
          <a:bodyPr wrap="square" lIns="0" tIns="0" rIns="0" bIns="0" rtlCol="0" anchor="t"/>
          <a:lstStyle/>
          <a:p>
            <a:pPr indent="0" marL="0">
              <a:buNone/>
            </a:pPr>
            <a:r>
              <a:rPr lang="en-US" sz="1100" dirty="0">
                <a:solidFill>
                  <a:schemeClr val="tx1"/>
                </a:solidFill>
              </a:rPr>
              <a:t>A smaller, verifiable knowledge base beats a broad, unreliable one. New areas can be added later by adding sources.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Legal Teal">
  <a:themeElements>
    <a:clrScheme name="Legal Teal">
      <a:dk1>
        <a:srgbClr val="1F2A2E"/>
      </a:dk1>
      <a:lt1>
        <a:srgbClr val="FFFFFF"/>
      </a:lt1>
      <a:dk2>
        <a:srgbClr val="0F3D3A"/>
      </a:dk2>
      <a:lt2>
        <a:srgbClr val="EAF4F2"/>
      </a:lt2>
      <a:accent1>
        <a:srgbClr val="2A8C7E"/>
      </a:accent1>
      <a:accent2>
        <a:srgbClr val="C99A2E"/>
      </a:accent2>
      <a:accent3>
        <a:srgbClr val="BFDDD7"/>
      </a:accent3>
      <a:accent4>
        <a:srgbClr val="F6EBD1"/>
      </a:accent4>
      <a:accent5>
        <a:srgbClr val="5B6B70"/>
      </a:accent5>
      <a:accent6>
        <a:srgbClr val="B5523B"/>
      </a:accent6>
      <a:hlink>
        <a:srgbClr val="2A8C7E"/>
      </a:hlink>
      <a:folHlink>
        <a:srgbClr val="5B6B70"/>
      </a:folHlink>
    </a:clrScheme>
    <a:fontScheme name="Legal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Powered Legal Advisor and Analyzer</dc:title>
  <dc:subject>PptxGenJS Presentation</dc:subject>
  <dc:creator>Muhammad Nabeel, Ashir Qureshi, Muhammad Sharjeel</dc:creator>
  <cp:lastModifiedBy>Muhammad Nabeel, Ashir Qureshi, Muhammad Sharjeel</cp:lastModifiedBy>
  <cp:revision>1</cp:revision>
  <dcterms:created xsi:type="dcterms:W3CDTF">2026-10-06T15:34:43Z</dcterms:created>
  <dcterms:modified xsi:type="dcterms:W3CDTF">2026-10-06T15:34:43Z</dcterms:modified>
</cp:coreProperties>
</file>