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Presentation" id="{13afde59-7afd-c9df-06c4-f236e861b10c}">
          <p14:sldIdLst>
            <p14:sldId id="256"/>
            <p14:sldId id="257"/>
            <p14:sldId id="258"/>
            <p14:sldId id="259"/>
            <p14:sldId id="260"/>
            <p14:sldId id="261"/>
            <p14:sldId id="262"/>
            <p14:sldId id="263"/>
            <p14:sldId id="264"/>
            <p14:sldId id="265"/>
          </p14:sldIdLst>
        </p14:section>
        <p14:section name="Additional Slides" id="{01fb2f65-806d-78e2-764d-5b3772fa68ce}">
          <p14:sldIdLst>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supervisor. One line: our platform lets an ordinary person describe a property or family problem in simple words, explains what Pakistani law says with proof (sources), and helps them reach a verified lawyer.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story. Ali is a normal tenant. He has four questions and nobody simple to ask. Laws are scattered and technical, and general chatbots can give answers that cannot be checked, which is dangerous for legal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whole product in three steps: tell, understand, get help. The middle step is where our AI works. The platform supports people; it does not replace a qualified lawyer.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two areas: property and family. Each quote is an example of a real-life question a citizen might type, and the arrow shows which legal topic it maps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arrows. If facts are missing, the system asks a follow-up question and loops back (for Ali: 'Do you have a written agreement?'). If documents are uploaded, they are read first. Then the user gets a simple explanation with sources and a checklist. If they want a lawyer, they choose a verified one, share the case, and track it until it is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chat aloud. The system does not answer immediately; it first asks what is missing. The final answer is short, simple, shows its sources [S1, S2], and tells Ali what to prepare. The legal wording here is an illustrative example, not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means Retrieval-Augmented Generation. Simple version: the AI is not allowed to answer from memory. The Librarian (retrieval) finds the right law pages, the Writer (the LLM) explains only those pages, and the Checker confirms every point has a source. Like an open-book exam where you must write the page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Solid arrows are requests, dashed arrows are replies. Steps 1-3: Ali's question is turned into 'meaning numbers' (an embedding). Steps 4-5: the law library returns the 3 closest sections. Step 6: our server sends those sections to the AI Writer with a strict rule: answer only from these. Step 7: the Writer replies with source tags. Step 8: we check every source. Step 9: Ali gets a simple answer with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happens once: we prepare the law library. Each law section is stored with 'meaning numbers' (embeddings) made by Sentence Transformers. Part B happens for every question: Ali's question gets its own meaning numbers, we compare them with every section, and keep the closest few (top-k). Unrelated law, like custody, scores low and is never shown to the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Layer 1 is what people see in the browser. Layer 2 is the server that does the work; the AI helper (RAG) lives here. Layer 3 stores data: MongoDB for users and cases, file storage for uploaded papers, the law library (vector database) for law sections, and the AI Writer (open-source LLM) that only the AI helper talks to. Two separate databases so each can grow or be replaced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public descriptions (Stanford CodeX TechIndex, July 2026). 'Not stated' means the description does not mention it, not that it is missing. We have not tested these products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workflow step 5. Typed PDFs are read with PyMuPDF; photos and scans are read with OCR (Optical Character Recognition, i.e. reading text from an image). Key clauses are linked to the case and used for the checklist. Checklist items are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Dark cards are the AI parts. Everything is open-source or free to run, so we do not depend on a paid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 bars are the AI-specific work. Exact dates are not fixed yet. All three members share research, data collection, documentation and defense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Q&amp;A. The 'no law matches' behaviour is our planned design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5394960" cy="12801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2331720"/>
            <a:ext cx="5394960" cy="457200"/>
          </a:xfrm>
          <a:prstGeom prst="rect">
            <a:avLst/>
          </a:prstGeom>
          <a:noFill/>
          <a:ln/>
        </p:spPr>
        <p:txBody>
          <a:bodyPr wrap="square" rtlCol="0"/>
          <a:lstStyle>
            <a:lvl1pPr algn="l" indent="0" marL="0">
              <a:buNone/>
              <a:defRPr lang="en-US" sz="1600" i="1" dirty="0">
                <a:solidFill>
                  <a:schemeClr val="accent3"/>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chemeClr val="accent5"/>
                </a:solidFill>
              </a:rPr>
              <a:t>AI Powered Legal Advisor and Analyzer  |  CUST FYP Fall 2026</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dditional">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5486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chemeClr val="accent5"/>
                </a:solidFill>
              </a:rPr>
              <a:t>AI Powered Legal Advisor and Analyzer  |  CUST FYP Fall 2026</a:t>
            </a:r>
            <a:endParaRPr lang="en-US" sz="1000" dirty="0"/>
          </a:p>
        </p:txBody>
      </p:sp>
      <p:sp>
        <p:nvSpPr>
          <p:cNvPr id="4" name="Shape 1"/>
          <p:cNvSpPr/>
          <p:nvPr/>
        </p:nvSpPr>
        <p:spPr>
          <a:xfrm>
            <a:off x="7178040" y="393192"/>
            <a:ext cx="1508760" cy="310896"/>
          </a:xfrm>
          <a:prstGeom prst="rect">
            <a:avLst>
              <a:gd name="adj" fmla="val 50000"/>
            </a:avLst>
          </a:prstGeom>
          <a:solidFill>
            <a:schemeClr val="accent2"/>
          </a:solidFill>
          <a:ln/>
        </p:spPr>
      </p:sp>
      <p:sp>
        <p:nvSpPr>
          <p:cNvPr id="5" name="Text 2"/>
          <p:cNvSpPr/>
          <p:nvPr/>
        </p:nvSpPr>
        <p:spPr>
          <a:xfrm>
            <a:off x="7178040" y="393192"/>
            <a:ext cx="1508760" cy="310896"/>
          </a:xfrm>
          <a:prstGeom prst="rect">
            <a:avLst/>
          </a:prstGeom>
          <a:noFill/>
          <a:ln/>
        </p:spPr>
        <p:txBody>
          <a:bodyPr wrap="square" lIns="0" tIns="0" rIns="0" bIns="0" rtlCol="0" anchor="ctr"/>
          <a:lstStyle/>
          <a:p>
            <a:pPr algn="ctr" indent="0" marL="0">
              <a:buNone/>
            </a:pPr>
            <a:r>
              <a:rPr lang="en-US" sz="1000" b="1" spc="100" kern="0" dirty="0">
                <a:solidFill>
                  <a:schemeClr val="bg1"/>
                </a:solidFill>
              </a:rPr>
              <a:t>ADDITIONAL SLIDE</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4.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5394960" cy="1280160"/>
          </a:xfrm>
          <a:prstGeom prst="rect">
            <a:avLst/>
          </a:prstGeom>
          <a:noFill/>
          <a:ln/>
        </p:spPr>
        <p:txBody>
          <a:bodyPr wrap="square" lIns="0" tIns="0" rIns="0" bIns="0" rtlCol="0" anchor="b"/>
          <a:lstStyle/>
          <a:p>
            <a:pPr algn="l" indent="0" marL="0">
              <a:buNone/>
            </a:pPr>
            <a:r>
              <a:rPr lang="en-US" sz="3400" b="1" dirty="0">
                <a:solidFill>
                  <a:schemeClr val="bg1"/>
                </a:solidFill>
              </a:rPr>
              <a:t>AI Powered Legal Advisor and Analyzer</a:t>
            </a:r>
            <a:endParaRPr lang="en-US" sz="3400" dirty="0"/>
          </a:p>
        </p:txBody>
      </p:sp>
      <p:sp>
        <p:nvSpPr>
          <p:cNvPr id="3" name="Text 0"/>
          <p:cNvSpPr/>
          <p:nvPr>
            <p:ph idx="101" type="body" hasCustomPrompt="1"/>
          </p:nvPr>
        </p:nvSpPr>
        <p:spPr>
          <a:xfrm>
            <a:off x="548640" y="2331720"/>
            <a:ext cx="5394960" cy="457200"/>
          </a:xfrm>
          <a:prstGeom prst="rect">
            <a:avLst/>
          </a:prstGeom>
          <a:noFill/>
          <a:ln/>
        </p:spPr>
        <p:txBody>
          <a:bodyPr wrap="square" lIns="0" tIns="0" rIns="0" bIns="0" rtlCol="0" anchor="t"/>
          <a:lstStyle/>
          <a:p>
            <a:pPr algn="l" indent="0" marL="0">
              <a:buNone/>
            </a:pPr>
            <a:r>
              <a:rPr lang="en-US" sz="1600" i="1" dirty="0">
                <a:solidFill>
                  <a:schemeClr val="accent3"/>
                </a:solidFill>
              </a:rPr>
              <a:t>Legal help for Pakistani citizens, in simple words</a:t>
            </a:r>
            <a:endParaRPr lang="en-US" sz="1600" dirty="0"/>
          </a:p>
        </p:txBody>
      </p:sp>
      <p:sp>
        <p:nvSpPr>
          <p:cNvPr id="4" name="text-1"/>
          <p:cNvSpPr txBox="1"/>
          <p:nvPr/>
        </p:nvSpPr>
        <p:spPr>
          <a:xfrm>
            <a:off x="548640" y="2880360"/>
            <a:ext cx="5486400" cy="274320"/>
          </a:xfrm>
          <a:prstGeom prst="rect">
            <a:avLst/>
          </a:prstGeom>
          <a:noFill/>
          <a:ln/>
        </p:spPr>
        <p:txBody>
          <a:bodyPr wrap="square" lIns="0" tIns="0" rIns="0" bIns="0" rtlCol="0" anchor="t"/>
          <a:lstStyle/>
          <a:p>
            <a:pPr indent="0" marL="0">
              <a:buNone/>
            </a:pPr>
            <a:r>
              <a:rPr lang="en-US" sz="1400" b="1" dirty="0">
                <a:solidFill>
                  <a:schemeClr val="bg1"/>
                </a:solidFill>
              </a:rPr>
              <a:t>Final Year Project Proposal  ·  Design Project (Part-I)</a:t>
            </a:r>
            <a:endParaRPr lang="en-US" sz="1400" dirty="0"/>
          </a:p>
        </p:txBody>
      </p:sp>
      <p:sp>
        <p:nvSpPr>
          <p:cNvPr id="5" name="text-2"/>
          <p:cNvSpPr txBox="1"/>
          <p:nvPr/>
        </p:nvSpPr>
        <p:spPr>
          <a:xfrm>
            <a:off x="548640" y="3291840"/>
            <a:ext cx="5852160" cy="1188720"/>
          </a:xfrm>
          <a:prstGeom prst="rect">
            <a:avLst/>
          </a:prstGeom>
          <a:noFill/>
          <a:ln/>
        </p:spPr>
        <p:txBody>
          <a:bodyPr wrap="square" lIns="0" tIns="0" rIns="0" bIns="0" rtlCol="0" anchor="t"/>
          <a:lstStyle/>
          <a:p>
            <a:pPr indent="0" marL="0">
              <a:spcAft>
                <a:spcPts val="400"/>
              </a:spcAft>
              <a:buNone/>
            </a:pPr>
            <a:r>
              <a:rPr lang="en-US" sz="1200" b="1" dirty="0">
                <a:solidFill>
                  <a:schemeClr val="accent2"/>
                </a:solidFill>
              </a:rPr>
              <a:t>Team: </a:t>
            </a:r>
            <a:pPr indent="0" marL="0">
              <a:spcAft>
                <a:spcPts val="400"/>
              </a:spcAft>
              <a:buNone/>
            </a:pPr>
            <a:r>
              <a:rPr lang="en-US" sz="1200" dirty="0">
                <a:solidFill>
                  <a:schemeClr val="bg1"/>
                </a:solidFill>
              </a:rPr>
              <a:t>Muhammad Nabeel (BCS233115)  ·  Ashir Qureshi (BCS233084)  ·  Muhammad Sharjeel (BCS233113)</a:t>
            </a:r>
            <a:endParaRPr lang="en-US" sz="1200" dirty="0"/>
          </a:p>
          <a:p>
            <a:pPr indent="0" marL="0">
              <a:spcAft>
                <a:spcPts val="400"/>
              </a:spcAft>
              <a:buNone/>
            </a:pPr>
            <a:r>
              <a:rPr lang="en-US" sz="1200" b="1" dirty="0">
                <a:solidFill>
                  <a:schemeClr val="accent2"/>
                </a:solidFill>
              </a:rPr>
              <a:t>Supervisor: </a:t>
            </a:r>
            <a:pPr indent="0" marL="0">
              <a:spcAft>
                <a:spcPts val="400"/>
              </a:spcAft>
              <a:buNone/>
            </a:pPr>
            <a:r>
              <a:rPr lang="en-US" sz="1200" dirty="0">
                <a:solidFill>
                  <a:schemeClr val="bg1"/>
                </a:solidFill>
              </a:rPr>
              <a:t>Ms. Khadija Iftikhar</a:t>
            </a:r>
            <a:endParaRPr lang="en-US" sz="1200" dirty="0"/>
          </a:p>
          <a:p>
            <a:pPr indent="0" marL="0">
              <a:spcAft>
                <a:spcPts val="400"/>
              </a:spcAft>
              <a:buNone/>
            </a:pPr>
            <a:r>
              <a:rPr lang="en-US" sz="1200" dirty="0">
                <a:solidFill>
                  <a:schemeClr val="bg1"/>
                </a:solidFill>
              </a:rPr>
              <a:t>Department of Computer Science, Capital University of Science &amp; Technology, Islamabad  ·  Fall 2026</a:t>
            </a:r>
            <a:endParaRPr lang="en-US" sz="1200" dirty="0"/>
          </a:p>
        </p:txBody>
      </p:sp>
      <p:sp>
        <p:nvSpPr>
          <p:cNvPr id="6" name="title-ring"/>
          <p:cNvSpPr/>
          <p:nvPr/>
        </p:nvSpPr>
        <p:spPr>
          <a:xfrm>
            <a:off x="6446520" y="1234440"/>
            <a:ext cx="2194560" cy="2194560"/>
          </a:xfrm>
          <a:prstGeom prst="ellipse">
            <a:avLst/>
          </a:prstGeom>
          <a:solidFill>
            <a:schemeClr val="bg1">
              <a:alpha val="8000"/>
            </a:schemeClr>
          </a:solidFill>
          <a:ln w="25400">
            <a:solidFill>
              <a:schemeClr val="accent2"/>
            </a:solidFill>
            <a:prstDash val="solid"/>
          </a:ln>
        </p:spPr>
      </p:sp>
      <p:pic>
        <p:nvPicPr>
          <p:cNvPr id="7" name="title-icon" descr="preencoded.png">    </p:cNvPr>
          <p:cNvPicPr>
            <a:picLocks noChangeAspect="1"/>
          </p:cNvPicPr>
          <p:nvPr/>
        </p:nvPicPr>
        <p:blipFill>
          <a:blip r:embed="rId1"/>
          <a:stretch>
            <a:fillRect/>
          </a:stretch>
        </p:blipFill>
        <p:spPr>
          <a:xfrm>
            <a:off x="6949440" y="1737360"/>
            <a:ext cx="1188720" cy="1188720"/>
          </a:xfrm>
          <a:prstGeom prst="rect">
            <a:avLst/>
          </a:prstGeom>
        </p:spPr>
      </p:pic>
      <p:sp>
        <p:nvSpPr>
          <p:cNvPr id="8" name="text-3"/>
          <p:cNvSpPr txBox="1"/>
          <p:nvPr/>
        </p:nvSpPr>
        <p:spPr>
          <a:xfrm>
            <a:off x="6035040" y="3611880"/>
            <a:ext cx="3017520" cy="274320"/>
          </a:xfrm>
          <a:prstGeom prst="rect">
            <a:avLst/>
          </a:prstGeom>
          <a:noFill/>
          <a:ln/>
        </p:spPr>
        <p:txBody>
          <a:bodyPr wrap="square" lIns="0" tIns="0" rIns="0" bIns="0" rtlCol="0" anchor="t"/>
          <a:lstStyle/>
          <a:p>
            <a:pPr algn="ctr" indent="0" marL="0">
              <a:buNone/>
            </a:pPr>
            <a:r>
              <a:rPr lang="en-US" sz="1300" b="1" dirty="0">
                <a:solidFill>
                  <a:schemeClr val="accent3"/>
                </a:solidFill>
              </a:rPr>
              <a:t>Ask  ›  Understand  ›  Get help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The Problem: Meet Ali</a:t>
            </a:r>
            <a:endParaRPr lang="en-US" sz="2800" dirty="0"/>
          </a:p>
        </p:txBody>
      </p:sp>
      <p:sp>
        <p:nvSpPr>
          <p:cNvPr id="3" name="box-4"/>
          <p:cNvSpPr/>
          <p:nvPr/>
        </p:nvSpPr>
        <p:spPr>
          <a:xfrm>
            <a:off x="457200" y="1005840"/>
            <a:ext cx="3840480" cy="3611880"/>
          </a:xfrm>
          <a:prstGeom prst="roundRect">
            <a:avLst>
              <a:gd name="adj" fmla="val 2025"/>
            </a:avLst>
          </a:prstGeom>
          <a:solidFill>
            <a:schemeClr val="tx2"/>
          </a:solidFill>
          <a:ln/>
        </p:spPr>
      </p:sp>
      <p:sp>
        <p:nvSpPr>
          <p:cNvPr id="4" name="iconbg-5"/>
          <p:cNvSpPr/>
          <p:nvPr/>
        </p:nvSpPr>
        <p:spPr>
          <a:xfrm>
            <a:off x="685800" y="1207008"/>
            <a:ext cx="548640" cy="548640"/>
          </a:xfrm>
          <a:prstGeom prst="ellipse">
            <a:avLst/>
          </a:prstGeom>
          <a:solidFill>
            <a:schemeClr val="accent2"/>
          </a:solidFill>
          <a:ln/>
        </p:spPr>
      </p:sp>
      <p:pic>
        <p:nvPicPr>
          <p:cNvPr id="5" name="icon-6" descr="preencoded.png">    </p:cNvPr>
          <p:cNvPicPr>
            <a:picLocks noChangeAspect="1"/>
          </p:cNvPicPr>
          <p:nvPr/>
        </p:nvPicPr>
        <p:blipFill>
          <a:blip r:embed="rId1"/>
          <a:stretch>
            <a:fillRect/>
          </a:stretch>
        </p:blipFill>
        <p:spPr>
          <a:xfrm>
            <a:off x="806501" y="1327709"/>
            <a:ext cx="307238" cy="307238"/>
          </a:xfrm>
          <a:prstGeom prst="rect">
            <a:avLst/>
          </a:prstGeom>
        </p:spPr>
      </p:pic>
      <p:sp>
        <p:nvSpPr>
          <p:cNvPr id="6" name="text-7"/>
          <p:cNvSpPr txBox="1"/>
          <p:nvPr/>
        </p:nvSpPr>
        <p:spPr>
          <a:xfrm>
            <a:off x="1371600" y="1344168"/>
            <a:ext cx="27432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A REAL-LIFE EXAMPLE</a:t>
            </a:r>
            <a:endParaRPr lang="en-US" sz="1200" dirty="0"/>
          </a:p>
        </p:txBody>
      </p:sp>
      <p:sp>
        <p:nvSpPr>
          <p:cNvPr id="7" name="text-8"/>
          <p:cNvSpPr txBox="1"/>
          <p:nvPr/>
        </p:nvSpPr>
        <p:spPr>
          <a:xfrm>
            <a:off x="685800" y="1920240"/>
            <a:ext cx="3429000" cy="914400"/>
          </a:xfrm>
          <a:prstGeom prst="rect">
            <a:avLst/>
          </a:prstGeom>
          <a:noFill/>
          <a:ln/>
        </p:spPr>
        <p:txBody>
          <a:bodyPr wrap="square" lIns="0" tIns="0" rIns="0" bIns="0" rtlCol="0" anchor="t"/>
          <a:lstStyle/>
          <a:p>
            <a:pPr indent="0" marL="0">
              <a:buNone/>
            </a:pPr>
            <a:r>
              <a:rPr lang="en-US" sz="1500" i="1" dirty="0">
                <a:solidFill>
                  <a:schemeClr val="bg1"/>
                </a:solidFill>
                <a:latin typeface="Cambria" pitchFamily="34" charset="0"/>
                <a:ea typeface="Cambria" pitchFamily="34" charset="-122"/>
                <a:cs typeface="Cambria" pitchFamily="34" charset="-120"/>
              </a:rPr>
              <a:t>Ali rents a house in Lahore. One day his landlord calls and says: “Leave the house within 7 days.”</a:t>
            </a:r>
            <a:endParaRPr lang="en-US" sz="1500" dirty="0"/>
          </a:p>
        </p:txBody>
      </p:sp>
      <p:sp>
        <p:nvSpPr>
          <p:cNvPr id="8" name="text-9"/>
          <p:cNvSpPr txBox="1"/>
          <p:nvPr/>
        </p:nvSpPr>
        <p:spPr>
          <a:xfrm>
            <a:off x="685800" y="2926080"/>
            <a:ext cx="3429000" cy="1005840"/>
          </a:xfrm>
          <a:prstGeom prst="rect">
            <a:avLst/>
          </a:prstGeom>
          <a:noFill/>
          <a:ln/>
        </p:spPr>
        <p:txBody>
          <a:bodyPr wrap="square" lIns="0" tIns="0" rIns="0" bIns="0" rtlCol="0" anchor="t"/>
          <a:lstStyle/>
          <a:p>
            <a:pPr indent="0" marL="0">
              <a:buNone/>
            </a:pPr>
            <a:r>
              <a:rPr lang="en-US" sz="1300" dirty="0">
                <a:solidFill>
                  <a:schemeClr val="bg1"/>
                </a:solidFill>
              </a:rPr>
              <a:t>Ali has a written rent agreement, but he has no idea what the law says, what papers he needs, or whom to ask for help.</a:t>
            </a:r>
            <a:endParaRPr lang="en-US" sz="1300" dirty="0"/>
          </a:p>
        </p:txBody>
      </p:sp>
      <p:sp>
        <p:nvSpPr>
          <p:cNvPr id="9" name="text-10"/>
          <p:cNvSpPr txBox="1"/>
          <p:nvPr/>
        </p:nvSpPr>
        <p:spPr>
          <a:xfrm>
            <a:off x="685800" y="4023360"/>
            <a:ext cx="3429000" cy="411480"/>
          </a:xfrm>
          <a:prstGeom prst="rect">
            <a:avLst/>
          </a:prstGeom>
          <a:noFill/>
          <a:ln/>
        </p:spPr>
        <p:txBody>
          <a:bodyPr wrap="square" lIns="0" tIns="0" rIns="0" bIns="0" rtlCol="0" anchor="t"/>
          <a:lstStyle/>
          <a:p>
            <a:pPr indent="0" marL="0">
              <a:buNone/>
            </a:pPr>
            <a:r>
              <a:rPr lang="en-US" sz="1200" b="1" dirty="0">
                <a:solidFill>
                  <a:schemeClr val="accent3"/>
                </a:solidFill>
              </a:rPr>
              <a:t>Thousands of people face problems like this every day.</a:t>
            </a:r>
            <a:endParaRPr lang="en-US" sz="1200" dirty="0"/>
          </a:p>
        </p:txBody>
      </p:sp>
      <p:sp>
        <p:nvSpPr>
          <p:cNvPr id="10" name="ali"/>
          <p:cNvSpPr/>
          <p:nvPr/>
        </p:nvSpPr>
        <p:spPr>
          <a:xfrm>
            <a:off x="5989320" y="2240280"/>
            <a:ext cx="1005840" cy="1005840"/>
          </a:xfrm>
          <a:prstGeom prst="ellipse">
            <a:avLst/>
          </a:prstGeom>
          <a:solidFill>
            <a:schemeClr val="bg2"/>
          </a:solidFill>
          <a:ln w="25400">
            <a:solidFill>
              <a:schemeClr val="accent1"/>
            </a:solidFill>
            <a:prstDash val="solid"/>
          </a:ln>
        </p:spPr>
      </p:sp>
      <p:pic>
        <p:nvPicPr>
          <p:cNvPr id="11" name="ali-icon" descr="preencoded.png">    </p:cNvPr>
          <p:cNvPicPr>
            <a:picLocks noChangeAspect="1"/>
          </p:cNvPicPr>
          <p:nvPr/>
        </p:nvPicPr>
        <p:blipFill>
          <a:blip r:embed="rId2"/>
          <a:stretch>
            <a:fillRect/>
          </a:stretch>
        </p:blipFill>
        <p:spPr>
          <a:xfrm>
            <a:off x="6217920" y="2468880"/>
            <a:ext cx="548640" cy="548640"/>
          </a:xfrm>
          <a:prstGeom prst="rect">
            <a:avLst/>
          </a:prstGeom>
        </p:spPr>
      </p:pic>
      <p:sp>
        <p:nvSpPr>
          <p:cNvPr id="12" name="text-11"/>
          <p:cNvSpPr txBox="1"/>
          <p:nvPr/>
        </p:nvSpPr>
        <p:spPr>
          <a:xfrm>
            <a:off x="5989320" y="3273552"/>
            <a:ext cx="1005840" cy="228600"/>
          </a:xfrm>
          <a:prstGeom prst="rect">
            <a:avLst/>
          </a:prstGeom>
          <a:noFill/>
          <a:ln/>
        </p:spPr>
        <p:txBody>
          <a:bodyPr wrap="square" lIns="0" tIns="0" rIns="0" bIns="0" rtlCol="0" anchor="t"/>
          <a:lstStyle/>
          <a:p>
            <a:pPr algn="ctr" indent="0" marL="0">
              <a:buNone/>
            </a:pPr>
            <a:r>
              <a:rPr lang="en-US" sz="1200" b="1" dirty="0">
                <a:solidFill>
                  <a:schemeClr val="tx2"/>
                </a:solidFill>
              </a:rPr>
              <a:t>Ali</a:t>
            </a:r>
            <a:endParaRPr lang="en-US" sz="1200" dirty="0"/>
          </a:p>
        </p:txBody>
      </p:sp>
      <p:sp>
        <p:nvSpPr>
          <p:cNvPr id="13" name="box-12"/>
          <p:cNvSpPr/>
          <p:nvPr/>
        </p:nvSpPr>
        <p:spPr>
          <a:xfrm>
            <a:off x="4572000" y="1051560"/>
            <a:ext cx="1600200" cy="731520"/>
          </a:xfrm>
          <a:prstGeom prst="roundRect">
            <a:avLst>
              <a:gd name="adj" fmla="val 22500"/>
            </a:avLst>
          </a:prstGeom>
          <a:solidFill>
            <a:schemeClr val="accent1"/>
          </a:solidFill>
          <a:ln/>
        </p:spPr>
      </p:sp>
      <p:sp>
        <p:nvSpPr>
          <p:cNvPr id="14" name="boxtext-13"/>
          <p:cNvSpPr txBox="1"/>
          <p:nvPr/>
        </p:nvSpPr>
        <p:spPr>
          <a:xfrm>
            <a:off x="4572000" y="1051560"/>
            <a:ext cx="1600200" cy="731520"/>
          </a:xfrm>
          <a:prstGeom prst="rect">
            <a:avLst/>
          </a:prstGeom>
          <a:noFill/>
          <a:ln/>
        </p:spPr>
        <p:txBody>
          <a:bodyPr wrap="square" lIns="762" tIns="762" rIns="762" bIns="762" rtlCol="0" anchor="ctr"/>
          <a:lstStyle/>
          <a:p>
            <a:pPr algn="ctr" indent="0" marL="0">
              <a:buNone/>
            </a:pPr>
            <a:r>
              <a:rPr lang="en-US" sz="1200" b="1" dirty="0">
                <a:solidFill>
                  <a:schemeClr val="bg1"/>
                </a:solidFill>
              </a:rPr>
              <a:t>Which law applies to me?</a:t>
            </a:r>
            <a:endParaRPr lang="en-US" sz="1200" dirty="0"/>
          </a:p>
        </p:txBody>
      </p:sp>
      <p:sp>
        <p:nvSpPr>
          <p:cNvPr id="15" name="arrow-14"/>
          <p:cNvSpPr/>
          <p:nvPr/>
        </p:nvSpPr>
        <p:spPr>
          <a:xfrm>
            <a:off x="5372100" y="1783080"/>
            <a:ext cx="891540" cy="457200"/>
          </a:xfrm>
          <a:prstGeom prst="line">
            <a:avLst/>
          </a:prstGeom>
          <a:noFill/>
          <a:ln w="12700">
            <a:solidFill>
              <a:schemeClr val="accent5"/>
            </a:solidFill>
            <a:prstDash val="dash"/>
          </a:ln>
        </p:spPr>
      </p:sp>
      <p:sp>
        <p:nvSpPr>
          <p:cNvPr id="16" name="box-15"/>
          <p:cNvSpPr/>
          <p:nvPr/>
        </p:nvSpPr>
        <p:spPr>
          <a:xfrm>
            <a:off x="7086600" y="1051560"/>
            <a:ext cx="1600200" cy="731520"/>
          </a:xfrm>
          <a:prstGeom prst="roundRect">
            <a:avLst>
              <a:gd name="adj" fmla="val 22500"/>
            </a:avLst>
          </a:prstGeom>
          <a:solidFill>
            <a:schemeClr val="accent1"/>
          </a:solidFill>
          <a:ln/>
        </p:spPr>
      </p:sp>
      <p:sp>
        <p:nvSpPr>
          <p:cNvPr id="17" name="boxtext-16"/>
          <p:cNvSpPr txBox="1"/>
          <p:nvPr/>
        </p:nvSpPr>
        <p:spPr>
          <a:xfrm>
            <a:off x="7086600" y="1051560"/>
            <a:ext cx="1600200" cy="731520"/>
          </a:xfrm>
          <a:prstGeom prst="rect">
            <a:avLst/>
          </a:prstGeom>
          <a:noFill/>
          <a:ln/>
        </p:spPr>
        <p:txBody>
          <a:bodyPr wrap="square" lIns="762" tIns="762" rIns="762" bIns="762" rtlCol="0" anchor="ctr"/>
          <a:lstStyle/>
          <a:p>
            <a:pPr algn="ctr" indent="0" marL="0">
              <a:buNone/>
            </a:pPr>
            <a:r>
              <a:rPr lang="en-US" sz="1200" b="1" dirty="0">
                <a:solidFill>
                  <a:schemeClr val="bg1"/>
                </a:solidFill>
              </a:rPr>
              <a:t>What papers do I need?</a:t>
            </a:r>
            <a:endParaRPr lang="en-US" sz="1200" dirty="0"/>
          </a:p>
        </p:txBody>
      </p:sp>
      <p:sp>
        <p:nvSpPr>
          <p:cNvPr id="18" name="arrow-17"/>
          <p:cNvSpPr/>
          <p:nvPr/>
        </p:nvSpPr>
        <p:spPr>
          <a:xfrm flipH="1">
            <a:off x="6720840" y="1783080"/>
            <a:ext cx="1165860" cy="457200"/>
          </a:xfrm>
          <a:prstGeom prst="line">
            <a:avLst/>
          </a:prstGeom>
          <a:noFill/>
          <a:ln w="12700">
            <a:solidFill>
              <a:schemeClr val="accent5"/>
            </a:solidFill>
            <a:prstDash val="dash"/>
          </a:ln>
        </p:spPr>
      </p:sp>
      <p:sp>
        <p:nvSpPr>
          <p:cNvPr id="19" name="box-18"/>
          <p:cNvSpPr/>
          <p:nvPr/>
        </p:nvSpPr>
        <p:spPr>
          <a:xfrm>
            <a:off x="4572000" y="3794760"/>
            <a:ext cx="1600200" cy="731520"/>
          </a:xfrm>
          <a:prstGeom prst="roundRect">
            <a:avLst>
              <a:gd name="adj" fmla="val 22500"/>
            </a:avLst>
          </a:prstGeom>
          <a:solidFill>
            <a:schemeClr val="accent1"/>
          </a:solidFill>
          <a:ln/>
        </p:spPr>
      </p:sp>
      <p:sp>
        <p:nvSpPr>
          <p:cNvPr id="20" name="boxtext-19"/>
          <p:cNvSpPr txBox="1"/>
          <p:nvPr/>
        </p:nvSpPr>
        <p:spPr>
          <a:xfrm>
            <a:off x="4572000" y="3794760"/>
            <a:ext cx="1600200" cy="731520"/>
          </a:xfrm>
          <a:prstGeom prst="rect">
            <a:avLst/>
          </a:prstGeom>
          <a:noFill/>
          <a:ln/>
        </p:spPr>
        <p:txBody>
          <a:bodyPr wrap="square" lIns="762" tIns="762" rIns="762" bIns="762" rtlCol="0" anchor="ctr"/>
          <a:lstStyle/>
          <a:p>
            <a:pPr algn="ctr" indent="0" marL="0">
              <a:buNone/>
            </a:pPr>
            <a:r>
              <a:rPr lang="en-US" sz="1200" b="1" dirty="0">
                <a:solidFill>
                  <a:schemeClr val="bg1"/>
                </a:solidFill>
              </a:rPr>
              <a:t>Which lawyer can I trust?</a:t>
            </a:r>
            <a:endParaRPr lang="en-US" sz="1200" dirty="0"/>
          </a:p>
        </p:txBody>
      </p:sp>
      <p:sp>
        <p:nvSpPr>
          <p:cNvPr id="21" name="arrow-20"/>
          <p:cNvSpPr/>
          <p:nvPr/>
        </p:nvSpPr>
        <p:spPr>
          <a:xfrm flipV="1">
            <a:off x="5372100" y="3520440"/>
            <a:ext cx="891540" cy="274320"/>
          </a:xfrm>
          <a:prstGeom prst="line">
            <a:avLst/>
          </a:prstGeom>
          <a:noFill/>
          <a:ln w="12700">
            <a:solidFill>
              <a:schemeClr val="accent5"/>
            </a:solidFill>
            <a:prstDash val="dash"/>
          </a:ln>
        </p:spPr>
      </p:sp>
      <p:sp>
        <p:nvSpPr>
          <p:cNvPr id="22" name="box-21"/>
          <p:cNvSpPr/>
          <p:nvPr/>
        </p:nvSpPr>
        <p:spPr>
          <a:xfrm>
            <a:off x="7086600" y="3794760"/>
            <a:ext cx="1600200" cy="731520"/>
          </a:xfrm>
          <a:prstGeom prst="roundRect">
            <a:avLst>
              <a:gd name="adj" fmla="val 22500"/>
            </a:avLst>
          </a:prstGeom>
          <a:solidFill>
            <a:schemeClr val="accent6"/>
          </a:solidFill>
          <a:ln/>
        </p:spPr>
      </p:sp>
      <p:sp>
        <p:nvSpPr>
          <p:cNvPr id="23" name="boxtext-22"/>
          <p:cNvSpPr txBox="1"/>
          <p:nvPr/>
        </p:nvSpPr>
        <p:spPr>
          <a:xfrm>
            <a:off x="7086600" y="3794760"/>
            <a:ext cx="1600200" cy="731520"/>
          </a:xfrm>
          <a:prstGeom prst="rect">
            <a:avLst/>
          </a:prstGeom>
          <a:noFill/>
          <a:ln/>
        </p:spPr>
        <p:txBody>
          <a:bodyPr wrap="square" lIns="762" tIns="762" rIns="762" bIns="762" rtlCol="0" anchor="ctr"/>
          <a:lstStyle/>
          <a:p>
            <a:pPr algn="ctr" indent="0" marL="0">
              <a:buNone/>
            </a:pPr>
            <a:r>
              <a:rPr lang="en-US" sz="1200" b="1" dirty="0">
                <a:solidFill>
                  <a:schemeClr val="bg1"/>
                </a:solidFill>
              </a:rPr>
              <a:t>Can I trust a chatbot's answer?</a:t>
            </a:r>
            <a:endParaRPr lang="en-US" sz="1200" dirty="0"/>
          </a:p>
        </p:txBody>
      </p:sp>
      <p:sp>
        <p:nvSpPr>
          <p:cNvPr id="24" name="arrow-23"/>
          <p:cNvSpPr/>
          <p:nvPr/>
        </p:nvSpPr>
        <p:spPr>
          <a:xfrm flipH="1" flipV="1">
            <a:off x="6720840" y="3520440"/>
            <a:ext cx="1165860" cy="274320"/>
          </a:xfrm>
          <a:prstGeom prst="line">
            <a:avLst/>
          </a:prstGeom>
          <a:noFill/>
          <a:ln w="12700">
            <a:solidFill>
              <a:schemeClr val="accent5"/>
            </a:solidFill>
            <a:prstDash val="dash"/>
          </a:ln>
        </p:spPr>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Our Solution in Three Simple Steps</a:t>
            </a:r>
            <a:endParaRPr lang="en-US" sz="2800" dirty="0"/>
          </a:p>
        </p:txBody>
      </p:sp>
      <p:sp>
        <p:nvSpPr>
          <p:cNvPr id="3" name="box-24"/>
          <p:cNvSpPr/>
          <p:nvPr/>
        </p:nvSpPr>
        <p:spPr>
          <a:xfrm>
            <a:off x="457200" y="1005840"/>
            <a:ext cx="2560320" cy="2514600"/>
          </a:xfrm>
          <a:prstGeom prst="roundRect">
            <a:avLst>
              <a:gd name="adj" fmla="val 2909"/>
            </a:avLst>
          </a:prstGeom>
          <a:solidFill>
            <a:schemeClr val="bg2"/>
          </a:solidFill>
          <a:ln/>
          <a:effectLst>
            <a:outerShdw sx="100000" sy="100000" kx="0" ky="0" algn="bl" rotWithShape="0" blurRad="50800" dist="19050" dir="5400000">
              <a:srgbClr val="000000">
                <a:alpha val="15000"/>
              </a:srgbClr>
            </a:outerShdw>
          </a:effectLst>
        </p:spPr>
      </p:sp>
      <p:sp>
        <p:nvSpPr>
          <p:cNvPr id="4" name="iconbg-25"/>
          <p:cNvSpPr/>
          <p:nvPr/>
        </p:nvSpPr>
        <p:spPr>
          <a:xfrm>
            <a:off x="1417320" y="1143000"/>
            <a:ext cx="640080" cy="640080"/>
          </a:xfrm>
          <a:prstGeom prst="ellipse">
            <a:avLst/>
          </a:prstGeom>
          <a:solidFill>
            <a:schemeClr val="accent1"/>
          </a:solidFill>
          <a:ln/>
        </p:spPr>
      </p:sp>
      <p:pic>
        <p:nvPicPr>
          <p:cNvPr id="5" name="icon-26" descr="preencoded.png">    </p:cNvPr>
          <p:cNvPicPr>
            <a:picLocks noChangeAspect="1"/>
          </p:cNvPicPr>
          <p:nvPr/>
        </p:nvPicPr>
        <p:blipFill>
          <a:blip r:embed="rId1"/>
          <a:stretch>
            <a:fillRect/>
          </a:stretch>
        </p:blipFill>
        <p:spPr>
          <a:xfrm>
            <a:off x="1558138" y="1283818"/>
            <a:ext cx="358445" cy="358445"/>
          </a:xfrm>
          <a:prstGeom prst="rect">
            <a:avLst/>
          </a:prstGeom>
        </p:spPr>
      </p:pic>
      <p:sp>
        <p:nvSpPr>
          <p:cNvPr id="6" name="text-27"/>
          <p:cNvSpPr txBox="1"/>
          <p:nvPr/>
        </p:nvSpPr>
        <p:spPr>
          <a:xfrm>
            <a:off x="594360" y="1847088"/>
            <a:ext cx="2286000" cy="320040"/>
          </a:xfrm>
          <a:prstGeom prst="rect">
            <a:avLst/>
          </a:prstGeom>
          <a:noFill/>
          <a:ln/>
        </p:spPr>
        <p:txBody>
          <a:bodyPr wrap="square" lIns="0" tIns="0" rIns="0" bIns="0" rtlCol="0" anchor="t"/>
          <a:lstStyle/>
          <a:p>
            <a:pPr algn="ctr" indent="0" marL="0">
              <a:buNone/>
            </a:pPr>
            <a:r>
              <a:rPr lang="en-US" sz="1500" b="1" dirty="0">
                <a:solidFill>
                  <a:schemeClr val="tx2"/>
                </a:solidFill>
              </a:rPr>
              <a:t>1. Tell us your problem</a:t>
            </a:r>
            <a:endParaRPr lang="en-US" sz="1500" dirty="0"/>
          </a:p>
        </p:txBody>
      </p:sp>
      <p:sp>
        <p:nvSpPr>
          <p:cNvPr id="7" name="text-28"/>
          <p:cNvSpPr txBox="1"/>
          <p:nvPr/>
        </p:nvSpPr>
        <p:spPr>
          <a:xfrm>
            <a:off x="640080" y="2212848"/>
            <a:ext cx="2194560" cy="1234440"/>
          </a:xfrm>
          <a:prstGeom prst="rect">
            <a:avLst/>
          </a:prstGeom>
          <a:noFill/>
          <a:ln/>
        </p:spPr>
        <p:txBody>
          <a:bodyPr wrap="square" lIns="0" tIns="0" rIns="0" bIns="0" rtlCol="0" anchor="t"/>
          <a:lstStyle/>
          <a:p>
            <a:pPr algn="ctr" indent="0" marL="0">
              <a:buNone/>
            </a:pPr>
            <a:r>
              <a:rPr lang="en-US" sz="1200" dirty="0">
                <a:solidFill>
                  <a:schemeClr val="tx1"/>
                </a:solidFill>
              </a:rPr>
              <a:t>Write it in your own words. The system asks a few short questions if something is missing.</a:t>
            </a:r>
            <a:endParaRPr lang="en-US" sz="1200" dirty="0"/>
          </a:p>
        </p:txBody>
      </p:sp>
      <p:sp>
        <p:nvSpPr>
          <p:cNvPr id="8" name="box-29"/>
          <p:cNvSpPr/>
          <p:nvPr/>
        </p:nvSpPr>
        <p:spPr>
          <a:xfrm>
            <a:off x="457200" y="3611880"/>
            <a:ext cx="2560320" cy="548640"/>
          </a:xfrm>
          <a:prstGeom prst="roundRect">
            <a:avLst>
              <a:gd name="adj" fmla="val 20000"/>
            </a:avLst>
          </a:prstGeom>
          <a:solidFill>
            <a:schemeClr val="accent4"/>
          </a:solidFill>
          <a:ln/>
        </p:spPr>
      </p:sp>
      <p:sp>
        <p:nvSpPr>
          <p:cNvPr id="9" name="boxtext-30"/>
          <p:cNvSpPr txBox="1"/>
          <p:nvPr/>
        </p:nvSpPr>
        <p:spPr>
          <a:xfrm>
            <a:off x="548640" y="3611880"/>
            <a:ext cx="2377440" cy="548640"/>
          </a:xfrm>
          <a:prstGeom prst="rect">
            <a:avLst/>
          </a:prstGeom>
          <a:noFill/>
          <a:ln/>
        </p:spPr>
        <p:txBody>
          <a:bodyPr wrap="square" lIns="0" tIns="0" rIns="0" bIns="0" rtlCol="0" anchor="ctr"/>
          <a:lstStyle/>
          <a:p>
            <a:pPr algn="ctr" indent="0" marL="0">
              <a:buNone/>
            </a:pPr>
            <a:r>
              <a:rPr lang="en-US" sz="1100" dirty="0">
                <a:solidFill>
                  <a:schemeClr val="tx2"/>
                </a:solidFill>
              </a:rPr>
              <a:t>Ali: “My landlord wants me out in 7 days.”</a:t>
            </a:r>
            <a:endParaRPr lang="en-US" sz="1100" dirty="0"/>
          </a:p>
        </p:txBody>
      </p:sp>
      <p:sp>
        <p:nvSpPr>
          <p:cNvPr id="10" name="box-31"/>
          <p:cNvSpPr/>
          <p:nvPr/>
        </p:nvSpPr>
        <p:spPr>
          <a:xfrm>
            <a:off x="3291840" y="1005840"/>
            <a:ext cx="2560320" cy="2514600"/>
          </a:xfrm>
          <a:prstGeom prst="roundRect">
            <a:avLst>
              <a:gd name="adj" fmla="val 2909"/>
            </a:avLst>
          </a:prstGeom>
          <a:solidFill>
            <a:schemeClr val="tx2"/>
          </a:solidFill>
          <a:ln/>
          <a:effectLst>
            <a:outerShdw sx="100000" sy="100000" kx="0" ky="0" algn="bl" rotWithShape="0" blurRad="50800" dist="19050" dir="5400000">
              <a:srgbClr val="000000">
                <a:alpha val="15000"/>
              </a:srgbClr>
            </a:outerShdw>
          </a:effectLst>
        </p:spPr>
      </p:sp>
      <p:sp>
        <p:nvSpPr>
          <p:cNvPr id="11" name="iconbg-32"/>
          <p:cNvSpPr/>
          <p:nvPr/>
        </p:nvSpPr>
        <p:spPr>
          <a:xfrm>
            <a:off x="4251960" y="1143000"/>
            <a:ext cx="640080" cy="640080"/>
          </a:xfrm>
          <a:prstGeom prst="ellipse">
            <a:avLst/>
          </a:prstGeom>
          <a:solidFill>
            <a:schemeClr val="accent2"/>
          </a:solidFill>
          <a:ln/>
        </p:spPr>
      </p:sp>
      <p:pic>
        <p:nvPicPr>
          <p:cNvPr id="12" name="icon-33" descr="preencoded.png">    </p:cNvPr>
          <p:cNvPicPr>
            <a:picLocks noChangeAspect="1"/>
          </p:cNvPicPr>
          <p:nvPr/>
        </p:nvPicPr>
        <p:blipFill>
          <a:blip r:embed="rId2"/>
          <a:stretch>
            <a:fillRect/>
          </a:stretch>
        </p:blipFill>
        <p:spPr>
          <a:xfrm>
            <a:off x="4392778" y="1283818"/>
            <a:ext cx="358445" cy="358445"/>
          </a:xfrm>
          <a:prstGeom prst="rect">
            <a:avLst/>
          </a:prstGeom>
        </p:spPr>
      </p:pic>
      <p:sp>
        <p:nvSpPr>
          <p:cNvPr id="13" name="text-34"/>
          <p:cNvSpPr txBox="1"/>
          <p:nvPr/>
        </p:nvSpPr>
        <p:spPr>
          <a:xfrm>
            <a:off x="3429000" y="1847088"/>
            <a:ext cx="2286000" cy="320040"/>
          </a:xfrm>
          <a:prstGeom prst="rect">
            <a:avLst/>
          </a:prstGeom>
          <a:noFill/>
          <a:ln/>
        </p:spPr>
        <p:txBody>
          <a:bodyPr wrap="square" lIns="0" tIns="0" rIns="0" bIns="0" rtlCol="0" anchor="t"/>
          <a:lstStyle/>
          <a:p>
            <a:pPr algn="ctr" indent="0" marL="0">
              <a:buNone/>
            </a:pPr>
            <a:r>
              <a:rPr lang="en-US" sz="1500" b="1" dirty="0">
                <a:solidFill>
                  <a:schemeClr val="bg1"/>
                </a:solidFill>
              </a:rPr>
              <a:t>2. Understand your rights</a:t>
            </a:r>
            <a:endParaRPr lang="en-US" sz="1500" dirty="0"/>
          </a:p>
        </p:txBody>
      </p:sp>
      <p:sp>
        <p:nvSpPr>
          <p:cNvPr id="14" name="text-35"/>
          <p:cNvSpPr txBox="1"/>
          <p:nvPr/>
        </p:nvSpPr>
        <p:spPr>
          <a:xfrm>
            <a:off x="3474720" y="2212848"/>
            <a:ext cx="2194560" cy="1234440"/>
          </a:xfrm>
          <a:prstGeom prst="rect">
            <a:avLst/>
          </a:prstGeom>
          <a:noFill/>
          <a:ln/>
        </p:spPr>
        <p:txBody>
          <a:bodyPr wrap="square" lIns="0" tIns="0" rIns="0" bIns="0" rtlCol="0" anchor="t"/>
          <a:lstStyle/>
          <a:p>
            <a:pPr algn="ctr" indent="0" marL="0">
              <a:buNone/>
            </a:pPr>
            <a:r>
              <a:rPr lang="en-US" sz="1200" dirty="0">
                <a:solidFill>
                  <a:schemeClr val="bg1"/>
                </a:solidFill>
              </a:rPr>
              <a:t>You get a simple explanation based on real Pakistani law, with the source shown, plus a list of papers to prepare.</a:t>
            </a:r>
            <a:endParaRPr lang="en-US" sz="1200" dirty="0"/>
          </a:p>
        </p:txBody>
      </p:sp>
      <p:sp>
        <p:nvSpPr>
          <p:cNvPr id="15" name="arrow-36"/>
          <p:cNvSpPr/>
          <p:nvPr/>
        </p:nvSpPr>
        <p:spPr>
          <a:xfrm>
            <a:off x="3035808" y="2258568"/>
            <a:ext cx="228600" cy="0"/>
          </a:xfrm>
          <a:prstGeom prst="line">
            <a:avLst/>
          </a:prstGeom>
          <a:noFill/>
          <a:ln w="31750">
            <a:solidFill>
              <a:schemeClr val="accent2"/>
            </a:solidFill>
            <a:prstDash val="solid"/>
            <a:tailEnd type="triangle"/>
          </a:ln>
        </p:spPr>
      </p:sp>
      <p:sp>
        <p:nvSpPr>
          <p:cNvPr id="16" name="box-37"/>
          <p:cNvSpPr/>
          <p:nvPr/>
        </p:nvSpPr>
        <p:spPr>
          <a:xfrm>
            <a:off x="3291840" y="3611880"/>
            <a:ext cx="2560320" cy="548640"/>
          </a:xfrm>
          <a:prstGeom prst="roundRect">
            <a:avLst>
              <a:gd name="adj" fmla="val 20000"/>
            </a:avLst>
          </a:prstGeom>
          <a:solidFill>
            <a:schemeClr val="accent4"/>
          </a:solidFill>
          <a:ln/>
        </p:spPr>
      </p:sp>
      <p:sp>
        <p:nvSpPr>
          <p:cNvPr id="17" name="boxtext-38"/>
          <p:cNvSpPr txBox="1"/>
          <p:nvPr/>
        </p:nvSpPr>
        <p:spPr>
          <a:xfrm>
            <a:off x="3383280" y="3611880"/>
            <a:ext cx="2377440" cy="548640"/>
          </a:xfrm>
          <a:prstGeom prst="rect">
            <a:avLst/>
          </a:prstGeom>
          <a:noFill/>
          <a:ln/>
        </p:spPr>
        <p:txBody>
          <a:bodyPr wrap="square" lIns="0" tIns="0" rIns="0" bIns="0" rtlCol="0" anchor="ctr"/>
          <a:lstStyle/>
          <a:p>
            <a:pPr algn="ctr" indent="0" marL="0">
              <a:buNone/>
            </a:pPr>
            <a:r>
              <a:rPr lang="en-US" sz="1100" dirty="0">
                <a:solidFill>
                  <a:schemeClr val="tx2"/>
                </a:solidFill>
              </a:rPr>
              <a:t>“The law says... [Source 1]. Keep your agreement and rent receipts ready.”</a:t>
            </a:r>
            <a:endParaRPr lang="en-US" sz="1100" dirty="0"/>
          </a:p>
        </p:txBody>
      </p:sp>
      <p:sp>
        <p:nvSpPr>
          <p:cNvPr id="18" name="box-39"/>
          <p:cNvSpPr/>
          <p:nvPr/>
        </p:nvSpPr>
        <p:spPr>
          <a:xfrm>
            <a:off x="6126480" y="1005840"/>
            <a:ext cx="2560320" cy="2514600"/>
          </a:xfrm>
          <a:prstGeom prst="roundRect">
            <a:avLst>
              <a:gd name="adj" fmla="val 2909"/>
            </a:avLst>
          </a:prstGeom>
          <a:solidFill>
            <a:schemeClr val="bg2"/>
          </a:solidFill>
          <a:ln/>
          <a:effectLst>
            <a:outerShdw sx="100000" sy="100000" kx="0" ky="0" algn="bl" rotWithShape="0" blurRad="50800" dist="19050" dir="5400000">
              <a:srgbClr val="000000">
                <a:alpha val="15000"/>
              </a:srgbClr>
            </a:outerShdw>
          </a:effectLst>
        </p:spPr>
      </p:sp>
      <p:sp>
        <p:nvSpPr>
          <p:cNvPr id="19" name="iconbg-40"/>
          <p:cNvSpPr/>
          <p:nvPr/>
        </p:nvSpPr>
        <p:spPr>
          <a:xfrm>
            <a:off x="7086600" y="1143000"/>
            <a:ext cx="640080" cy="640080"/>
          </a:xfrm>
          <a:prstGeom prst="ellipse">
            <a:avLst/>
          </a:prstGeom>
          <a:solidFill>
            <a:schemeClr val="accent1"/>
          </a:solidFill>
          <a:ln/>
        </p:spPr>
      </p:sp>
      <p:pic>
        <p:nvPicPr>
          <p:cNvPr id="20" name="icon-41" descr="preencoded.png">    </p:cNvPr>
          <p:cNvPicPr>
            <a:picLocks noChangeAspect="1"/>
          </p:cNvPicPr>
          <p:nvPr/>
        </p:nvPicPr>
        <p:blipFill>
          <a:blip r:embed="rId3"/>
          <a:stretch>
            <a:fillRect/>
          </a:stretch>
        </p:blipFill>
        <p:spPr>
          <a:xfrm>
            <a:off x="7227418" y="1283818"/>
            <a:ext cx="358445" cy="358445"/>
          </a:xfrm>
          <a:prstGeom prst="rect">
            <a:avLst/>
          </a:prstGeom>
        </p:spPr>
      </p:pic>
      <p:sp>
        <p:nvSpPr>
          <p:cNvPr id="21" name="text-42"/>
          <p:cNvSpPr txBox="1"/>
          <p:nvPr/>
        </p:nvSpPr>
        <p:spPr>
          <a:xfrm>
            <a:off x="6263640" y="1847088"/>
            <a:ext cx="2286000" cy="320040"/>
          </a:xfrm>
          <a:prstGeom prst="rect">
            <a:avLst/>
          </a:prstGeom>
          <a:noFill/>
          <a:ln/>
        </p:spPr>
        <p:txBody>
          <a:bodyPr wrap="square" lIns="0" tIns="0" rIns="0" bIns="0" rtlCol="0" anchor="t"/>
          <a:lstStyle/>
          <a:p>
            <a:pPr algn="ctr" indent="0" marL="0">
              <a:buNone/>
            </a:pPr>
            <a:r>
              <a:rPr lang="en-US" sz="1500" b="1" dirty="0">
                <a:solidFill>
                  <a:schemeClr val="tx2"/>
                </a:solidFill>
              </a:rPr>
              <a:t>3. Get the right lawyer</a:t>
            </a:r>
            <a:endParaRPr lang="en-US" sz="1500" dirty="0"/>
          </a:p>
        </p:txBody>
      </p:sp>
      <p:sp>
        <p:nvSpPr>
          <p:cNvPr id="22" name="text-43"/>
          <p:cNvSpPr txBox="1"/>
          <p:nvPr/>
        </p:nvSpPr>
        <p:spPr>
          <a:xfrm>
            <a:off x="6309360" y="2212848"/>
            <a:ext cx="2194560" cy="1234440"/>
          </a:xfrm>
          <a:prstGeom prst="rect">
            <a:avLst/>
          </a:prstGeom>
          <a:noFill/>
          <a:ln/>
        </p:spPr>
        <p:txBody>
          <a:bodyPr wrap="square" lIns="0" tIns="0" rIns="0" bIns="0" rtlCol="0" anchor="t"/>
          <a:lstStyle/>
          <a:p>
            <a:pPr algn="ctr" indent="0" marL="0">
              <a:buNone/>
            </a:pPr>
            <a:r>
              <a:rPr lang="en-US" sz="1200" dirty="0">
                <a:solidFill>
                  <a:schemeClr val="tx1"/>
                </a:solidFill>
              </a:rPr>
              <a:t>Find a verified lawyer by city, fee and expertise, share your case, and track it until it is solved.</a:t>
            </a:r>
            <a:endParaRPr lang="en-US" sz="1200" dirty="0"/>
          </a:p>
        </p:txBody>
      </p:sp>
      <p:sp>
        <p:nvSpPr>
          <p:cNvPr id="23" name="arrow-44"/>
          <p:cNvSpPr/>
          <p:nvPr/>
        </p:nvSpPr>
        <p:spPr>
          <a:xfrm>
            <a:off x="5870448" y="2258568"/>
            <a:ext cx="228600" cy="0"/>
          </a:xfrm>
          <a:prstGeom prst="line">
            <a:avLst/>
          </a:prstGeom>
          <a:noFill/>
          <a:ln w="31750">
            <a:solidFill>
              <a:schemeClr val="accent2"/>
            </a:solidFill>
            <a:prstDash val="solid"/>
            <a:tailEnd type="triangle"/>
          </a:ln>
        </p:spPr>
      </p:sp>
      <p:sp>
        <p:nvSpPr>
          <p:cNvPr id="24" name="box-45"/>
          <p:cNvSpPr/>
          <p:nvPr/>
        </p:nvSpPr>
        <p:spPr>
          <a:xfrm>
            <a:off x="6126480" y="3611880"/>
            <a:ext cx="2560320" cy="548640"/>
          </a:xfrm>
          <a:prstGeom prst="roundRect">
            <a:avLst>
              <a:gd name="adj" fmla="val 20000"/>
            </a:avLst>
          </a:prstGeom>
          <a:solidFill>
            <a:schemeClr val="accent4"/>
          </a:solidFill>
          <a:ln/>
        </p:spPr>
      </p:sp>
      <p:sp>
        <p:nvSpPr>
          <p:cNvPr id="25" name="boxtext-46"/>
          <p:cNvSpPr txBox="1"/>
          <p:nvPr/>
        </p:nvSpPr>
        <p:spPr>
          <a:xfrm>
            <a:off x="6217920" y="3611880"/>
            <a:ext cx="2377440" cy="548640"/>
          </a:xfrm>
          <a:prstGeom prst="rect">
            <a:avLst/>
          </a:prstGeom>
          <a:noFill/>
          <a:ln/>
        </p:spPr>
        <p:txBody>
          <a:bodyPr wrap="square" lIns="0" tIns="0" rIns="0" bIns="0" rtlCol="0" anchor="ctr"/>
          <a:lstStyle/>
          <a:p>
            <a:pPr algn="ctr" indent="0" marL="0">
              <a:buNone/>
            </a:pPr>
            <a:r>
              <a:rPr lang="en-US" sz="1100" dirty="0">
                <a:solidFill>
                  <a:schemeClr val="tx2"/>
                </a:solidFill>
              </a:rPr>
              <a:t>Ali finds a verified property lawyer in Lahore.</a:t>
            </a:r>
            <a:endParaRPr lang="en-US" sz="1100" dirty="0"/>
          </a:p>
        </p:txBody>
      </p:sp>
      <p:sp>
        <p:nvSpPr>
          <p:cNvPr id="26" name="text-47"/>
          <p:cNvSpPr txBox="1"/>
          <p:nvPr/>
        </p:nvSpPr>
        <p:spPr>
          <a:xfrm>
            <a:off x="457200" y="4251960"/>
            <a:ext cx="5486400" cy="274320"/>
          </a:xfrm>
          <a:prstGeom prst="rect">
            <a:avLst/>
          </a:prstGeom>
          <a:noFill/>
          <a:ln/>
        </p:spPr>
        <p:txBody>
          <a:bodyPr wrap="square" lIns="0" tIns="0" rIns="0" bIns="0" rtlCol="0" anchor="t"/>
          <a:lstStyle/>
          <a:p>
            <a:pPr indent="0" marL="0">
              <a:buNone/>
            </a:pPr>
            <a:r>
              <a:rPr lang="en-US" sz="1100" b="1" dirty="0">
                <a:solidFill>
                  <a:schemeClr val="accent2"/>
                </a:solidFill>
              </a:rPr>
              <a:t>Example  </a:t>
            </a:r>
            <a:pPr indent="0" marL="0">
              <a:buNone/>
            </a:pPr>
            <a:r>
              <a:rPr lang="en-US" sz="1100" dirty="0">
                <a:solidFill>
                  <a:schemeClr val="accent5"/>
                </a:solidFill>
              </a:rPr>
              <a:t>(the cream boxes show what this looks like for Ali)</a:t>
            </a:r>
            <a:endParaRPr lang="en-US" sz="1100" dirty="0"/>
          </a:p>
        </p:txBody>
      </p:sp>
      <p:sp>
        <p:nvSpPr>
          <p:cNvPr id="27" name="text-48"/>
          <p:cNvSpPr txBox="1"/>
          <p:nvPr/>
        </p:nvSpPr>
        <p:spPr>
          <a:xfrm>
            <a:off x="5943600" y="4251960"/>
            <a:ext cx="2743200" cy="274320"/>
          </a:xfrm>
          <a:prstGeom prst="rect">
            <a:avLst/>
          </a:prstGeom>
          <a:noFill/>
          <a:ln/>
        </p:spPr>
        <p:txBody>
          <a:bodyPr wrap="square" lIns="0" tIns="0" rIns="0" bIns="0" rtlCol="0" anchor="t"/>
          <a:lstStyle/>
          <a:p>
            <a:pPr algn="r" indent="0" marL="0">
              <a:buNone/>
            </a:pPr>
            <a:r>
              <a:rPr lang="en-US" sz="1100" b="1" dirty="0">
                <a:solidFill>
                  <a:schemeClr val="tx2"/>
                </a:solidFill>
              </a:rPr>
              <a:t>Users: Citizen · Lawyer · Admin</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What Problems Do We Cover?</a:t>
            </a:r>
            <a:endParaRPr lang="en-US" sz="2800" dirty="0"/>
          </a:p>
        </p:txBody>
      </p:sp>
      <p:sp>
        <p:nvSpPr>
          <p:cNvPr id="3" name="iconbg-49"/>
          <p:cNvSpPr/>
          <p:nvPr/>
        </p:nvSpPr>
        <p:spPr>
          <a:xfrm>
            <a:off x="457200" y="987552"/>
            <a:ext cx="502920" cy="502920"/>
          </a:xfrm>
          <a:prstGeom prst="ellipse">
            <a:avLst/>
          </a:prstGeom>
          <a:solidFill>
            <a:schemeClr val="accent1"/>
          </a:solidFill>
          <a:ln/>
        </p:spPr>
      </p:sp>
      <p:pic>
        <p:nvPicPr>
          <p:cNvPr id="4" name="icon-50" descr="preencoded.png">    </p:cNvPr>
          <p:cNvPicPr>
            <a:picLocks noChangeAspect="1"/>
          </p:cNvPicPr>
          <p:nvPr/>
        </p:nvPicPr>
        <p:blipFill>
          <a:blip r:embed="rId1"/>
          <a:stretch>
            <a:fillRect/>
          </a:stretch>
        </p:blipFill>
        <p:spPr>
          <a:xfrm>
            <a:off x="567842" y="1098194"/>
            <a:ext cx="281635" cy="281635"/>
          </a:xfrm>
          <a:prstGeom prst="rect">
            <a:avLst/>
          </a:prstGeom>
        </p:spPr>
      </p:pic>
      <p:sp>
        <p:nvSpPr>
          <p:cNvPr id="5" name="text-51"/>
          <p:cNvSpPr txBox="1"/>
          <p:nvPr/>
        </p:nvSpPr>
        <p:spPr>
          <a:xfrm>
            <a:off x="1097280" y="1005840"/>
            <a:ext cx="3200400" cy="457200"/>
          </a:xfrm>
          <a:prstGeom prst="rect">
            <a:avLst/>
          </a:prstGeom>
          <a:noFill/>
          <a:ln/>
        </p:spPr>
        <p:txBody>
          <a:bodyPr wrap="square" lIns="0" tIns="0" rIns="0" bIns="0" rtlCol="0" anchor="ctr"/>
          <a:lstStyle/>
          <a:p>
            <a:pPr indent="0" marL="0">
              <a:buNone/>
            </a:pPr>
            <a:r>
              <a:rPr lang="en-US" sz="1800" b="1" dirty="0">
                <a:solidFill>
                  <a:schemeClr val="tx2"/>
                </a:solidFill>
              </a:rPr>
              <a:t>Property Disputes</a:t>
            </a:r>
            <a:endParaRPr lang="en-US" sz="1800" dirty="0"/>
          </a:p>
        </p:txBody>
      </p:sp>
      <p:sp>
        <p:nvSpPr>
          <p:cNvPr id="6" name="box-52"/>
          <p:cNvSpPr/>
          <p:nvPr/>
        </p:nvSpPr>
        <p:spPr>
          <a:xfrm>
            <a:off x="457200" y="1645920"/>
            <a:ext cx="3977640" cy="658368"/>
          </a:xfrm>
          <a:prstGeom prst="roundRect">
            <a:avLst>
              <a:gd name="adj" fmla="val 11111"/>
            </a:avLst>
          </a:prstGeom>
          <a:solidFill>
            <a:schemeClr val="bg2"/>
          </a:solidFill>
          <a:ln/>
        </p:spPr>
      </p:sp>
      <p:sp>
        <p:nvSpPr>
          <p:cNvPr id="7" name="text-53"/>
          <p:cNvSpPr txBox="1"/>
          <p:nvPr/>
        </p:nvSpPr>
        <p:spPr>
          <a:xfrm>
            <a:off x="594360" y="1700784"/>
            <a:ext cx="3703320" cy="347472"/>
          </a:xfrm>
          <a:prstGeom prst="rect">
            <a:avLst/>
          </a:prstGeom>
          <a:noFill/>
          <a:ln/>
        </p:spPr>
        <p:txBody>
          <a:bodyPr wrap="square" lIns="0" tIns="0" rIns="0" bIns="0" rtlCol="0" anchor="ctr"/>
          <a:lstStyle/>
          <a:p>
            <a:pPr indent="0" marL="0">
              <a:buNone/>
            </a:pPr>
            <a:r>
              <a:rPr lang="en-US" sz="1200" i="1" dirty="0">
                <a:solidFill>
                  <a:schemeClr val="tx1"/>
                </a:solidFill>
              </a:rPr>
              <a:t>“My landlord wants me out without proper notice.”</a:t>
            </a:r>
            <a:endParaRPr lang="en-US" sz="1200" dirty="0"/>
          </a:p>
        </p:txBody>
      </p:sp>
      <p:sp>
        <p:nvSpPr>
          <p:cNvPr id="8" name="text-54"/>
          <p:cNvSpPr txBox="1"/>
          <p:nvPr/>
        </p:nvSpPr>
        <p:spPr>
          <a:xfrm>
            <a:off x="594360" y="2039112"/>
            <a:ext cx="3703320" cy="219456"/>
          </a:xfrm>
          <a:prstGeom prst="rect">
            <a:avLst/>
          </a:prstGeom>
          <a:noFill/>
          <a:ln/>
        </p:spPr>
        <p:txBody>
          <a:bodyPr wrap="square" lIns="0" tIns="0" rIns="0" bIns="0" rtlCol="0" anchor="ctr"/>
          <a:lstStyle/>
          <a:p>
            <a:pPr indent="0" marL="0">
              <a:buNone/>
            </a:pPr>
            <a:r>
              <a:rPr lang="en-US" sz="1100" b="1" dirty="0">
                <a:solidFill>
                  <a:schemeClr val="accent1"/>
                </a:solidFill>
              </a:rPr>
              <a:t>→ Tenancy and eviction</a:t>
            </a:r>
            <a:endParaRPr lang="en-US" sz="1100" dirty="0"/>
          </a:p>
        </p:txBody>
      </p:sp>
      <p:sp>
        <p:nvSpPr>
          <p:cNvPr id="9" name="box-55"/>
          <p:cNvSpPr/>
          <p:nvPr/>
        </p:nvSpPr>
        <p:spPr>
          <a:xfrm>
            <a:off x="457200" y="2423160"/>
            <a:ext cx="3977640" cy="658368"/>
          </a:xfrm>
          <a:prstGeom prst="roundRect">
            <a:avLst>
              <a:gd name="adj" fmla="val 11111"/>
            </a:avLst>
          </a:prstGeom>
          <a:solidFill>
            <a:schemeClr val="bg2"/>
          </a:solidFill>
          <a:ln/>
        </p:spPr>
      </p:sp>
      <p:sp>
        <p:nvSpPr>
          <p:cNvPr id="10" name="text-56"/>
          <p:cNvSpPr txBox="1"/>
          <p:nvPr/>
        </p:nvSpPr>
        <p:spPr>
          <a:xfrm>
            <a:off x="594360" y="2478024"/>
            <a:ext cx="3703320" cy="347472"/>
          </a:xfrm>
          <a:prstGeom prst="rect">
            <a:avLst/>
          </a:prstGeom>
          <a:noFill/>
          <a:ln/>
        </p:spPr>
        <p:txBody>
          <a:bodyPr wrap="square" lIns="0" tIns="0" rIns="0" bIns="0" rtlCol="0" anchor="ctr"/>
          <a:lstStyle/>
          <a:p>
            <a:pPr indent="0" marL="0">
              <a:buNone/>
            </a:pPr>
            <a:r>
              <a:rPr lang="en-US" sz="1200" i="1" dirty="0">
                <a:solidFill>
                  <a:schemeClr val="tx1"/>
                </a:solidFill>
              </a:rPr>
              <a:t>“Someone built a wall on part of my plot.”</a:t>
            </a:r>
            <a:endParaRPr lang="en-US" sz="1200" dirty="0"/>
          </a:p>
        </p:txBody>
      </p:sp>
      <p:sp>
        <p:nvSpPr>
          <p:cNvPr id="11" name="text-57"/>
          <p:cNvSpPr txBox="1"/>
          <p:nvPr/>
        </p:nvSpPr>
        <p:spPr>
          <a:xfrm>
            <a:off x="594360" y="2816352"/>
            <a:ext cx="3703320" cy="219456"/>
          </a:xfrm>
          <a:prstGeom prst="rect">
            <a:avLst/>
          </a:prstGeom>
          <a:noFill/>
          <a:ln/>
        </p:spPr>
        <p:txBody>
          <a:bodyPr wrap="square" lIns="0" tIns="0" rIns="0" bIns="0" rtlCol="0" anchor="ctr"/>
          <a:lstStyle/>
          <a:p>
            <a:pPr indent="0" marL="0">
              <a:buNone/>
            </a:pPr>
            <a:r>
              <a:rPr lang="en-US" sz="1100" b="1" dirty="0">
                <a:solidFill>
                  <a:schemeClr val="accent1"/>
                </a:solidFill>
              </a:rPr>
              <a:t>→ Encroachment and boundaries</a:t>
            </a:r>
            <a:endParaRPr lang="en-US" sz="1100" dirty="0"/>
          </a:p>
        </p:txBody>
      </p:sp>
      <p:sp>
        <p:nvSpPr>
          <p:cNvPr id="12" name="box-58"/>
          <p:cNvSpPr/>
          <p:nvPr/>
        </p:nvSpPr>
        <p:spPr>
          <a:xfrm>
            <a:off x="457200" y="3200400"/>
            <a:ext cx="3977640" cy="658368"/>
          </a:xfrm>
          <a:prstGeom prst="roundRect">
            <a:avLst>
              <a:gd name="adj" fmla="val 11111"/>
            </a:avLst>
          </a:prstGeom>
          <a:solidFill>
            <a:schemeClr val="bg2"/>
          </a:solidFill>
          <a:ln/>
        </p:spPr>
      </p:sp>
      <p:sp>
        <p:nvSpPr>
          <p:cNvPr id="13" name="text-59"/>
          <p:cNvSpPr txBox="1"/>
          <p:nvPr/>
        </p:nvSpPr>
        <p:spPr>
          <a:xfrm>
            <a:off x="594360" y="3255264"/>
            <a:ext cx="3703320" cy="347472"/>
          </a:xfrm>
          <a:prstGeom prst="rect">
            <a:avLst/>
          </a:prstGeom>
          <a:noFill/>
          <a:ln/>
        </p:spPr>
        <p:txBody>
          <a:bodyPr wrap="square" lIns="0" tIns="0" rIns="0" bIns="0" rtlCol="0" anchor="ctr"/>
          <a:lstStyle/>
          <a:p>
            <a:pPr indent="0" marL="0">
              <a:buNone/>
            </a:pPr>
            <a:r>
              <a:rPr lang="en-US" sz="1200" i="1" dirty="0">
                <a:solidFill>
                  <a:schemeClr val="tx1"/>
                </a:solidFill>
              </a:rPr>
              <a:t>“My brothers will not give me my share of our father's house.”</a:t>
            </a:r>
            <a:endParaRPr lang="en-US" sz="1200" dirty="0"/>
          </a:p>
        </p:txBody>
      </p:sp>
      <p:sp>
        <p:nvSpPr>
          <p:cNvPr id="14" name="text-60"/>
          <p:cNvSpPr txBox="1"/>
          <p:nvPr/>
        </p:nvSpPr>
        <p:spPr>
          <a:xfrm>
            <a:off x="594360" y="3593592"/>
            <a:ext cx="3703320" cy="219456"/>
          </a:xfrm>
          <a:prstGeom prst="rect">
            <a:avLst/>
          </a:prstGeom>
          <a:noFill/>
          <a:ln/>
        </p:spPr>
        <p:txBody>
          <a:bodyPr wrap="square" lIns="0" tIns="0" rIns="0" bIns="0" rtlCol="0" anchor="ctr"/>
          <a:lstStyle/>
          <a:p>
            <a:pPr indent="0" marL="0">
              <a:buNone/>
            </a:pPr>
            <a:r>
              <a:rPr lang="en-US" sz="1100" b="1" dirty="0">
                <a:solidFill>
                  <a:schemeClr val="accent1"/>
                </a:solidFill>
              </a:rPr>
              <a:t>→ Inheritance</a:t>
            </a:r>
            <a:endParaRPr lang="en-US" sz="1100" dirty="0"/>
          </a:p>
        </p:txBody>
      </p:sp>
      <p:sp>
        <p:nvSpPr>
          <p:cNvPr id="15" name="text-61"/>
          <p:cNvSpPr txBox="1"/>
          <p:nvPr/>
        </p:nvSpPr>
        <p:spPr>
          <a:xfrm>
            <a:off x="457200" y="4041648"/>
            <a:ext cx="3977640" cy="274320"/>
          </a:xfrm>
          <a:prstGeom prst="rect">
            <a:avLst/>
          </a:prstGeom>
          <a:noFill/>
          <a:ln/>
        </p:spPr>
        <p:txBody>
          <a:bodyPr wrap="square" lIns="0" tIns="0" rIns="0" bIns="0" rtlCol="0" anchor="t"/>
          <a:lstStyle/>
          <a:p>
            <a:pPr indent="0" marL="0">
              <a:buNone/>
            </a:pPr>
            <a:r>
              <a:rPr lang="en-US" sz="1100" dirty="0">
                <a:solidFill>
                  <a:schemeClr val="accent5"/>
                </a:solidFill>
              </a:rPr>
              <a:t>Also: ownership / title, land sale issues, agreements</a:t>
            </a:r>
            <a:endParaRPr lang="en-US" sz="1100" dirty="0"/>
          </a:p>
        </p:txBody>
      </p:sp>
      <p:sp>
        <p:nvSpPr>
          <p:cNvPr id="16" name="iconbg-62"/>
          <p:cNvSpPr/>
          <p:nvPr/>
        </p:nvSpPr>
        <p:spPr>
          <a:xfrm>
            <a:off x="4709160" y="987552"/>
            <a:ext cx="502920" cy="502920"/>
          </a:xfrm>
          <a:prstGeom prst="ellipse">
            <a:avLst/>
          </a:prstGeom>
          <a:solidFill>
            <a:schemeClr val="accent2"/>
          </a:solidFill>
          <a:ln/>
        </p:spPr>
      </p:sp>
      <p:pic>
        <p:nvPicPr>
          <p:cNvPr id="17" name="icon-63" descr="preencoded.png">    </p:cNvPr>
          <p:cNvPicPr>
            <a:picLocks noChangeAspect="1"/>
          </p:cNvPicPr>
          <p:nvPr/>
        </p:nvPicPr>
        <p:blipFill>
          <a:blip r:embed="rId2"/>
          <a:stretch>
            <a:fillRect/>
          </a:stretch>
        </p:blipFill>
        <p:spPr>
          <a:xfrm>
            <a:off x="4819802" y="1098194"/>
            <a:ext cx="281635" cy="281635"/>
          </a:xfrm>
          <a:prstGeom prst="rect">
            <a:avLst/>
          </a:prstGeom>
        </p:spPr>
      </p:pic>
      <p:sp>
        <p:nvSpPr>
          <p:cNvPr id="18" name="text-64"/>
          <p:cNvSpPr txBox="1"/>
          <p:nvPr/>
        </p:nvSpPr>
        <p:spPr>
          <a:xfrm>
            <a:off x="5349240" y="1005840"/>
            <a:ext cx="3200400" cy="457200"/>
          </a:xfrm>
          <a:prstGeom prst="rect">
            <a:avLst/>
          </a:prstGeom>
          <a:noFill/>
          <a:ln/>
        </p:spPr>
        <p:txBody>
          <a:bodyPr wrap="square" lIns="0" tIns="0" rIns="0" bIns="0" rtlCol="0" anchor="ctr"/>
          <a:lstStyle/>
          <a:p>
            <a:pPr indent="0" marL="0">
              <a:buNone/>
            </a:pPr>
            <a:r>
              <a:rPr lang="en-US" sz="1800" b="1" dirty="0">
                <a:solidFill>
                  <a:schemeClr val="tx2"/>
                </a:solidFill>
              </a:rPr>
              <a:t>Family Disputes</a:t>
            </a:r>
            <a:endParaRPr lang="en-US" sz="1800" dirty="0"/>
          </a:p>
        </p:txBody>
      </p:sp>
      <p:sp>
        <p:nvSpPr>
          <p:cNvPr id="19" name="box-65"/>
          <p:cNvSpPr/>
          <p:nvPr/>
        </p:nvSpPr>
        <p:spPr>
          <a:xfrm>
            <a:off x="4709160" y="1645920"/>
            <a:ext cx="3977640" cy="658368"/>
          </a:xfrm>
          <a:prstGeom prst="roundRect">
            <a:avLst>
              <a:gd name="adj" fmla="val 11111"/>
            </a:avLst>
          </a:prstGeom>
          <a:solidFill>
            <a:schemeClr val="bg2"/>
          </a:solidFill>
          <a:ln/>
        </p:spPr>
      </p:sp>
      <p:sp>
        <p:nvSpPr>
          <p:cNvPr id="20" name="text-66"/>
          <p:cNvSpPr txBox="1"/>
          <p:nvPr/>
        </p:nvSpPr>
        <p:spPr>
          <a:xfrm>
            <a:off x="4846320" y="1700784"/>
            <a:ext cx="3703320" cy="347472"/>
          </a:xfrm>
          <a:prstGeom prst="rect">
            <a:avLst/>
          </a:prstGeom>
          <a:noFill/>
          <a:ln/>
        </p:spPr>
        <p:txBody>
          <a:bodyPr wrap="square" lIns="0" tIns="0" rIns="0" bIns="0" rtlCol="0" anchor="ctr"/>
          <a:lstStyle/>
          <a:p>
            <a:pPr indent="0" marL="0">
              <a:buNone/>
            </a:pPr>
            <a:r>
              <a:rPr lang="en-US" sz="1200" i="1" dirty="0">
                <a:solidFill>
                  <a:schemeClr val="tx1"/>
                </a:solidFill>
              </a:rPr>
              <a:t>“How do I register my Nikah properly?”</a:t>
            </a:r>
            <a:endParaRPr lang="en-US" sz="1200" dirty="0"/>
          </a:p>
        </p:txBody>
      </p:sp>
      <p:sp>
        <p:nvSpPr>
          <p:cNvPr id="21" name="text-67"/>
          <p:cNvSpPr txBox="1"/>
          <p:nvPr/>
        </p:nvSpPr>
        <p:spPr>
          <a:xfrm>
            <a:off x="4846320" y="2039112"/>
            <a:ext cx="3703320" cy="219456"/>
          </a:xfrm>
          <a:prstGeom prst="rect">
            <a:avLst/>
          </a:prstGeom>
          <a:noFill/>
          <a:ln/>
        </p:spPr>
        <p:txBody>
          <a:bodyPr wrap="square" lIns="0" tIns="0" rIns="0" bIns="0" rtlCol="0" anchor="ctr"/>
          <a:lstStyle/>
          <a:p>
            <a:pPr indent="0" marL="0">
              <a:buNone/>
            </a:pPr>
            <a:r>
              <a:rPr lang="en-US" sz="1100" b="1" dirty="0">
                <a:solidFill>
                  <a:schemeClr val="accent2"/>
                </a:solidFill>
              </a:rPr>
              <a:t>→ Marriage registration</a:t>
            </a:r>
            <a:endParaRPr lang="en-US" sz="1100" dirty="0"/>
          </a:p>
        </p:txBody>
      </p:sp>
      <p:sp>
        <p:nvSpPr>
          <p:cNvPr id="22" name="box-68"/>
          <p:cNvSpPr/>
          <p:nvPr/>
        </p:nvSpPr>
        <p:spPr>
          <a:xfrm>
            <a:off x="4709160" y="2423160"/>
            <a:ext cx="3977640" cy="658368"/>
          </a:xfrm>
          <a:prstGeom prst="roundRect">
            <a:avLst>
              <a:gd name="adj" fmla="val 11111"/>
            </a:avLst>
          </a:prstGeom>
          <a:solidFill>
            <a:schemeClr val="bg2"/>
          </a:solidFill>
          <a:ln/>
        </p:spPr>
      </p:sp>
      <p:sp>
        <p:nvSpPr>
          <p:cNvPr id="23" name="text-69"/>
          <p:cNvSpPr txBox="1"/>
          <p:nvPr/>
        </p:nvSpPr>
        <p:spPr>
          <a:xfrm>
            <a:off x="4846320" y="2478024"/>
            <a:ext cx="3703320" cy="347472"/>
          </a:xfrm>
          <a:prstGeom prst="rect">
            <a:avLst/>
          </a:prstGeom>
          <a:noFill/>
          <a:ln/>
        </p:spPr>
        <p:txBody>
          <a:bodyPr wrap="square" lIns="0" tIns="0" rIns="0" bIns="0" rtlCol="0" anchor="ctr"/>
          <a:lstStyle/>
          <a:p>
            <a:pPr indent="0" marL="0">
              <a:buNone/>
            </a:pPr>
            <a:r>
              <a:rPr lang="en-US" sz="1200" i="1" dirty="0">
                <a:solidFill>
                  <a:schemeClr val="tx1"/>
                </a:solidFill>
              </a:rPr>
              <a:t>“My husband is not paying maintenance for me and the kids.”</a:t>
            </a:r>
            <a:endParaRPr lang="en-US" sz="1200" dirty="0"/>
          </a:p>
        </p:txBody>
      </p:sp>
      <p:sp>
        <p:nvSpPr>
          <p:cNvPr id="24" name="text-70"/>
          <p:cNvSpPr txBox="1"/>
          <p:nvPr/>
        </p:nvSpPr>
        <p:spPr>
          <a:xfrm>
            <a:off x="4846320" y="2816352"/>
            <a:ext cx="3703320" cy="219456"/>
          </a:xfrm>
          <a:prstGeom prst="rect">
            <a:avLst/>
          </a:prstGeom>
          <a:noFill/>
          <a:ln/>
        </p:spPr>
        <p:txBody>
          <a:bodyPr wrap="square" lIns="0" tIns="0" rIns="0" bIns="0" rtlCol="0" anchor="ctr"/>
          <a:lstStyle/>
          <a:p>
            <a:pPr indent="0" marL="0">
              <a:buNone/>
            </a:pPr>
            <a:r>
              <a:rPr lang="en-US" sz="1100" b="1" dirty="0">
                <a:solidFill>
                  <a:schemeClr val="accent2"/>
                </a:solidFill>
              </a:rPr>
              <a:t>→ Maintenance (Nafaqa)</a:t>
            </a:r>
            <a:endParaRPr lang="en-US" sz="1100" dirty="0"/>
          </a:p>
        </p:txBody>
      </p:sp>
      <p:sp>
        <p:nvSpPr>
          <p:cNvPr id="25" name="box-71"/>
          <p:cNvSpPr/>
          <p:nvPr/>
        </p:nvSpPr>
        <p:spPr>
          <a:xfrm>
            <a:off x="4709160" y="3200400"/>
            <a:ext cx="3977640" cy="658368"/>
          </a:xfrm>
          <a:prstGeom prst="roundRect">
            <a:avLst>
              <a:gd name="adj" fmla="val 11111"/>
            </a:avLst>
          </a:prstGeom>
          <a:solidFill>
            <a:schemeClr val="bg2"/>
          </a:solidFill>
          <a:ln/>
        </p:spPr>
      </p:sp>
      <p:sp>
        <p:nvSpPr>
          <p:cNvPr id="26" name="text-72"/>
          <p:cNvSpPr txBox="1"/>
          <p:nvPr/>
        </p:nvSpPr>
        <p:spPr>
          <a:xfrm>
            <a:off x="4846320" y="3255264"/>
            <a:ext cx="3703320" cy="347472"/>
          </a:xfrm>
          <a:prstGeom prst="rect">
            <a:avLst/>
          </a:prstGeom>
          <a:noFill/>
          <a:ln/>
        </p:spPr>
        <p:txBody>
          <a:bodyPr wrap="square" lIns="0" tIns="0" rIns="0" bIns="0" rtlCol="0" anchor="ctr"/>
          <a:lstStyle/>
          <a:p>
            <a:pPr indent="0" marL="0">
              <a:buNone/>
            </a:pPr>
            <a:r>
              <a:rPr lang="en-US" sz="1200" i="1" dirty="0">
                <a:solidFill>
                  <a:schemeClr val="tx1"/>
                </a:solidFill>
              </a:rPr>
              <a:t>“Who keeps the children after a divorce?”</a:t>
            </a:r>
            <a:endParaRPr lang="en-US" sz="1200" dirty="0"/>
          </a:p>
        </p:txBody>
      </p:sp>
      <p:sp>
        <p:nvSpPr>
          <p:cNvPr id="27" name="text-73"/>
          <p:cNvSpPr txBox="1"/>
          <p:nvPr/>
        </p:nvSpPr>
        <p:spPr>
          <a:xfrm>
            <a:off x="4846320" y="3593592"/>
            <a:ext cx="3703320" cy="219456"/>
          </a:xfrm>
          <a:prstGeom prst="rect">
            <a:avLst/>
          </a:prstGeom>
          <a:noFill/>
          <a:ln/>
        </p:spPr>
        <p:txBody>
          <a:bodyPr wrap="square" lIns="0" tIns="0" rIns="0" bIns="0" rtlCol="0" anchor="ctr"/>
          <a:lstStyle/>
          <a:p>
            <a:pPr indent="0" marL="0">
              <a:buNone/>
            </a:pPr>
            <a:r>
              <a:rPr lang="en-US" sz="1100" b="1" dirty="0">
                <a:solidFill>
                  <a:schemeClr val="accent2"/>
                </a:solidFill>
              </a:rPr>
              <a:t>→ Child custody / visitation</a:t>
            </a:r>
            <a:endParaRPr lang="en-US" sz="1100" dirty="0"/>
          </a:p>
        </p:txBody>
      </p:sp>
      <p:sp>
        <p:nvSpPr>
          <p:cNvPr id="28" name="text-74"/>
          <p:cNvSpPr txBox="1"/>
          <p:nvPr/>
        </p:nvSpPr>
        <p:spPr>
          <a:xfrm>
            <a:off x="4709160" y="4041648"/>
            <a:ext cx="3977640" cy="274320"/>
          </a:xfrm>
          <a:prstGeom prst="rect">
            <a:avLst/>
          </a:prstGeom>
          <a:noFill/>
          <a:ln/>
        </p:spPr>
        <p:txBody>
          <a:bodyPr wrap="square" lIns="0" tIns="0" rIns="0" bIns="0" rtlCol="0" anchor="t"/>
          <a:lstStyle/>
          <a:p>
            <a:pPr indent="0" marL="0">
              <a:buNone/>
            </a:pPr>
            <a:r>
              <a:rPr lang="en-US" sz="1100" dirty="0">
                <a:solidFill>
                  <a:schemeClr val="accent5"/>
                </a:solidFill>
              </a:rPr>
              <a:t>Also: divorce / Khula, dower (Haq Mehr), family court steps</a:t>
            </a:r>
            <a:endParaRPr lang="en-US" sz="1100" dirty="0"/>
          </a:p>
        </p:txBody>
      </p:sp>
      <p:sp>
        <p:nvSpPr>
          <p:cNvPr id="29" name="text-75"/>
          <p:cNvSpPr txBox="1"/>
          <p:nvPr/>
        </p:nvSpPr>
        <p:spPr>
          <a:xfrm>
            <a:off x="457200" y="4370832"/>
            <a:ext cx="8229600" cy="274320"/>
          </a:xfrm>
          <a:prstGeom prst="rect">
            <a:avLst/>
          </a:prstGeom>
          <a:noFill/>
          <a:ln/>
        </p:spPr>
        <p:txBody>
          <a:bodyPr wrap="square" lIns="0" tIns="0" rIns="0" bIns="0" rtlCol="0" anchor="t"/>
          <a:lstStyle/>
          <a:p>
            <a:pPr indent="0" marL="0">
              <a:buNone/>
            </a:pPr>
            <a:r>
              <a:rPr lang="en-US" sz="1100" b="1" dirty="0">
                <a:solidFill>
                  <a:schemeClr val="tx2"/>
                </a:solidFill>
              </a:rPr>
              <a:t>We keep the scope small on purpose: a smaller, checked set of laws is more trustworthy than a big, unreliable one.</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How It Works: The Full Flowchart</a:t>
            </a:r>
            <a:endParaRPr lang="en-US" sz="2800" dirty="0"/>
          </a:p>
        </p:txBody>
      </p:sp>
      <p:sp>
        <p:nvSpPr>
          <p:cNvPr id="3" name="oval-76"/>
          <p:cNvSpPr/>
          <p:nvPr/>
        </p:nvSpPr>
        <p:spPr>
          <a:xfrm>
            <a:off x="457200" y="1257300"/>
            <a:ext cx="1005840" cy="685800"/>
          </a:xfrm>
          <a:prstGeom prst="ellipse">
            <a:avLst/>
          </a:prstGeom>
          <a:solidFill>
            <a:schemeClr val="tx2"/>
          </a:solidFill>
          <a:ln/>
        </p:spPr>
      </p:sp>
      <p:sp>
        <p:nvSpPr>
          <p:cNvPr id="4" name="text-77"/>
          <p:cNvSpPr txBox="1"/>
          <p:nvPr/>
        </p:nvSpPr>
        <p:spPr>
          <a:xfrm>
            <a:off x="457200" y="1257300"/>
            <a:ext cx="1005840" cy="685800"/>
          </a:xfrm>
          <a:prstGeom prst="rect">
            <a:avLst/>
          </a:prstGeom>
          <a:noFill/>
          <a:ln/>
        </p:spPr>
        <p:txBody>
          <a:bodyPr wrap="square" lIns="0" tIns="0" rIns="0" bIns="0" rtlCol="0" anchor="ctr"/>
          <a:lstStyle/>
          <a:p>
            <a:pPr algn="ctr" indent="0" marL="0">
              <a:buNone/>
            </a:pPr>
            <a:r>
              <a:rPr lang="en-US" sz="1100" b="1" dirty="0">
                <a:solidFill>
                  <a:schemeClr val="bg1"/>
                </a:solidFill>
              </a:rPr>
              <a:t>Start: open a case</a:t>
            </a:r>
            <a:endParaRPr lang="en-US" sz="1100" dirty="0"/>
          </a:p>
        </p:txBody>
      </p:sp>
      <p:sp>
        <p:nvSpPr>
          <p:cNvPr id="5" name="box-78"/>
          <p:cNvSpPr/>
          <p:nvPr/>
        </p:nvSpPr>
        <p:spPr>
          <a:xfrm>
            <a:off x="1664208" y="1257300"/>
            <a:ext cx="1234440" cy="685800"/>
          </a:xfrm>
          <a:prstGeom prst="roundRect">
            <a:avLst>
              <a:gd name="adj" fmla="val 10667"/>
            </a:avLst>
          </a:prstGeom>
          <a:solidFill>
            <a:schemeClr val="accent3"/>
          </a:solidFill>
          <a:ln/>
        </p:spPr>
      </p:sp>
      <p:sp>
        <p:nvSpPr>
          <p:cNvPr id="6" name="boxtext-79"/>
          <p:cNvSpPr txBox="1"/>
          <p:nvPr/>
        </p:nvSpPr>
        <p:spPr>
          <a:xfrm>
            <a:off x="1664208" y="1257300"/>
            <a:ext cx="1234440" cy="685800"/>
          </a:xfrm>
          <a:prstGeom prst="rect">
            <a:avLst/>
          </a:prstGeom>
          <a:noFill/>
          <a:ln/>
        </p:spPr>
        <p:txBody>
          <a:bodyPr wrap="square" lIns="762" tIns="762" rIns="762" bIns="762" rtlCol="0" anchor="ctr"/>
          <a:lstStyle/>
          <a:p>
            <a:pPr algn="ctr" indent="0" marL="0">
              <a:buNone/>
            </a:pPr>
            <a:r>
              <a:rPr lang="en-US" sz="1100" b="1" dirty="0">
                <a:solidFill>
                  <a:schemeClr val="tx2"/>
                </a:solidFill>
              </a:rPr>
              <a:t>Describe the problem</a:t>
            </a:r>
            <a:endParaRPr lang="en-US" sz="1100" dirty="0"/>
          </a:p>
        </p:txBody>
      </p:sp>
      <p:sp>
        <p:nvSpPr>
          <p:cNvPr id="7" name="diamond-80"/>
          <p:cNvSpPr/>
          <p:nvPr/>
        </p:nvSpPr>
        <p:spPr>
          <a:xfrm>
            <a:off x="3099816" y="1143000"/>
            <a:ext cx="1188720" cy="914400"/>
          </a:xfrm>
          <a:prstGeom prst="diamond">
            <a:avLst/>
          </a:prstGeom>
          <a:solidFill>
            <a:schemeClr val="accent2"/>
          </a:solidFill>
          <a:ln/>
        </p:spPr>
      </p:sp>
      <p:sp>
        <p:nvSpPr>
          <p:cNvPr id="8" name="text-81"/>
          <p:cNvSpPr txBox="1"/>
          <p:nvPr/>
        </p:nvSpPr>
        <p:spPr>
          <a:xfrm>
            <a:off x="3236976" y="1143000"/>
            <a:ext cx="914400" cy="914400"/>
          </a:xfrm>
          <a:prstGeom prst="rect">
            <a:avLst/>
          </a:prstGeom>
          <a:noFill/>
          <a:ln/>
        </p:spPr>
        <p:txBody>
          <a:bodyPr wrap="square" lIns="0" tIns="0" rIns="0" bIns="0" rtlCol="0" anchor="ctr"/>
          <a:lstStyle/>
          <a:p>
            <a:pPr algn="ctr" indent="0" marL="0">
              <a:buNone/>
            </a:pPr>
            <a:r>
              <a:rPr lang="en-US" sz="1100" b="1" dirty="0">
                <a:solidFill>
                  <a:schemeClr val="bg1"/>
                </a:solidFill>
              </a:rPr>
              <a:t>Facts clear?</a:t>
            </a:r>
            <a:endParaRPr lang="en-US" sz="1100" dirty="0"/>
          </a:p>
        </p:txBody>
      </p:sp>
      <p:sp>
        <p:nvSpPr>
          <p:cNvPr id="9" name="box-82"/>
          <p:cNvSpPr/>
          <p:nvPr/>
        </p:nvSpPr>
        <p:spPr>
          <a:xfrm>
            <a:off x="4489704" y="1257300"/>
            <a:ext cx="1234440" cy="685800"/>
          </a:xfrm>
          <a:prstGeom prst="roundRect">
            <a:avLst>
              <a:gd name="adj" fmla="val 10667"/>
            </a:avLst>
          </a:prstGeom>
          <a:solidFill>
            <a:schemeClr val="tx2"/>
          </a:solidFill>
          <a:ln/>
        </p:spPr>
      </p:sp>
      <p:sp>
        <p:nvSpPr>
          <p:cNvPr id="10" name="boxtext-83"/>
          <p:cNvSpPr txBox="1"/>
          <p:nvPr/>
        </p:nvSpPr>
        <p:spPr>
          <a:xfrm>
            <a:off x="4489704" y="1257300"/>
            <a:ext cx="1234440" cy="685800"/>
          </a:xfrm>
          <a:prstGeom prst="rect">
            <a:avLst/>
          </a:prstGeom>
          <a:noFill/>
          <a:ln/>
        </p:spPr>
        <p:txBody>
          <a:bodyPr wrap="square" lIns="762" tIns="762" rIns="762" bIns="762" rtlCol="0" anchor="ctr"/>
          <a:lstStyle/>
          <a:p>
            <a:pPr algn="ctr" indent="0" marL="0">
              <a:buNone/>
            </a:pPr>
            <a:r>
              <a:rPr lang="en-US" sz="1100" b="1" dirty="0">
                <a:solidFill>
                  <a:schemeClr val="bg1"/>
                </a:solidFill>
              </a:rPr>
              <a:t>Find matching laws (AI)</a:t>
            </a:r>
            <a:endParaRPr lang="en-US" sz="1100" dirty="0"/>
          </a:p>
        </p:txBody>
      </p:sp>
      <p:sp>
        <p:nvSpPr>
          <p:cNvPr id="11" name="diamond-84"/>
          <p:cNvSpPr/>
          <p:nvPr/>
        </p:nvSpPr>
        <p:spPr>
          <a:xfrm>
            <a:off x="5925312" y="1143000"/>
            <a:ext cx="1188720" cy="914400"/>
          </a:xfrm>
          <a:prstGeom prst="diamond">
            <a:avLst/>
          </a:prstGeom>
          <a:solidFill>
            <a:schemeClr val="accent2"/>
          </a:solidFill>
          <a:ln/>
        </p:spPr>
      </p:sp>
      <p:sp>
        <p:nvSpPr>
          <p:cNvPr id="12" name="text-85"/>
          <p:cNvSpPr txBox="1"/>
          <p:nvPr/>
        </p:nvSpPr>
        <p:spPr>
          <a:xfrm>
            <a:off x="6062472" y="1143000"/>
            <a:ext cx="914400" cy="914400"/>
          </a:xfrm>
          <a:prstGeom prst="rect">
            <a:avLst/>
          </a:prstGeom>
          <a:noFill/>
          <a:ln/>
        </p:spPr>
        <p:txBody>
          <a:bodyPr wrap="square" lIns="0" tIns="0" rIns="0" bIns="0" rtlCol="0" anchor="ctr"/>
          <a:lstStyle/>
          <a:p>
            <a:pPr algn="ctr" indent="0" marL="0">
              <a:buNone/>
            </a:pPr>
            <a:r>
              <a:rPr lang="en-US" sz="1100" b="1" dirty="0">
                <a:solidFill>
                  <a:schemeClr val="bg1"/>
                </a:solidFill>
              </a:rPr>
              <a:t>Any documents?</a:t>
            </a:r>
            <a:endParaRPr lang="en-US" sz="1100" dirty="0"/>
          </a:p>
        </p:txBody>
      </p:sp>
      <p:sp>
        <p:nvSpPr>
          <p:cNvPr id="13" name="box-86"/>
          <p:cNvSpPr/>
          <p:nvPr/>
        </p:nvSpPr>
        <p:spPr>
          <a:xfrm>
            <a:off x="7315200" y="1257300"/>
            <a:ext cx="1371600" cy="685800"/>
          </a:xfrm>
          <a:prstGeom prst="roundRect">
            <a:avLst>
              <a:gd name="adj" fmla="val 10667"/>
            </a:avLst>
          </a:prstGeom>
          <a:solidFill>
            <a:schemeClr val="tx2"/>
          </a:solidFill>
          <a:ln/>
        </p:spPr>
      </p:sp>
      <p:sp>
        <p:nvSpPr>
          <p:cNvPr id="14" name="boxtext-87"/>
          <p:cNvSpPr txBox="1"/>
          <p:nvPr/>
        </p:nvSpPr>
        <p:spPr>
          <a:xfrm>
            <a:off x="7315200" y="1257300"/>
            <a:ext cx="1371600" cy="685800"/>
          </a:xfrm>
          <a:prstGeom prst="rect">
            <a:avLst/>
          </a:prstGeom>
          <a:noFill/>
          <a:ln/>
        </p:spPr>
        <p:txBody>
          <a:bodyPr wrap="square" lIns="762" tIns="762" rIns="762" bIns="762" rtlCol="0" anchor="ctr"/>
          <a:lstStyle/>
          <a:p>
            <a:pPr algn="ctr" indent="0" marL="0">
              <a:buNone/>
            </a:pPr>
            <a:r>
              <a:rPr lang="en-US" sz="1100" b="1" dirty="0">
                <a:solidFill>
                  <a:schemeClr val="bg1"/>
                </a:solidFill>
              </a:rPr>
              <a:t>Explain + sources + checklist</a:t>
            </a:r>
            <a:endParaRPr lang="en-US" sz="1100" dirty="0"/>
          </a:p>
        </p:txBody>
      </p:sp>
      <p:sp>
        <p:nvSpPr>
          <p:cNvPr id="15" name="arrow-88"/>
          <p:cNvSpPr/>
          <p:nvPr/>
        </p:nvSpPr>
        <p:spPr>
          <a:xfrm>
            <a:off x="1472184" y="1600200"/>
            <a:ext cx="182880" cy="0"/>
          </a:xfrm>
          <a:prstGeom prst="line">
            <a:avLst/>
          </a:prstGeom>
          <a:noFill/>
          <a:ln w="19050">
            <a:solidFill>
              <a:schemeClr val="accent5"/>
            </a:solidFill>
            <a:prstDash val="solid"/>
            <a:tailEnd type="triangle"/>
          </a:ln>
        </p:spPr>
      </p:sp>
      <p:sp>
        <p:nvSpPr>
          <p:cNvPr id="16" name="arrow-89"/>
          <p:cNvSpPr/>
          <p:nvPr/>
        </p:nvSpPr>
        <p:spPr>
          <a:xfrm>
            <a:off x="2907792" y="1600200"/>
            <a:ext cx="182880" cy="0"/>
          </a:xfrm>
          <a:prstGeom prst="line">
            <a:avLst/>
          </a:prstGeom>
          <a:noFill/>
          <a:ln w="19050">
            <a:solidFill>
              <a:schemeClr val="accent5"/>
            </a:solidFill>
            <a:prstDash val="solid"/>
            <a:tailEnd type="triangle"/>
          </a:ln>
        </p:spPr>
      </p:sp>
      <p:sp>
        <p:nvSpPr>
          <p:cNvPr id="17" name="arrow-90"/>
          <p:cNvSpPr/>
          <p:nvPr/>
        </p:nvSpPr>
        <p:spPr>
          <a:xfrm>
            <a:off x="4297680" y="1600200"/>
            <a:ext cx="182880" cy="0"/>
          </a:xfrm>
          <a:prstGeom prst="line">
            <a:avLst/>
          </a:prstGeom>
          <a:noFill/>
          <a:ln w="19050">
            <a:solidFill>
              <a:schemeClr val="accent5"/>
            </a:solidFill>
            <a:prstDash val="solid"/>
            <a:tailEnd type="triangle"/>
          </a:ln>
        </p:spPr>
      </p:sp>
      <p:sp>
        <p:nvSpPr>
          <p:cNvPr id="18" name="text-91"/>
          <p:cNvSpPr txBox="1"/>
          <p:nvPr/>
        </p:nvSpPr>
        <p:spPr>
          <a:xfrm>
            <a:off x="4206240" y="1371600"/>
            <a:ext cx="365760" cy="182880"/>
          </a:xfrm>
          <a:prstGeom prst="rect">
            <a:avLst/>
          </a:prstGeom>
          <a:noFill/>
          <a:ln/>
        </p:spPr>
        <p:txBody>
          <a:bodyPr wrap="square" lIns="0" tIns="0" rIns="0" bIns="0" rtlCol="0" anchor="ctr"/>
          <a:lstStyle/>
          <a:p>
            <a:pPr algn="ctr" indent="0" marL="0">
              <a:buNone/>
            </a:pPr>
            <a:r>
              <a:rPr lang="en-US" sz="1000" b="1" dirty="0">
                <a:solidFill>
                  <a:schemeClr val="accent6"/>
                </a:solidFill>
              </a:rPr>
              <a:t>Yes</a:t>
            </a:r>
            <a:endParaRPr lang="en-US" sz="1000" dirty="0"/>
          </a:p>
        </p:txBody>
      </p:sp>
      <p:sp>
        <p:nvSpPr>
          <p:cNvPr id="19" name="arrow-92"/>
          <p:cNvSpPr/>
          <p:nvPr/>
        </p:nvSpPr>
        <p:spPr>
          <a:xfrm>
            <a:off x="5733288" y="1600200"/>
            <a:ext cx="182880" cy="0"/>
          </a:xfrm>
          <a:prstGeom prst="line">
            <a:avLst/>
          </a:prstGeom>
          <a:noFill/>
          <a:ln w="19050">
            <a:solidFill>
              <a:schemeClr val="accent5"/>
            </a:solidFill>
            <a:prstDash val="solid"/>
            <a:tailEnd type="triangle"/>
          </a:ln>
        </p:spPr>
      </p:sp>
      <p:sp>
        <p:nvSpPr>
          <p:cNvPr id="20" name="arrow-93"/>
          <p:cNvSpPr/>
          <p:nvPr/>
        </p:nvSpPr>
        <p:spPr>
          <a:xfrm>
            <a:off x="7123176" y="1600200"/>
            <a:ext cx="182880" cy="0"/>
          </a:xfrm>
          <a:prstGeom prst="line">
            <a:avLst/>
          </a:prstGeom>
          <a:noFill/>
          <a:ln w="19050">
            <a:solidFill>
              <a:schemeClr val="accent5"/>
            </a:solidFill>
            <a:prstDash val="solid"/>
            <a:tailEnd type="triangle"/>
          </a:ln>
        </p:spPr>
      </p:sp>
      <p:sp>
        <p:nvSpPr>
          <p:cNvPr id="21" name="text-94"/>
          <p:cNvSpPr txBox="1"/>
          <p:nvPr/>
        </p:nvSpPr>
        <p:spPr>
          <a:xfrm>
            <a:off x="7040880" y="1371600"/>
            <a:ext cx="365760" cy="182880"/>
          </a:xfrm>
          <a:prstGeom prst="rect">
            <a:avLst/>
          </a:prstGeom>
          <a:noFill/>
          <a:ln/>
        </p:spPr>
        <p:txBody>
          <a:bodyPr wrap="square" lIns="0" tIns="0" rIns="0" bIns="0" rtlCol="0" anchor="ctr"/>
          <a:lstStyle/>
          <a:p>
            <a:pPr algn="ctr" indent="0" marL="0">
              <a:buNone/>
            </a:pPr>
            <a:r>
              <a:rPr lang="en-US" sz="1000" b="1" dirty="0">
                <a:solidFill>
                  <a:schemeClr val="accent6"/>
                </a:solidFill>
              </a:rPr>
              <a:t>No</a:t>
            </a:r>
            <a:endParaRPr lang="en-US" sz="1000" dirty="0"/>
          </a:p>
        </p:txBody>
      </p:sp>
      <p:sp>
        <p:nvSpPr>
          <p:cNvPr id="22" name="box-95"/>
          <p:cNvSpPr/>
          <p:nvPr/>
        </p:nvSpPr>
        <p:spPr>
          <a:xfrm>
            <a:off x="2916936" y="2377440"/>
            <a:ext cx="1554480" cy="502920"/>
          </a:xfrm>
          <a:prstGeom prst="roundRect">
            <a:avLst>
              <a:gd name="adj" fmla="val 14545"/>
            </a:avLst>
          </a:prstGeom>
          <a:solidFill>
            <a:schemeClr val="bg2"/>
          </a:solidFill>
          <a:ln w="12700">
            <a:solidFill>
              <a:schemeClr val="accent2"/>
            </a:solidFill>
            <a:prstDash val="solid"/>
          </a:ln>
        </p:spPr>
      </p:sp>
      <p:sp>
        <p:nvSpPr>
          <p:cNvPr id="23" name="boxtext-96"/>
          <p:cNvSpPr txBox="1"/>
          <p:nvPr/>
        </p:nvSpPr>
        <p:spPr>
          <a:xfrm>
            <a:off x="2916936" y="2377440"/>
            <a:ext cx="1554480" cy="502920"/>
          </a:xfrm>
          <a:prstGeom prst="rect">
            <a:avLst/>
          </a:prstGeom>
          <a:noFill/>
          <a:ln/>
        </p:spPr>
        <p:txBody>
          <a:bodyPr wrap="square" lIns="762" tIns="762" rIns="762" bIns="762" rtlCol="0" anchor="ctr"/>
          <a:lstStyle/>
          <a:p>
            <a:pPr algn="ctr" indent="0" marL="0">
              <a:buNone/>
            </a:pPr>
            <a:r>
              <a:rPr lang="en-US" sz="1100" dirty="0">
                <a:solidFill>
                  <a:schemeClr val="tx2"/>
                </a:solidFill>
              </a:rPr>
              <a:t>Ask a follow-up question</a:t>
            </a:r>
            <a:endParaRPr lang="en-US" sz="1100" dirty="0"/>
          </a:p>
        </p:txBody>
      </p:sp>
      <p:sp>
        <p:nvSpPr>
          <p:cNvPr id="24" name="arrow-97"/>
          <p:cNvSpPr/>
          <p:nvPr/>
        </p:nvSpPr>
        <p:spPr>
          <a:xfrm>
            <a:off x="3694176" y="2057400"/>
            <a:ext cx="0" cy="310896"/>
          </a:xfrm>
          <a:prstGeom prst="line">
            <a:avLst/>
          </a:prstGeom>
          <a:noFill/>
          <a:ln w="19050">
            <a:solidFill>
              <a:schemeClr val="accent5"/>
            </a:solidFill>
            <a:prstDash val="solid"/>
            <a:tailEnd type="triangle"/>
          </a:ln>
        </p:spPr>
      </p:sp>
      <p:sp>
        <p:nvSpPr>
          <p:cNvPr id="25" name="text-98"/>
          <p:cNvSpPr txBox="1"/>
          <p:nvPr/>
        </p:nvSpPr>
        <p:spPr>
          <a:xfrm>
            <a:off x="3730752" y="2103120"/>
            <a:ext cx="320040" cy="182880"/>
          </a:xfrm>
          <a:prstGeom prst="rect">
            <a:avLst/>
          </a:prstGeom>
          <a:noFill/>
          <a:ln/>
        </p:spPr>
        <p:txBody>
          <a:bodyPr wrap="square" lIns="0" tIns="0" rIns="0" bIns="0" rtlCol="0" anchor="ctr"/>
          <a:lstStyle/>
          <a:p>
            <a:pPr algn="ctr" indent="0" marL="0">
              <a:buNone/>
            </a:pPr>
            <a:r>
              <a:rPr lang="en-US" sz="1000" b="1" dirty="0">
                <a:solidFill>
                  <a:schemeClr val="accent6"/>
                </a:solidFill>
              </a:rPr>
              <a:t>No</a:t>
            </a:r>
            <a:endParaRPr lang="en-US" sz="1000" dirty="0"/>
          </a:p>
        </p:txBody>
      </p:sp>
      <p:sp>
        <p:nvSpPr>
          <p:cNvPr id="26" name="arrow-99"/>
          <p:cNvSpPr/>
          <p:nvPr/>
        </p:nvSpPr>
        <p:spPr>
          <a:xfrm flipH="1">
            <a:off x="2286000" y="2628900"/>
            <a:ext cx="621792" cy="0"/>
          </a:xfrm>
          <a:prstGeom prst="line">
            <a:avLst/>
          </a:prstGeom>
          <a:noFill/>
          <a:ln w="19050">
            <a:solidFill>
              <a:schemeClr val="accent5"/>
            </a:solidFill>
            <a:prstDash val="solid"/>
          </a:ln>
        </p:spPr>
      </p:sp>
      <p:sp>
        <p:nvSpPr>
          <p:cNvPr id="27" name="arrow-100"/>
          <p:cNvSpPr/>
          <p:nvPr/>
        </p:nvSpPr>
        <p:spPr>
          <a:xfrm flipV="1">
            <a:off x="2286000" y="1952244"/>
            <a:ext cx="0" cy="676656"/>
          </a:xfrm>
          <a:prstGeom prst="line">
            <a:avLst/>
          </a:prstGeom>
          <a:noFill/>
          <a:ln w="19050">
            <a:solidFill>
              <a:schemeClr val="accent5"/>
            </a:solidFill>
            <a:prstDash val="solid"/>
            <a:tailEnd type="triangle"/>
          </a:ln>
        </p:spPr>
      </p:sp>
      <p:sp>
        <p:nvSpPr>
          <p:cNvPr id="28" name="box-101"/>
          <p:cNvSpPr/>
          <p:nvPr/>
        </p:nvSpPr>
        <p:spPr>
          <a:xfrm>
            <a:off x="5742432" y="2377440"/>
            <a:ext cx="1554480" cy="502920"/>
          </a:xfrm>
          <a:prstGeom prst="roundRect">
            <a:avLst>
              <a:gd name="adj" fmla="val 14545"/>
            </a:avLst>
          </a:prstGeom>
          <a:solidFill>
            <a:schemeClr val="bg2"/>
          </a:solidFill>
          <a:ln w="12700">
            <a:solidFill>
              <a:schemeClr val="accent2"/>
            </a:solidFill>
            <a:prstDash val="solid"/>
          </a:ln>
        </p:spPr>
      </p:sp>
      <p:sp>
        <p:nvSpPr>
          <p:cNvPr id="29" name="boxtext-102"/>
          <p:cNvSpPr txBox="1"/>
          <p:nvPr/>
        </p:nvSpPr>
        <p:spPr>
          <a:xfrm>
            <a:off x="5742432" y="2377440"/>
            <a:ext cx="1554480" cy="502920"/>
          </a:xfrm>
          <a:prstGeom prst="rect">
            <a:avLst/>
          </a:prstGeom>
          <a:noFill/>
          <a:ln/>
        </p:spPr>
        <p:txBody>
          <a:bodyPr wrap="square" lIns="762" tIns="762" rIns="762" bIns="762" rtlCol="0" anchor="ctr"/>
          <a:lstStyle/>
          <a:p>
            <a:pPr algn="ctr" indent="0" marL="0">
              <a:buNone/>
            </a:pPr>
            <a:r>
              <a:rPr lang="en-US" sz="1100" dirty="0">
                <a:solidFill>
                  <a:schemeClr val="tx2"/>
                </a:solidFill>
              </a:rPr>
              <a:t>Read them (PDF or photo)</a:t>
            </a:r>
            <a:endParaRPr lang="en-US" sz="1100" dirty="0"/>
          </a:p>
        </p:txBody>
      </p:sp>
      <p:sp>
        <p:nvSpPr>
          <p:cNvPr id="30" name="arrow-103"/>
          <p:cNvSpPr/>
          <p:nvPr/>
        </p:nvSpPr>
        <p:spPr>
          <a:xfrm>
            <a:off x="6519672" y="2057400"/>
            <a:ext cx="0" cy="310896"/>
          </a:xfrm>
          <a:prstGeom prst="line">
            <a:avLst/>
          </a:prstGeom>
          <a:noFill/>
          <a:ln w="19050">
            <a:solidFill>
              <a:schemeClr val="accent5"/>
            </a:solidFill>
            <a:prstDash val="solid"/>
            <a:tailEnd type="triangle"/>
          </a:ln>
        </p:spPr>
      </p:sp>
      <p:sp>
        <p:nvSpPr>
          <p:cNvPr id="31" name="text-104"/>
          <p:cNvSpPr txBox="1"/>
          <p:nvPr/>
        </p:nvSpPr>
        <p:spPr>
          <a:xfrm>
            <a:off x="6556248" y="2103120"/>
            <a:ext cx="365760" cy="182880"/>
          </a:xfrm>
          <a:prstGeom prst="rect">
            <a:avLst/>
          </a:prstGeom>
          <a:noFill/>
          <a:ln/>
        </p:spPr>
        <p:txBody>
          <a:bodyPr wrap="square" lIns="0" tIns="0" rIns="0" bIns="0" rtlCol="0" anchor="ctr"/>
          <a:lstStyle/>
          <a:p>
            <a:pPr algn="ctr" indent="0" marL="0">
              <a:buNone/>
            </a:pPr>
            <a:r>
              <a:rPr lang="en-US" sz="1000" b="1" dirty="0">
                <a:solidFill>
                  <a:schemeClr val="accent6"/>
                </a:solidFill>
              </a:rPr>
              <a:t>Yes</a:t>
            </a:r>
            <a:endParaRPr lang="en-US" sz="1000" dirty="0"/>
          </a:p>
        </p:txBody>
      </p:sp>
      <p:sp>
        <p:nvSpPr>
          <p:cNvPr id="32" name="arrow-105"/>
          <p:cNvSpPr/>
          <p:nvPr/>
        </p:nvSpPr>
        <p:spPr>
          <a:xfrm>
            <a:off x="7306056" y="2628900"/>
            <a:ext cx="374904" cy="0"/>
          </a:xfrm>
          <a:prstGeom prst="line">
            <a:avLst/>
          </a:prstGeom>
          <a:noFill/>
          <a:ln w="19050">
            <a:solidFill>
              <a:schemeClr val="accent5"/>
            </a:solidFill>
            <a:prstDash val="solid"/>
          </a:ln>
        </p:spPr>
      </p:sp>
      <p:sp>
        <p:nvSpPr>
          <p:cNvPr id="33" name="arrow-106"/>
          <p:cNvSpPr/>
          <p:nvPr/>
        </p:nvSpPr>
        <p:spPr>
          <a:xfrm flipV="1">
            <a:off x="7680960" y="1952244"/>
            <a:ext cx="0" cy="676656"/>
          </a:xfrm>
          <a:prstGeom prst="line">
            <a:avLst/>
          </a:prstGeom>
          <a:noFill/>
          <a:ln w="19050">
            <a:solidFill>
              <a:schemeClr val="accent5"/>
            </a:solidFill>
            <a:prstDash val="solid"/>
            <a:tailEnd type="triangle"/>
          </a:ln>
        </p:spPr>
      </p:sp>
      <p:sp>
        <p:nvSpPr>
          <p:cNvPr id="34" name="arrow-107"/>
          <p:cNvSpPr/>
          <p:nvPr/>
        </p:nvSpPr>
        <p:spPr>
          <a:xfrm>
            <a:off x="8321040" y="1952244"/>
            <a:ext cx="0" cy="1284732"/>
          </a:xfrm>
          <a:prstGeom prst="line">
            <a:avLst/>
          </a:prstGeom>
          <a:noFill/>
          <a:ln w="19050">
            <a:solidFill>
              <a:schemeClr val="accent5"/>
            </a:solidFill>
            <a:prstDash val="solid"/>
            <a:tailEnd type="triangle"/>
          </a:ln>
        </p:spPr>
      </p:sp>
      <p:sp>
        <p:nvSpPr>
          <p:cNvPr id="35" name="diamond-108"/>
          <p:cNvSpPr/>
          <p:nvPr/>
        </p:nvSpPr>
        <p:spPr>
          <a:xfrm>
            <a:off x="7726680" y="3246120"/>
            <a:ext cx="1188720" cy="914400"/>
          </a:xfrm>
          <a:prstGeom prst="diamond">
            <a:avLst/>
          </a:prstGeom>
          <a:solidFill>
            <a:schemeClr val="accent2"/>
          </a:solidFill>
          <a:ln/>
        </p:spPr>
      </p:sp>
      <p:sp>
        <p:nvSpPr>
          <p:cNvPr id="36" name="text-109"/>
          <p:cNvSpPr txBox="1"/>
          <p:nvPr/>
        </p:nvSpPr>
        <p:spPr>
          <a:xfrm>
            <a:off x="7863840" y="3246120"/>
            <a:ext cx="914400" cy="914400"/>
          </a:xfrm>
          <a:prstGeom prst="rect">
            <a:avLst/>
          </a:prstGeom>
          <a:noFill/>
          <a:ln/>
        </p:spPr>
        <p:txBody>
          <a:bodyPr wrap="square" lIns="0" tIns="0" rIns="0" bIns="0" rtlCol="0" anchor="ctr"/>
          <a:lstStyle/>
          <a:p>
            <a:pPr algn="ctr" indent="0" marL="0">
              <a:buNone/>
            </a:pPr>
            <a:r>
              <a:rPr lang="en-US" sz="1100" b="1" dirty="0">
                <a:solidFill>
                  <a:schemeClr val="bg1"/>
                </a:solidFill>
              </a:rPr>
              <a:t>Need a lawyer?</a:t>
            </a:r>
            <a:endParaRPr lang="en-US" sz="1100" dirty="0"/>
          </a:p>
        </p:txBody>
      </p:sp>
      <p:sp>
        <p:nvSpPr>
          <p:cNvPr id="37" name="box-110"/>
          <p:cNvSpPr/>
          <p:nvPr/>
        </p:nvSpPr>
        <p:spPr>
          <a:xfrm>
            <a:off x="5669280" y="3360420"/>
            <a:ext cx="1783080" cy="685800"/>
          </a:xfrm>
          <a:prstGeom prst="roundRect">
            <a:avLst>
              <a:gd name="adj" fmla="val 10667"/>
            </a:avLst>
          </a:prstGeom>
          <a:solidFill>
            <a:schemeClr val="accent2"/>
          </a:solidFill>
          <a:ln/>
        </p:spPr>
      </p:sp>
      <p:sp>
        <p:nvSpPr>
          <p:cNvPr id="38" name="boxtext-111"/>
          <p:cNvSpPr txBox="1"/>
          <p:nvPr/>
        </p:nvSpPr>
        <p:spPr>
          <a:xfrm>
            <a:off x="5669280" y="3360420"/>
            <a:ext cx="1783080" cy="685800"/>
          </a:xfrm>
          <a:prstGeom prst="rect">
            <a:avLst/>
          </a:prstGeom>
          <a:noFill/>
          <a:ln/>
        </p:spPr>
        <p:txBody>
          <a:bodyPr wrap="square" lIns="762" tIns="762" rIns="762" bIns="762" rtlCol="0" anchor="ctr"/>
          <a:lstStyle/>
          <a:p>
            <a:pPr algn="ctr" indent="0" marL="0">
              <a:buNone/>
            </a:pPr>
            <a:r>
              <a:rPr lang="en-US" sz="1100" b="1" dirty="0">
                <a:solidFill>
                  <a:schemeClr val="bg1"/>
                </a:solidFill>
              </a:rPr>
              <a:t>Choose a verified lawyer and share the case</a:t>
            </a:r>
            <a:endParaRPr lang="en-US" sz="1100" dirty="0"/>
          </a:p>
        </p:txBody>
      </p:sp>
      <p:sp>
        <p:nvSpPr>
          <p:cNvPr id="39" name="box-112"/>
          <p:cNvSpPr/>
          <p:nvPr/>
        </p:nvSpPr>
        <p:spPr>
          <a:xfrm>
            <a:off x="3611880" y="3360420"/>
            <a:ext cx="1783080" cy="685800"/>
          </a:xfrm>
          <a:prstGeom prst="roundRect">
            <a:avLst>
              <a:gd name="adj" fmla="val 10667"/>
            </a:avLst>
          </a:prstGeom>
          <a:solidFill>
            <a:schemeClr val="accent3"/>
          </a:solidFill>
          <a:ln/>
        </p:spPr>
      </p:sp>
      <p:sp>
        <p:nvSpPr>
          <p:cNvPr id="40" name="boxtext-113"/>
          <p:cNvSpPr txBox="1"/>
          <p:nvPr/>
        </p:nvSpPr>
        <p:spPr>
          <a:xfrm>
            <a:off x="3611880" y="3360420"/>
            <a:ext cx="1783080" cy="685800"/>
          </a:xfrm>
          <a:prstGeom prst="rect">
            <a:avLst/>
          </a:prstGeom>
          <a:noFill/>
          <a:ln/>
        </p:spPr>
        <p:txBody>
          <a:bodyPr wrap="square" lIns="762" tIns="762" rIns="762" bIns="762" rtlCol="0" anchor="ctr"/>
          <a:lstStyle/>
          <a:p>
            <a:pPr algn="ctr" indent="0" marL="0">
              <a:buNone/>
            </a:pPr>
            <a:r>
              <a:rPr lang="en-US" sz="1100" b="1" dirty="0">
                <a:solidFill>
                  <a:schemeClr val="tx2"/>
                </a:solidFill>
              </a:rPr>
              <a:t>Track the case status</a:t>
            </a:r>
            <a:endParaRPr lang="en-US" sz="1100" dirty="0"/>
          </a:p>
        </p:txBody>
      </p:sp>
      <p:sp>
        <p:nvSpPr>
          <p:cNvPr id="41" name="oval-114"/>
          <p:cNvSpPr/>
          <p:nvPr/>
        </p:nvSpPr>
        <p:spPr>
          <a:xfrm>
            <a:off x="1737360" y="3360420"/>
            <a:ext cx="1600200" cy="685800"/>
          </a:xfrm>
          <a:prstGeom prst="ellipse">
            <a:avLst/>
          </a:prstGeom>
          <a:solidFill>
            <a:schemeClr val="tx2"/>
          </a:solidFill>
          <a:ln/>
        </p:spPr>
      </p:sp>
      <p:sp>
        <p:nvSpPr>
          <p:cNvPr id="42" name="text-115"/>
          <p:cNvSpPr txBox="1"/>
          <p:nvPr/>
        </p:nvSpPr>
        <p:spPr>
          <a:xfrm>
            <a:off x="1737360" y="3360420"/>
            <a:ext cx="1600200" cy="685800"/>
          </a:xfrm>
          <a:prstGeom prst="rect">
            <a:avLst/>
          </a:prstGeom>
          <a:noFill/>
          <a:ln/>
        </p:spPr>
        <p:txBody>
          <a:bodyPr wrap="square" lIns="0" tIns="0" rIns="0" bIns="0" rtlCol="0" anchor="ctr"/>
          <a:lstStyle/>
          <a:p>
            <a:pPr algn="ctr" indent="0" marL="0">
              <a:buNone/>
            </a:pPr>
            <a:r>
              <a:rPr lang="en-US" sz="1100" b="1" dirty="0">
                <a:solidFill>
                  <a:schemeClr val="bg1"/>
                </a:solidFill>
              </a:rPr>
              <a:t>End: case resolved</a:t>
            </a:r>
            <a:endParaRPr lang="en-US" sz="1100" dirty="0"/>
          </a:p>
        </p:txBody>
      </p:sp>
      <p:sp>
        <p:nvSpPr>
          <p:cNvPr id="43" name="arrow-116"/>
          <p:cNvSpPr/>
          <p:nvPr/>
        </p:nvSpPr>
        <p:spPr>
          <a:xfrm flipH="1">
            <a:off x="7461504" y="3703320"/>
            <a:ext cx="256032" cy="0"/>
          </a:xfrm>
          <a:prstGeom prst="line">
            <a:avLst/>
          </a:prstGeom>
          <a:noFill/>
          <a:ln w="19050">
            <a:solidFill>
              <a:schemeClr val="accent5"/>
            </a:solidFill>
            <a:prstDash val="solid"/>
            <a:tailEnd type="triangle"/>
          </a:ln>
        </p:spPr>
      </p:sp>
      <p:sp>
        <p:nvSpPr>
          <p:cNvPr id="44" name="text-117"/>
          <p:cNvSpPr txBox="1"/>
          <p:nvPr/>
        </p:nvSpPr>
        <p:spPr>
          <a:xfrm>
            <a:off x="7406640" y="3474720"/>
            <a:ext cx="365760" cy="182880"/>
          </a:xfrm>
          <a:prstGeom prst="rect">
            <a:avLst/>
          </a:prstGeom>
          <a:noFill/>
          <a:ln/>
        </p:spPr>
        <p:txBody>
          <a:bodyPr wrap="square" lIns="0" tIns="0" rIns="0" bIns="0" rtlCol="0" anchor="ctr"/>
          <a:lstStyle/>
          <a:p>
            <a:pPr algn="ctr" indent="0" marL="0">
              <a:buNone/>
            </a:pPr>
            <a:r>
              <a:rPr lang="en-US" sz="1000" b="1" dirty="0">
                <a:solidFill>
                  <a:schemeClr val="accent6"/>
                </a:solidFill>
              </a:rPr>
              <a:t>Yes</a:t>
            </a:r>
            <a:endParaRPr lang="en-US" sz="1000" dirty="0"/>
          </a:p>
        </p:txBody>
      </p:sp>
      <p:sp>
        <p:nvSpPr>
          <p:cNvPr id="45" name="arrow-118"/>
          <p:cNvSpPr/>
          <p:nvPr/>
        </p:nvSpPr>
        <p:spPr>
          <a:xfrm flipH="1">
            <a:off x="5404104" y="3703320"/>
            <a:ext cx="256032" cy="0"/>
          </a:xfrm>
          <a:prstGeom prst="line">
            <a:avLst/>
          </a:prstGeom>
          <a:noFill/>
          <a:ln w="19050">
            <a:solidFill>
              <a:schemeClr val="accent5"/>
            </a:solidFill>
            <a:prstDash val="solid"/>
            <a:tailEnd type="triangle"/>
          </a:ln>
        </p:spPr>
      </p:sp>
      <p:sp>
        <p:nvSpPr>
          <p:cNvPr id="46" name="arrow-119"/>
          <p:cNvSpPr/>
          <p:nvPr/>
        </p:nvSpPr>
        <p:spPr>
          <a:xfrm flipH="1">
            <a:off x="3346704" y="3703320"/>
            <a:ext cx="256032" cy="0"/>
          </a:xfrm>
          <a:prstGeom prst="line">
            <a:avLst/>
          </a:prstGeom>
          <a:noFill/>
          <a:ln w="19050">
            <a:solidFill>
              <a:schemeClr val="accent5"/>
            </a:solidFill>
            <a:prstDash val="solid"/>
            <a:tailEnd type="triangle"/>
          </a:ln>
        </p:spPr>
      </p:sp>
      <p:sp>
        <p:nvSpPr>
          <p:cNvPr id="47" name="text-120"/>
          <p:cNvSpPr txBox="1"/>
          <p:nvPr/>
        </p:nvSpPr>
        <p:spPr>
          <a:xfrm>
            <a:off x="7086600" y="4224528"/>
            <a:ext cx="1600200" cy="365760"/>
          </a:xfrm>
          <a:prstGeom prst="rect">
            <a:avLst/>
          </a:prstGeom>
          <a:noFill/>
          <a:ln/>
        </p:spPr>
        <p:txBody>
          <a:bodyPr wrap="square" lIns="0" tIns="0" rIns="0" bIns="0" rtlCol="0" anchor="t"/>
          <a:lstStyle/>
          <a:p>
            <a:pPr algn="ctr" indent="0" marL="0">
              <a:buNone/>
            </a:pPr>
            <a:r>
              <a:rPr lang="en-US" sz="1000" dirty="0">
                <a:solidFill>
                  <a:schemeClr val="accent5"/>
                </a:solidFill>
              </a:rPr>
              <a:t>No: the guidance stays saved in the case</a:t>
            </a:r>
            <a:endParaRPr lang="en-US" sz="1000" dirty="0"/>
          </a:p>
        </p:txBody>
      </p:sp>
      <p:sp>
        <p:nvSpPr>
          <p:cNvPr id="48" name="text-121"/>
          <p:cNvSpPr txBox="1"/>
          <p:nvPr/>
        </p:nvSpPr>
        <p:spPr>
          <a:xfrm>
            <a:off x="457200" y="3291840"/>
            <a:ext cx="1188720" cy="914400"/>
          </a:xfrm>
          <a:prstGeom prst="rect">
            <a:avLst/>
          </a:prstGeom>
          <a:noFill/>
          <a:ln/>
        </p:spPr>
        <p:txBody>
          <a:bodyPr wrap="square" lIns="0" tIns="0" rIns="0" bIns="0" rtlCol="0" anchor="t"/>
          <a:lstStyle/>
          <a:p>
            <a:pPr indent="0" marL="0">
              <a:buNone/>
            </a:pPr>
            <a:r>
              <a:rPr lang="en-US" sz="1000" b="1" dirty="0">
                <a:solidFill>
                  <a:schemeClr val="accent5"/>
                </a:solidFill>
              </a:rPr>
              <a:t>How to read: </a:t>
            </a:r>
            <a:endParaRPr lang="en-US" sz="1000" dirty="0"/>
          </a:p>
          <a:p>
            <a:pPr indent="0" marL="0">
              <a:buNone/>
            </a:pPr>
            <a:r>
              <a:rPr lang="en-US" sz="1000" dirty="0">
                <a:solidFill>
                  <a:schemeClr val="accent5"/>
                </a:solidFill>
              </a:rPr>
              <a:t>oval = start / end</a:t>
            </a:r>
            <a:endParaRPr lang="en-US" sz="1000" dirty="0"/>
          </a:p>
          <a:p>
            <a:pPr indent="0" marL="0">
              <a:buNone/>
            </a:pPr>
            <a:r>
              <a:rPr lang="en-US" sz="1000" dirty="0">
                <a:solidFill>
                  <a:schemeClr val="accent5"/>
                </a:solidFill>
              </a:rPr>
              <a:t>box = a step</a:t>
            </a:r>
            <a:endParaRPr lang="en-US" sz="1000" dirty="0"/>
          </a:p>
          <a:p>
            <a:pPr indent="0" marL="0">
              <a:buNone/>
            </a:pPr>
            <a:r>
              <a:rPr lang="en-US" sz="1000" dirty="0">
                <a:solidFill>
                  <a:schemeClr val="accent5"/>
                </a:solidFill>
              </a:rPr>
              <a:t>diamond = a yes/no question</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Example: Ali Uses Our System</a:t>
            </a:r>
            <a:endParaRPr lang="en-US" sz="2800" dirty="0"/>
          </a:p>
        </p:txBody>
      </p:sp>
      <p:sp>
        <p:nvSpPr>
          <p:cNvPr id="3" name="box-122"/>
          <p:cNvSpPr/>
          <p:nvPr/>
        </p:nvSpPr>
        <p:spPr>
          <a:xfrm>
            <a:off x="457200" y="960120"/>
            <a:ext cx="5120640" cy="3703320"/>
          </a:xfrm>
          <a:prstGeom prst="roundRect">
            <a:avLst>
              <a:gd name="adj" fmla="val 1975"/>
            </a:avLst>
          </a:prstGeom>
          <a:solidFill>
            <a:schemeClr val="bg2"/>
          </a:solidFill>
          <a:ln/>
        </p:spPr>
      </p:sp>
      <p:sp>
        <p:nvSpPr>
          <p:cNvPr id="4" name="box-123"/>
          <p:cNvSpPr/>
          <p:nvPr/>
        </p:nvSpPr>
        <p:spPr>
          <a:xfrm>
            <a:off x="1920240" y="1069848"/>
            <a:ext cx="3566160" cy="502920"/>
          </a:xfrm>
          <a:prstGeom prst="roundRect">
            <a:avLst>
              <a:gd name="adj" fmla="val 21818"/>
            </a:avLst>
          </a:prstGeom>
          <a:solidFill>
            <a:schemeClr val="accent1"/>
          </a:solidFill>
          <a:ln/>
        </p:spPr>
      </p:sp>
      <p:sp>
        <p:nvSpPr>
          <p:cNvPr id="5" name="boxtext-124"/>
          <p:cNvSpPr txBox="1"/>
          <p:nvPr/>
        </p:nvSpPr>
        <p:spPr>
          <a:xfrm>
            <a:off x="2029968" y="1069848"/>
            <a:ext cx="3346704" cy="502920"/>
          </a:xfrm>
          <a:prstGeom prst="rect">
            <a:avLst/>
          </a:prstGeom>
          <a:noFill/>
          <a:ln/>
        </p:spPr>
        <p:txBody>
          <a:bodyPr wrap="square" lIns="0" tIns="0" rIns="0" bIns="0" rtlCol="0" anchor="ctr"/>
          <a:lstStyle/>
          <a:p>
            <a:pPr algn="l" indent="0" marL="0">
              <a:buNone/>
            </a:pPr>
            <a:r>
              <a:rPr lang="en-US" sz="1100" dirty="0">
                <a:solidFill>
                  <a:schemeClr val="bg1"/>
                </a:solidFill>
              </a:rPr>
              <a:t>My landlord says I must leave the house in 7 days. What can I do?</a:t>
            </a:r>
            <a:endParaRPr lang="en-US" sz="1100" dirty="0"/>
          </a:p>
        </p:txBody>
      </p:sp>
      <p:sp>
        <p:nvSpPr>
          <p:cNvPr id="6" name="box-125"/>
          <p:cNvSpPr/>
          <p:nvPr/>
        </p:nvSpPr>
        <p:spPr>
          <a:xfrm>
            <a:off x="566928" y="1682496"/>
            <a:ext cx="4206240" cy="502920"/>
          </a:xfrm>
          <a:prstGeom prst="roundRect">
            <a:avLst>
              <a:gd name="adj" fmla="val 21818"/>
            </a:avLst>
          </a:prstGeom>
          <a:solidFill>
            <a:schemeClr val="bg1"/>
          </a:solidFill>
          <a:ln/>
        </p:spPr>
      </p:sp>
      <p:sp>
        <p:nvSpPr>
          <p:cNvPr id="7" name="boxtext-126"/>
          <p:cNvSpPr txBox="1"/>
          <p:nvPr/>
        </p:nvSpPr>
        <p:spPr>
          <a:xfrm>
            <a:off x="676656" y="1682496"/>
            <a:ext cx="3986784" cy="502920"/>
          </a:xfrm>
          <a:prstGeom prst="rect">
            <a:avLst/>
          </a:prstGeom>
          <a:noFill/>
          <a:ln/>
        </p:spPr>
        <p:txBody>
          <a:bodyPr wrap="square" lIns="0" tIns="0" rIns="0" bIns="0" rtlCol="0" anchor="ctr"/>
          <a:lstStyle/>
          <a:p>
            <a:pPr algn="l" indent="0" marL="0">
              <a:buNone/>
            </a:pPr>
            <a:r>
              <a:rPr lang="en-US" sz="1100" dirty="0">
                <a:solidFill>
                  <a:schemeClr val="tx1"/>
                </a:solidFill>
              </a:rPr>
              <a:t>Do you have a written rent agreement? Did you get a written notice?</a:t>
            </a:r>
            <a:endParaRPr lang="en-US" sz="1100" dirty="0"/>
          </a:p>
        </p:txBody>
      </p:sp>
      <p:sp>
        <p:nvSpPr>
          <p:cNvPr id="8" name="box-127"/>
          <p:cNvSpPr/>
          <p:nvPr/>
        </p:nvSpPr>
        <p:spPr>
          <a:xfrm>
            <a:off x="1920240" y="2295144"/>
            <a:ext cx="3566160" cy="502920"/>
          </a:xfrm>
          <a:prstGeom prst="roundRect">
            <a:avLst>
              <a:gd name="adj" fmla="val 21818"/>
            </a:avLst>
          </a:prstGeom>
          <a:solidFill>
            <a:schemeClr val="accent1"/>
          </a:solidFill>
          <a:ln/>
        </p:spPr>
      </p:sp>
      <p:sp>
        <p:nvSpPr>
          <p:cNvPr id="9" name="boxtext-128"/>
          <p:cNvSpPr txBox="1"/>
          <p:nvPr/>
        </p:nvSpPr>
        <p:spPr>
          <a:xfrm>
            <a:off x="2029968" y="2295144"/>
            <a:ext cx="3346704" cy="502920"/>
          </a:xfrm>
          <a:prstGeom prst="rect">
            <a:avLst/>
          </a:prstGeom>
          <a:noFill/>
          <a:ln/>
        </p:spPr>
        <p:txBody>
          <a:bodyPr wrap="square" lIns="0" tIns="0" rIns="0" bIns="0" rtlCol="0" anchor="ctr"/>
          <a:lstStyle/>
          <a:p>
            <a:pPr algn="l" indent="0" marL="0">
              <a:buNone/>
            </a:pPr>
            <a:r>
              <a:rPr lang="en-US" sz="1100" dirty="0">
                <a:solidFill>
                  <a:schemeClr val="bg1"/>
                </a:solidFill>
              </a:rPr>
              <a:t>Yes, I have a written agreement. No written notice, only a phone call.</a:t>
            </a:r>
            <a:endParaRPr lang="en-US" sz="1100" dirty="0"/>
          </a:p>
        </p:txBody>
      </p:sp>
      <p:sp>
        <p:nvSpPr>
          <p:cNvPr id="10" name="box-129"/>
          <p:cNvSpPr/>
          <p:nvPr/>
        </p:nvSpPr>
        <p:spPr>
          <a:xfrm>
            <a:off x="566928" y="2907792"/>
            <a:ext cx="4206240" cy="914400"/>
          </a:xfrm>
          <a:prstGeom prst="roundRect">
            <a:avLst>
              <a:gd name="adj" fmla="val 12000"/>
            </a:avLst>
          </a:prstGeom>
          <a:solidFill>
            <a:schemeClr val="tx2"/>
          </a:solidFill>
          <a:ln/>
        </p:spPr>
      </p:sp>
      <p:sp>
        <p:nvSpPr>
          <p:cNvPr id="11" name="boxtext-130"/>
          <p:cNvSpPr txBox="1"/>
          <p:nvPr/>
        </p:nvSpPr>
        <p:spPr>
          <a:xfrm>
            <a:off x="676656" y="2907792"/>
            <a:ext cx="3986784" cy="914400"/>
          </a:xfrm>
          <a:prstGeom prst="rect">
            <a:avLst/>
          </a:prstGeom>
          <a:noFill/>
          <a:ln/>
        </p:spPr>
        <p:txBody>
          <a:bodyPr wrap="square" lIns="0" tIns="0" rIns="0" bIns="0" rtlCol="0" anchor="ctr"/>
          <a:lstStyle/>
          <a:p>
            <a:pPr algn="l" indent="0" marL="0">
              <a:buNone/>
            </a:pPr>
            <a:r>
              <a:rPr lang="en-US" sz="1100" dirty="0">
                <a:solidFill>
                  <a:schemeClr val="bg1"/>
                </a:solidFill>
              </a:rPr>
              <a:t>Based on the rent law sources we found [S1, S2], a landlord has to follow the proper legal process to remove a tenant. Keep ready: your agreement, rent receipts and the call record.</a:t>
            </a:r>
            <a:endParaRPr lang="en-US" sz="1100" dirty="0"/>
          </a:p>
        </p:txBody>
      </p:sp>
      <p:sp>
        <p:nvSpPr>
          <p:cNvPr id="12" name="box-131"/>
          <p:cNvSpPr/>
          <p:nvPr/>
        </p:nvSpPr>
        <p:spPr>
          <a:xfrm>
            <a:off x="566928" y="3931920"/>
            <a:ext cx="4206240" cy="502920"/>
          </a:xfrm>
          <a:prstGeom prst="roundRect">
            <a:avLst>
              <a:gd name="adj" fmla="val 21818"/>
            </a:avLst>
          </a:prstGeom>
          <a:solidFill>
            <a:schemeClr val="accent2"/>
          </a:solidFill>
          <a:ln/>
        </p:spPr>
      </p:sp>
      <p:sp>
        <p:nvSpPr>
          <p:cNvPr id="13" name="boxtext-132"/>
          <p:cNvSpPr txBox="1"/>
          <p:nvPr/>
        </p:nvSpPr>
        <p:spPr>
          <a:xfrm>
            <a:off x="676656" y="3931920"/>
            <a:ext cx="3986784" cy="502920"/>
          </a:xfrm>
          <a:prstGeom prst="rect">
            <a:avLst/>
          </a:prstGeom>
          <a:noFill/>
          <a:ln/>
        </p:spPr>
        <p:txBody>
          <a:bodyPr wrap="square" lIns="0" tIns="0" rIns="0" bIns="0" rtlCol="0" anchor="ctr"/>
          <a:lstStyle/>
          <a:p>
            <a:pPr algn="l" indent="0" marL="0">
              <a:buNone/>
            </a:pPr>
            <a:r>
              <a:rPr lang="en-US" sz="1100" b="1" dirty="0">
                <a:solidFill>
                  <a:schemeClr val="bg1"/>
                </a:solidFill>
              </a:rPr>
              <a:t>Suggested: 3 verified property lawyers in Lahore  →</a:t>
            </a:r>
            <a:endParaRPr lang="en-US" sz="1100" dirty="0"/>
          </a:p>
        </p:txBody>
      </p:sp>
      <p:sp>
        <p:nvSpPr>
          <p:cNvPr id="14" name="text-133"/>
          <p:cNvSpPr txBox="1"/>
          <p:nvPr/>
        </p:nvSpPr>
        <p:spPr>
          <a:xfrm>
            <a:off x="4846320" y="914400"/>
            <a:ext cx="640080" cy="164592"/>
          </a:xfrm>
          <a:prstGeom prst="rect">
            <a:avLst/>
          </a:prstGeom>
          <a:noFill/>
          <a:ln/>
        </p:spPr>
        <p:txBody>
          <a:bodyPr wrap="square" lIns="0" tIns="0" rIns="0" bIns="0" rtlCol="0" anchor="t"/>
          <a:lstStyle/>
          <a:p>
            <a:pPr algn="r" indent="0" marL="0">
              <a:buNone/>
            </a:pPr>
            <a:r>
              <a:rPr lang="en-US" sz="900" dirty="0">
                <a:solidFill>
                  <a:schemeClr val="accent5"/>
                </a:solidFill>
              </a:rPr>
              <a:t>Ali</a:t>
            </a:r>
            <a:endParaRPr lang="en-US" sz="900" dirty="0"/>
          </a:p>
        </p:txBody>
      </p:sp>
      <p:sp>
        <p:nvSpPr>
          <p:cNvPr id="15" name="text-134"/>
          <p:cNvSpPr txBox="1"/>
          <p:nvPr/>
        </p:nvSpPr>
        <p:spPr>
          <a:xfrm>
            <a:off x="5806440" y="960120"/>
            <a:ext cx="2926080" cy="274320"/>
          </a:xfrm>
          <a:prstGeom prst="rect">
            <a:avLst/>
          </a:prstGeom>
          <a:noFill/>
          <a:ln/>
        </p:spPr>
        <p:txBody>
          <a:bodyPr wrap="square" lIns="0" tIns="0" rIns="0" bIns="0" rtlCol="0" anchor="t"/>
          <a:lstStyle/>
          <a:p>
            <a:pPr indent="0" marL="0">
              <a:buNone/>
            </a:pPr>
            <a:r>
              <a:rPr lang="en-US" sz="1100" b="1" spc="100" kern="0" dirty="0">
                <a:solidFill>
                  <a:schemeClr val="accent5"/>
                </a:solidFill>
              </a:rPr>
              <a:t>WHAT HAPPENS BEHIND THE SCENES</a:t>
            </a:r>
            <a:endParaRPr lang="en-US" sz="1100" dirty="0"/>
          </a:p>
        </p:txBody>
      </p:sp>
      <p:sp>
        <p:nvSpPr>
          <p:cNvPr id="16" name="bsn-135"/>
          <p:cNvSpPr/>
          <p:nvPr/>
        </p:nvSpPr>
        <p:spPr>
          <a:xfrm>
            <a:off x="5806440" y="1371600"/>
            <a:ext cx="329184" cy="329184"/>
          </a:xfrm>
          <a:prstGeom prst="ellipse">
            <a:avLst/>
          </a:prstGeom>
          <a:solidFill>
            <a:schemeClr val="accent1"/>
          </a:solidFill>
          <a:ln/>
        </p:spPr>
      </p:sp>
      <p:sp>
        <p:nvSpPr>
          <p:cNvPr id="17" name="text-136"/>
          <p:cNvSpPr txBox="1"/>
          <p:nvPr/>
        </p:nvSpPr>
        <p:spPr>
          <a:xfrm>
            <a:off x="5806440" y="137160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8" name="text-137"/>
          <p:cNvSpPr txBox="1"/>
          <p:nvPr/>
        </p:nvSpPr>
        <p:spPr>
          <a:xfrm>
            <a:off x="6263640" y="1325880"/>
            <a:ext cx="2423160" cy="594360"/>
          </a:xfrm>
          <a:prstGeom prst="rect">
            <a:avLst/>
          </a:prstGeom>
          <a:noFill/>
          <a:ln/>
        </p:spPr>
        <p:txBody>
          <a:bodyPr wrap="square" lIns="0" tIns="0" rIns="0" bIns="0" rtlCol="0" anchor="ctr"/>
          <a:lstStyle/>
          <a:p>
            <a:pPr indent="0" marL="0">
              <a:buNone/>
            </a:pPr>
            <a:r>
              <a:rPr lang="en-US" sz="1200" dirty="0">
                <a:solidFill>
                  <a:schemeClr val="tx1"/>
                </a:solidFill>
              </a:rPr>
              <a:t>Case is created from Ali's message</a:t>
            </a:r>
            <a:endParaRPr lang="en-US" sz="1200" dirty="0"/>
          </a:p>
        </p:txBody>
      </p:sp>
      <p:sp>
        <p:nvSpPr>
          <p:cNvPr id="19" name="bsn-138"/>
          <p:cNvSpPr/>
          <p:nvPr/>
        </p:nvSpPr>
        <p:spPr>
          <a:xfrm>
            <a:off x="5806440" y="2029968"/>
            <a:ext cx="329184" cy="329184"/>
          </a:xfrm>
          <a:prstGeom prst="ellipse">
            <a:avLst/>
          </a:prstGeom>
          <a:solidFill>
            <a:schemeClr val="accent1"/>
          </a:solidFill>
          <a:ln/>
        </p:spPr>
      </p:sp>
      <p:sp>
        <p:nvSpPr>
          <p:cNvPr id="20" name="text-139"/>
          <p:cNvSpPr txBox="1"/>
          <p:nvPr/>
        </p:nvSpPr>
        <p:spPr>
          <a:xfrm>
            <a:off x="5806440" y="202996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1" name="text-140"/>
          <p:cNvSpPr txBox="1"/>
          <p:nvPr/>
        </p:nvSpPr>
        <p:spPr>
          <a:xfrm>
            <a:off x="6263640" y="1984248"/>
            <a:ext cx="2423160" cy="594360"/>
          </a:xfrm>
          <a:prstGeom prst="rect">
            <a:avLst/>
          </a:prstGeom>
          <a:noFill/>
          <a:ln/>
        </p:spPr>
        <p:txBody>
          <a:bodyPr wrap="square" lIns="0" tIns="0" rIns="0" bIns="0" rtlCol="0" anchor="ctr"/>
          <a:lstStyle/>
          <a:p>
            <a:pPr indent="0" marL="0">
              <a:buNone/>
            </a:pPr>
            <a:r>
              <a:rPr lang="en-US" sz="1200" dirty="0">
                <a:solidFill>
                  <a:schemeClr val="tx1"/>
                </a:solidFill>
              </a:rPr>
              <a:t>Facts are missing, so the system asks a follow-up question</a:t>
            </a:r>
            <a:endParaRPr lang="en-US" sz="1200" dirty="0"/>
          </a:p>
        </p:txBody>
      </p:sp>
      <p:sp>
        <p:nvSpPr>
          <p:cNvPr id="22" name="bsn-141"/>
          <p:cNvSpPr/>
          <p:nvPr/>
        </p:nvSpPr>
        <p:spPr>
          <a:xfrm>
            <a:off x="5806440" y="2688336"/>
            <a:ext cx="329184" cy="329184"/>
          </a:xfrm>
          <a:prstGeom prst="ellipse">
            <a:avLst/>
          </a:prstGeom>
          <a:solidFill>
            <a:schemeClr val="accent1"/>
          </a:solidFill>
          <a:ln/>
        </p:spPr>
      </p:sp>
      <p:sp>
        <p:nvSpPr>
          <p:cNvPr id="23" name="text-142"/>
          <p:cNvSpPr txBox="1"/>
          <p:nvPr/>
        </p:nvSpPr>
        <p:spPr>
          <a:xfrm>
            <a:off x="5806440" y="268833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4" name="text-143"/>
          <p:cNvSpPr txBox="1"/>
          <p:nvPr/>
        </p:nvSpPr>
        <p:spPr>
          <a:xfrm>
            <a:off x="6263640" y="2642616"/>
            <a:ext cx="2423160" cy="594360"/>
          </a:xfrm>
          <a:prstGeom prst="rect">
            <a:avLst/>
          </a:prstGeom>
          <a:noFill/>
          <a:ln/>
        </p:spPr>
        <p:txBody>
          <a:bodyPr wrap="square" lIns="0" tIns="0" rIns="0" bIns="0" rtlCol="0" anchor="ctr"/>
          <a:lstStyle/>
          <a:p>
            <a:pPr indent="0" marL="0">
              <a:buNone/>
            </a:pPr>
            <a:r>
              <a:rPr lang="en-US" sz="1200" dirty="0">
                <a:solidFill>
                  <a:schemeClr val="tx1"/>
                </a:solidFill>
              </a:rPr>
              <a:t>Facts are now clear</a:t>
            </a:r>
            <a:endParaRPr lang="en-US" sz="1200" dirty="0"/>
          </a:p>
        </p:txBody>
      </p:sp>
      <p:sp>
        <p:nvSpPr>
          <p:cNvPr id="25" name="bsn-144"/>
          <p:cNvSpPr/>
          <p:nvPr/>
        </p:nvSpPr>
        <p:spPr>
          <a:xfrm>
            <a:off x="5806440" y="3346704"/>
            <a:ext cx="329184" cy="329184"/>
          </a:xfrm>
          <a:prstGeom prst="ellipse">
            <a:avLst/>
          </a:prstGeom>
          <a:solidFill>
            <a:schemeClr val="accent2"/>
          </a:solidFill>
          <a:ln/>
        </p:spPr>
      </p:sp>
      <p:sp>
        <p:nvSpPr>
          <p:cNvPr id="26" name="text-145"/>
          <p:cNvSpPr txBox="1"/>
          <p:nvPr/>
        </p:nvSpPr>
        <p:spPr>
          <a:xfrm>
            <a:off x="5806440" y="334670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7" name="text-146"/>
          <p:cNvSpPr txBox="1"/>
          <p:nvPr/>
        </p:nvSpPr>
        <p:spPr>
          <a:xfrm>
            <a:off x="6263640" y="3300984"/>
            <a:ext cx="2423160" cy="594360"/>
          </a:xfrm>
          <a:prstGeom prst="rect">
            <a:avLst/>
          </a:prstGeom>
          <a:noFill/>
          <a:ln/>
        </p:spPr>
        <p:txBody>
          <a:bodyPr wrap="square" lIns="0" tIns="0" rIns="0" bIns="0" rtlCol="0" anchor="ctr"/>
          <a:lstStyle/>
          <a:p>
            <a:pPr indent="0" marL="0">
              <a:buNone/>
            </a:pPr>
            <a:r>
              <a:rPr lang="en-US" sz="1200" dirty="0">
                <a:solidFill>
                  <a:schemeClr val="tx1"/>
                </a:solidFill>
              </a:rPr>
              <a:t>AI finds the matching rent law sections, writes a simple answer and checks every source</a:t>
            </a:r>
            <a:endParaRPr lang="en-US" sz="1200" dirty="0"/>
          </a:p>
        </p:txBody>
      </p:sp>
      <p:sp>
        <p:nvSpPr>
          <p:cNvPr id="28" name="bsn-147"/>
          <p:cNvSpPr/>
          <p:nvPr/>
        </p:nvSpPr>
        <p:spPr>
          <a:xfrm>
            <a:off x="5806440" y="4005072"/>
            <a:ext cx="329184" cy="329184"/>
          </a:xfrm>
          <a:prstGeom prst="ellipse">
            <a:avLst/>
          </a:prstGeom>
          <a:solidFill>
            <a:schemeClr val="accent1"/>
          </a:solidFill>
          <a:ln/>
        </p:spPr>
      </p:sp>
      <p:sp>
        <p:nvSpPr>
          <p:cNvPr id="29" name="text-148"/>
          <p:cNvSpPr txBox="1"/>
          <p:nvPr/>
        </p:nvSpPr>
        <p:spPr>
          <a:xfrm>
            <a:off x="5806440" y="400507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0" name="text-149"/>
          <p:cNvSpPr txBox="1"/>
          <p:nvPr/>
        </p:nvSpPr>
        <p:spPr>
          <a:xfrm>
            <a:off x="6263640" y="3959352"/>
            <a:ext cx="2423160" cy="594360"/>
          </a:xfrm>
          <a:prstGeom prst="rect">
            <a:avLst/>
          </a:prstGeom>
          <a:noFill/>
          <a:ln/>
        </p:spPr>
        <p:txBody>
          <a:bodyPr wrap="square" lIns="0" tIns="0" rIns="0" bIns="0" rtlCol="0" anchor="ctr"/>
          <a:lstStyle/>
          <a:p>
            <a:pPr indent="0" marL="0">
              <a:buNone/>
            </a:pPr>
            <a:r>
              <a:rPr lang="en-US" sz="1200" dirty="0">
                <a:solidFill>
                  <a:schemeClr val="tx1"/>
                </a:solidFill>
              </a:rPr>
              <a:t>Lawyer list filtered by: Property + Lahore</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RAG in Simple Words: An Open-Book Exam</a:t>
            </a:r>
            <a:endParaRPr lang="en-US" sz="2800" dirty="0"/>
          </a:p>
        </p:txBody>
      </p:sp>
      <p:sp>
        <p:nvSpPr>
          <p:cNvPr id="3" name="box-150"/>
          <p:cNvSpPr/>
          <p:nvPr/>
        </p:nvSpPr>
        <p:spPr>
          <a:xfrm>
            <a:off x="457200" y="960120"/>
            <a:ext cx="3977640" cy="1645920"/>
          </a:xfrm>
          <a:prstGeom prst="roundRect">
            <a:avLst>
              <a:gd name="adj" fmla="val 4444"/>
            </a:avLst>
          </a:prstGeom>
          <a:solidFill>
            <a:schemeClr val="bg2"/>
          </a:solidFill>
          <a:ln/>
        </p:spPr>
      </p:sp>
      <p:sp>
        <p:nvSpPr>
          <p:cNvPr id="4" name="iconbg-151"/>
          <p:cNvSpPr/>
          <p:nvPr/>
        </p:nvSpPr>
        <p:spPr>
          <a:xfrm>
            <a:off x="640080" y="1143000"/>
            <a:ext cx="548640" cy="548640"/>
          </a:xfrm>
          <a:prstGeom prst="ellipse">
            <a:avLst/>
          </a:prstGeom>
          <a:solidFill>
            <a:schemeClr val="accent6"/>
          </a:solidFill>
          <a:ln/>
        </p:spPr>
      </p:sp>
      <p:pic>
        <p:nvPicPr>
          <p:cNvPr id="5" name="icon-152" descr="preencoded.png">    </p:cNvPr>
          <p:cNvPicPr>
            <a:picLocks noChangeAspect="1"/>
          </p:cNvPicPr>
          <p:nvPr/>
        </p:nvPicPr>
        <p:blipFill>
          <a:blip r:embed="rId1"/>
          <a:stretch>
            <a:fillRect/>
          </a:stretch>
        </p:blipFill>
        <p:spPr>
          <a:xfrm>
            <a:off x="760781" y="1263701"/>
            <a:ext cx="307238" cy="307238"/>
          </a:xfrm>
          <a:prstGeom prst="rect">
            <a:avLst/>
          </a:prstGeom>
        </p:spPr>
      </p:pic>
      <p:sp>
        <p:nvSpPr>
          <p:cNvPr id="6" name="text-153"/>
          <p:cNvSpPr txBox="1"/>
          <p:nvPr/>
        </p:nvSpPr>
        <p:spPr>
          <a:xfrm>
            <a:off x="1325880" y="1143000"/>
            <a:ext cx="3017520" cy="548640"/>
          </a:xfrm>
          <a:prstGeom prst="rect">
            <a:avLst/>
          </a:prstGeom>
          <a:noFill/>
          <a:ln/>
        </p:spPr>
        <p:txBody>
          <a:bodyPr wrap="square" lIns="0" tIns="0" rIns="0" bIns="0" rtlCol="0" anchor="ctr"/>
          <a:lstStyle/>
          <a:p>
            <a:pPr indent="0" marL="0">
              <a:buNone/>
            </a:pPr>
            <a:r>
              <a:rPr lang="en-US" sz="1500" b="1" dirty="0">
                <a:solidFill>
                  <a:schemeClr val="accent6"/>
                </a:solidFill>
              </a:rPr>
              <a:t>Normal chatbot = closed-book exam</a:t>
            </a:r>
            <a:endParaRPr lang="en-US" sz="1500" dirty="0"/>
          </a:p>
        </p:txBody>
      </p:sp>
      <p:sp>
        <p:nvSpPr>
          <p:cNvPr id="7" name="text-154"/>
          <p:cNvSpPr txBox="1"/>
          <p:nvPr/>
        </p:nvSpPr>
        <p:spPr>
          <a:xfrm>
            <a:off x="640080" y="1783080"/>
            <a:ext cx="3657600" cy="777240"/>
          </a:xfrm>
          <a:prstGeom prst="rect">
            <a:avLst/>
          </a:prstGeom>
          <a:noFill/>
          <a:ln/>
        </p:spPr>
        <p:txBody>
          <a:bodyPr wrap="square" lIns="0" tIns="0" rIns="0" bIns="0" rtlCol="0" anchor="t"/>
          <a:lstStyle/>
          <a:p>
            <a:pPr indent="0" marL="0">
              <a:buNone/>
            </a:pPr>
            <a:r>
              <a:rPr lang="en-US" sz="1200" dirty="0">
                <a:solidFill>
                  <a:schemeClr val="tx1"/>
                </a:solidFill>
              </a:rPr>
              <a:t>It answers from memory. It may guess, mix up laws from other countries, and cannot show where the answer came from.</a:t>
            </a:r>
            <a:endParaRPr lang="en-US" sz="1200" dirty="0"/>
          </a:p>
        </p:txBody>
      </p:sp>
      <p:sp>
        <p:nvSpPr>
          <p:cNvPr id="8" name="box-155"/>
          <p:cNvSpPr/>
          <p:nvPr/>
        </p:nvSpPr>
        <p:spPr>
          <a:xfrm>
            <a:off x="4709160" y="960120"/>
            <a:ext cx="3977640" cy="1645920"/>
          </a:xfrm>
          <a:prstGeom prst="roundRect">
            <a:avLst>
              <a:gd name="adj" fmla="val 4444"/>
            </a:avLst>
          </a:prstGeom>
          <a:solidFill>
            <a:schemeClr val="tx2"/>
          </a:solidFill>
          <a:ln/>
        </p:spPr>
      </p:sp>
      <p:sp>
        <p:nvSpPr>
          <p:cNvPr id="9" name="iconbg-156"/>
          <p:cNvSpPr/>
          <p:nvPr/>
        </p:nvSpPr>
        <p:spPr>
          <a:xfrm>
            <a:off x="4892040" y="1143000"/>
            <a:ext cx="548640" cy="548640"/>
          </a:xfrm>
          <a:prstGeom prst="ellipse">
            <a:avLst/>
          </a:prstGeom>
          <a:solidFill>
            <a:schemeClr val="accent2"/>
          </a:solidFill>
          <a:ln/>
        </p:spPr>
      </p:sp>
      <p:pic>
        <p:nvPicPr>
          <p:cNvPr id="10" name="icon-157" descr="preencoded.png">    </p:cNvPr>
          <p:cNvPicPr>
            <a:picLocks noChangeAspect="1"/>
          </p:cNvPicPr>
          <p:nvPr/>
        </p:nvPicPr>
        <p:blipFill>
          <a:blip r:embed="rId2"/>
          <a:stretch>
            <a:fillRect/>
          </a:stretch>
        </p:blipFill>
        <p:spPr>
          <a:xfrm>
            <a:off x="5012741" y="1263701"/>
            <a:ext cx="307238" cy="307238"/>
          </a:xfrm>
          <a:prstGeom prst="rect">
            <a:avLst/>
          </a:prstGeom>
        </p:spPr>
      </p:pic>
      <p:sp>
        <p:nvSpPr>
          <p:cNvPr id="11" name="text-158"/>
          <p:cNvSpPr txBox="1"/>
          <p:nvPr/>
        </p:nvSpPr>
        <p:spPr>
          <a:xfrm>
            <a:off x="5577840" y="1143000"/>
            <a:ext cx="3017520" cy="548640"/>
          </a:xfrm>
          <a:prstGeom prst="rect">
            <a:avLst/>
          </a:prstGeom>
          <a:noFill/>
          <a:ln/>
        </p:spPr>
        <p:txBody>
          <a:bodyPr wrap="square" lIns="0" tIns="0" rIns="0" bIns="0" rtlCol="0" anchor="ctr"/>
          <a:lstStyle/>
          <a:p>
            <a:pPr indent="0" marL="0">
              <a:buNone/>
            </a:pPr>
            <a:r>
              <a:rPr lang="en-US" sz="1500" b="1" dirty="0">
                <a:solidFill>
                  <a:schemeClr val="accent2"/>
                </a:solidFill>
              </a:rPr>
              <a:t>Our system = open-book exam</a:t>
            </a:r>
            <a:endParaRPr lang="en-US" sz="1500" dirty="0"/>
          </a:p>
        </p:txBody>
      </p:sp>
      <p:sp>
        <p:nvSpPr>
          <p:cNvPr id="12" name="text-159"/>
          <p:cNvSpPr txBox="1"/>
          <p:nvPr/>
        </p:nvSpPr>
        <p:spPr>
          <a:xfrm>
            <a:off x="4892040" y="1783080"/>
            <a:ext cx="3657600" cy="777240"/>
          </a:xfrm>
          <a:prstGeom prst="rect">
            <a:avLst/>
          </a:prstGeom>
          <a:noFill/>
          <a:ln/>
        </p:spPr>
        <p:txBody>
          <a:bodyPr wrap="square" lIns="0" tIns="0" rIns="0" bIns="0" rtlCol="0" anchor="t"/>
          <a:lstStyle/>
          <a:p>
            <a:pPr indent="0" marL="0">
              <a:buNone/>
            </a:pPr>
            <a:r>
              <a:rPr lang="en-US" sz="1200" dirty="0">
                <a:solidFill>
                  <a:schemeClr val="bg1"/>
                </a:solidFill>
              </a:rPr>
              <a:t>It first opens the verified Pakistani law book, finds the right pages, then writes the answer and shows the page it used.</a:t>
            </a:r>
            <a:endParaRPr lang="en-US" sz="1200" dirty="0"/>
          </a:p>
        </p:txBody>
      </p:sp>
      <p:sp>
        <p:nvSpPr>
          <p:cNvPr id="13" name="text-160"/>
          <p:cNvSpPr txBox="1"/>
          <p:nvPr/>
        </p:nvSpPr>
        <p:spPr>
          <a:xfrm>
            <a:off x="457200" y="2761488"/>
            <a:ext cx="5486400" cy="256032"/>
          </a:xfrm>
          <a:prstGeom prst="rect">
            <a:avLst/>
          </a:prstGeom>
          <a:noFill/>
          <a:ln/>
        </p:spPr>
        <p:txBody>
          <a:bodyPr wrap="square" lIns="0" tIns="0" rIns="0" bIns="0" rtlCol="0" anchor="t"/>
          <a:lstStyle/>
          <a:p>
            <a:pPr indent="0" marL="0">
              <a:buNone/>
            </a:pPr>
            <a:r>
              <a:rPr lang="en-US" sz="1100" b="1" spc="100" kern="0" dirty="0">
                <a:solidFill>
                  <a:schemeClr val="accent5"/>
                </a:solidFill>
              </a:rPr>
              <a:t>THREE HELPERS INSIDE OUR SYSTEM</a:t>
            </a:r>
            <a:endParaRPr lang="en-US" sz="1100" dirty="0"/>
          </a:p>
        </p:txBody>
      </p:sp>
      <p:sp>
        <p:nvSpPr>
          <p:cNvPr id="14" name="box-161"/>
          <p:cNvSpPr/>
          <p:nvPr/>
        </p:nvSpPr>
        <p:spPr>
          <a:xfrm>
            <a:off x="457200" y="3063240"/>
            <a:ext cx="2560320" cy="1554480"/>
          </a:xfrm>
          <a:prstGeom prst="roundRect">
            <a:avLst>
              <a:gd name="adj" fmla="val 4706"/>
            </a:avLst>
          </a:prstGeom>
          <a:solidFill>
            <a:schemeClr val="bg2"/>
          </a:solidFill>
          <a:ln/>
        </p:spPr>
      </p:sp>
      <p:sp>
        <p:nvSpPr>
          <p:cNvPr id="15" name="iconbg-162"/>
          <p:cNvSpPr/>
          <p:nvPr/>
        </p:nvSpPr>
        <p:spPr>
          <a:xfrm>
            <a:off x="594360" y="3200400"/>
            <a:ext cx="548640" cy="548640"/>
          </a:xfrm>
          <a:prstGeom prst="ellipse">
            <a:avLst/>
          </a:prstGeom>
          <a:solidFill>
            <a:schemeClr val="accent1"/>
          </a:solidFill>
          <a:ln/>
        </p:spPr>
      </p:sp>
      <p:pic>
        <p:nvPicPr>
          <p:cNvPr id="16" name="icon-163" descr="preencoded.png">    </p:cNvPr>
          <p:cNvPicPr>
            <a:picLocks noChangeAspect="1"/>
          </p:cNvPicPr>
          <p:nvPr/>
        </p:nvPicPr>
        <p:blipFill>
          <a:blip r:embed="rId3"/>
          <a:stretch>
            <a:fillRect/>
          </a:stretch>
        </p:blipFill>
        <p:spPr>
          <a:xfrm>
            <a:off x="715061" y="3321101"/>
            <a:ext cx="307238" cy="307238"/>
          </a:xfrm>
          <a:prstGeom prst="rect">
            <a:avLst/>
          </a:prstGeom>
        </p:spPr>
      </p:pic>
      <p:sp>
        <p:nvSpPr>
          <p:cNvPr id="17" name="text-164"/>
          <p:cNvSpPr txBox="1"/>
          <p:nvPr/>
        </p:nvSpPr>
        <p:spPr>
          <a:xfrm>
            <a:off x="1234440" y="3182112"/>
            <a:ext cx="1737360" cy="292608"/>
          </a:xfrm>
          <a:prstGeom prst="rect">
            <a:avLst/>
          </a:prstGeom>
          <a:noFill/>
          <a:ln/>
        </p:spPr>
        <p:txBody>
          <a:bodyPr wrap="square" lIns="0" tIns="0" rIns="0" bIns="0" rtlCol="0" anchor="t"/>
          <a:lstStyle/>
          <a:p>
            <a:pPr indent="0" marL="0">
              <a:buNone/>
            </a:pPr>
            <a:r>
              <a:rPr lang="en-US" sz="1500" b="1" dirty="0">
                <a:solidFill>
                  <a:schemeClr val="tx2"/>
                </a:solidFill>
              </a:rPr>
              <a:t>The Librarian</a:t>
            </a:r>
            <a:endParaRPr lang="en-US" sz="1500" dirty="0"/>
          </a:p>
        </p:txBody>
      </p:sp>
      <p:sp>
        <p:nvSpPr>
          <p:cNvPr id="18" name="text-165"/>
          <p:cNvSpPr txBox="1"/>
          <p:nvPr/>
        </p:nvSpPr>
        <p:spPr>
          <a:xfrm>
            <a:off x="1234440" y="3474720"/>
            <a:ext cx="1737360" cy="228600"/>
          </a:xfrm>
          <a:prstGeom prst="rect">
            <a:avLst/>
          </a:prstGeom>
          <a:noFill/>
          <a:ln/>
        </p:spPr>
        <p:txBody>
          <a:bodyPr wrap="square" lIns="0" tIns="0" rIns="0" bIns="0" rtlCol="0" anchor="t"/>
          <a:lstStyle/>
          <a:p>
            <a:pPr indent="0" marL="0">
              <a:buNone/>
            </a:pPr>
            <a:r>
              <a:rPr lang="en-US" sz="1000" i="1" dirty="0">
                <a:solidFill>
                  <a:schemeClr val="accent5"/>
                </a:solidFill>
              </a:rPr>
              <a:t>Retrieval (R)</a:t>
            </a:r>
            <a:endParaRPr lang="en-US" sz="1000" dirty="0"/>
          </a:p>
        </p:txBody>
      </p:sp>
      <p:sp>
        <p:nvSpPr>
          <p:cNvPr id="19" name="text-166"/>
          <p:cNvSpPr txBox="1"/>
          <p:nvPr/>
        </p:nvSpPr>
        <p:spPr>
          <a:xfrm>
            <a:off x="594360" y="3840480"/>
            <a:ext cx="2286000" cy="685800"/>
          </a:xfrm>
          <a:prstGeom prst="rect">
            <a:avLst/>
          </a:prstGeom>
          <a:noFill/>
          <a:ln/>
        </p:spPr>
        <p:txBody>
          <a:bodyPr wrap="square" lIns="0" tIns="0" rIns="0" bIns="0" rtlCol="0" anchor="t"/>
          <a:lstStyle/>
          <a:p>
            <a:pPr indent="0" marL="0">
              <a:buNone/>
            </a:pPr>
            <a:r>
              <a:rPr lang="en-US" sz="1200" dirty="0">
                <a:solidFill>
                  <a:schemeClr val="tx1"/>
                </a:solidFill>
              </a:rPr>
              <a:t>Finds the right law sections in our law library</a:t>
            </a:r>
            <a:endParaRPr lang="en-US" sz="1200" dirty="0"/>
          </a:p>
        </p:txBody>
      </p:sp>
      <p:sp>
        <p:nvSpPr>
          <p:cNvPr id="20" name="box-167"/>
          <p:cNvSpPr/>
          <p:nvPr/>
        </p:nvSpPr>
        <p:spPr>
          <a:xfrm>
            <a:off x="3291840" y="3063240"/>
            <a:ext cx="2560320" cy="1554480"/>
          </a:xfrm>
          <a:prstGeom prst="roundRect">
            <a:avLst>
              <a:gd name="adj" fmla="val 4706"/>
            </a:avLst>
          </a:prstGeom>
          <a:solidFill>
            <a:schemeClr val="bg2"/>
          </a:solidFill>
          <a:ln/>
        </p:spPr>
      </p:sp>
      <p:sp>
        <p:nvSpPr>
          <p:cNvPr id="21" name="iconbg-168"/>
          <p:cNvSpPr/>
          <p:nvPr/>
        </p:nvSpPr>
        <p:spPr>
          <a:xfrm>
            <a:off x="3429000" y="3200400"/>
            <a:ext cx="548640" cy="548640"/>
          </a:xfrm>
          <a:prstGeom prst="ellipse">
            <a:avLst/>
          </a:prstGeom>
          <a:solidFill>
            <a:schemeClr val="tx2"/>
          </a:solidFill>
          <a:ln/>
        </p:spPr>
      </p:sp>
      <p:pic>
        <p:nvPicPr>
          <p:cNvPr id="22" name="icon-169" descr="preencoded.png">    </p:cNvPr>
          <p:cNvPicPr>
            <a:picLocks noChangeAspect="1"/>
          </p:cNvPicPr>
          <p:nvPr/>
        </p:nvPicPr>
        <p:blipFill>
          <a:blip r:embed="rId4"/>
          <a:stretch>
            <a:fillRect/>
          </a:stretch>
        </p:blipFill>
        <p:spPr>
          <a:xfrm>
            <a:off x="3549701" y="3321101"/>
            <a:ext cx="307238" cy="307238"/>
          </a:xfrm>
          <a:prstGeom prst="rect">
            <a:avLst/>
          </a:prstGeom>
        </p:spPr>
      </p:pic>
      <p:sp>
        <p:nvSpPr>
          <p:cNvPr id="23" name="text-170"/>
          <p:cNvSpPr txBox="1"/>
          <p:nvPr/>
        </p:nvSpPr>
        <p:spPr>
          <a:xfrm>
            <a:off x="4069080" y="3182112"/>
            <a:ext cx="1737360" cy="292608"/>
          </a:xfrm>
          <a:prstGeom prst="rect">
            <a:avLst/>
          </a:prstGeom>
          <a:noFill/>
          <a:ln/>
        </p:spPr>
        <p:txBody>
          <a:bodyPr wrap="square" lIns="0" tIns="0" rIns="0" bIns="0" rtlCol="0" anchor="t"/>
          <a:lstStyle/>
          <a:p>
            <a:pPr indent="0" marL="0">
              <a:buNone/>
            </a:pPr>
            <a:r>
              <a:rPr lang="en-US" sz="1500" b="1" dirty="0">
                <a:solidFill>
                  <a:schemeClr val="tx2"/>
                </a:solidFill>
              </a:rPr>
              <a:t>The Writer</a:t>
            </a:r>
            <a:endParaRPr lang="en-US" sz="1500" dirty="0"/>
          </a:p>
        </p:txBody>
      </p:sp>
      <p:sp>
        <p:nvSpPr>
          <p:cNvPr id="24" name="text-171"/>
          <p:cNvSpPr txBox="1"/>
          <p:nvPr/>
        </p:nvSpPr>
        <p:spPr>
          <a:xfrm>
            <a:off x="4069080" y="3474720"/>
            <a:ext cx="1737360" cy="228600"/>
          </a:xfrm>
          <a:prstGeom prst="rect">
            <a:avLst/>
          </a:prstGeom>
          <a:noFill/>
          <a:ln/>
        </p:spPr>
        <p:txBody>
          <a:bodyPr wrap="square" lIns="0" tIns="0" rIns="0" bIns="0" rtlCol="0" anchor="t"/>
          <a:lstStyle/>
          <a:p>
            <a:pPr indent="0" marL="0">
              <a:buNone/>
            </a:pPr>
            <a:r>
              <a:rPr lang="en-US" sz="1000" i="1" dirty="0">
                <a:solidFill>
                  <a:schemeClr val="accent5"/>
                </a:solidFill>
              </a:rPr>
              <a:t>LLM / Generation (G)</a:t>
            </a:r>
            <a:endParaRPr lang="en-US" sz="1000" dirty="0"/>
          </a:p>
        </p:txBody>
      </p:sp>
      <p:sp>
        <p:nvSpPr>
          <p:cNvPr id="25" name="text-172"/>
          <p:cNvSpPr txBox="1"/>
          <p:nvPr/>
        </p:nvSpPr>
        <p:spPr>
          <a:xfrm>
            <a:off x="3429000" y="3840480"/>
            <a:ext cx="2286000" cy="685800"/>
          </a:xfrm>
          <a:prstGeom prst="rect">
            <a:avLst/>
          </a:prstGeom>
          <a:noFill/>
          <a:ln/>
        </p:spPr>
        <p:txBody>
          <a:bodyPr wrap="square" lIns="0" tIns="0" rIns="0" bIns="0" rtlCol="0" anchor="t"/>
          <a:lstStyle/>
          <a:p>
            <a:pPr indent="0" marL="0">
              <a:buNone/>
            </a:pPr>
            <a:r>
              <a:rPr lang="en-US" sz="1200" dirty="0">
                <a:solidFill>
                  <a:schemeClr val="tx1"/>
                </a:solidFill>
              </a:rPr>
              <a:t>Explains those sections in simple words</a:t>
            </a:r>
            <a:endParaRPr lang="en-US" sz="1200" dirty="0"/>
          </a:p>
        </p:txBody>
      </p:sp>
      <p:sp>
        <p:nvSpPr>
          <p:cNvPr id="26" name="arrow-173"/>
          <p:cNvSpPr/>
          <p:nvPr/>
        </p:nvSpPr>
        <p:spPr>
          <a:xfrm>
            <a:off x="3035808" y="3840480"/>
            <a:ext cx="228600" cy="0"/>
          </a:xfrm>
          <a:prstGeom prst="line">
            <a:avLst/>
          </a:prstGeom>
          <a:noFill/>
          <a:ln w="31750">
            <a:solidFill>
              <a:schemeClr val="accent2"/>
            </a:solidFill>
            <a:prstDash val="solid"/>
            <a:tailEnd type="triangle"/>
          </a:ln>
        </p:spPr>
      </p:sp>
      <p:sp>
        <p:nvSpPr>
          <p:cNvPr id="27" name="box-174"/>
          <p:cNvSpPr/>
          <p:nvPr/>
        </p:nvSpPr>
        <p:spPr>
          <a:xfrm>
            <a:off x="6126480" y="3063240"/>
            <a:ext cx="2560320" cy="1554480"/>
          </a:xfrm>
          <a:prstGeom prst="roundRect">
            <a:avLst>
              <a:gd name="adj" fmla="val 4706"/>
            </a:avLst>
          </a:prstGeom>
          <a:solidFill>
            <a:schemeClr val="bg2"/>
          </a:solidFill>
          <a:ln/>
        </p:spPr>
      </p:sp>
      <p:sp>
        <p:nvSpPr>
          <p:cNvPr id="28" name="iconbg-175"/>
          <p:cNvSpPr/>
          <p:nvPr/>
        </p:nvSpPr>
        <p:spPr>
          <a:xfrm>
            <a:off x="6263640" y="3200400"/>
            <a:ext cx="548640" cy="548640"/>
          </a:xfrm>
          <a:prstGeom prst="ellipse">
            <a:avLst/>
          </a:prstGeom>
          <a:solidFill>
            <a:schemeClr val="accent1"/>
          </a:solidFill>
          <a:ln/>
        </p:spPr>
      </p:sp>
      <p:pic>
        <p:nvPicPr>
          <p:cNvPr id="29" name="icon-176" descr="preencoded.png">    </p:cNvPr>
          <p:cNvPicPr>
            <a:picLocks noChangeAspect="1"/>
          </p:cNvPicPr>
          <p:nvPr/>
        </p:nvPicPr>
        <p:blipFill>
          <a:blip r:embed="rId5"/>
          <a:stretch>
            <a:fillRect/>
          </a:stretch>
        </p:blipFill>
        <p:spPr>
          <a:xfrm>
            <a:off x="6384341" y="3321101"/>
            <a:ext cx="307238" cy="307238"/>
          </a:xfrm>
          <a:prstGeom prst="rect">
            <a:avLst/>
          </a:prstGeom>
        </p:spPr>
      </p:pic>
      <p:sp>
        <p:nvSpPr>
          <p:cNvPr id="30" name="text-177"/>
          <p:cNvSpPr txBox="1"/>
          <p:nvPr/>
        </p:nvSpPr>
        <p:spPr>
          <a:xfrm>
            <a:off x="6903720" y="3182112"/>
            <a:ext cx="1737360" cy="292608"/>
          </a:xfrm>
          <a:prstGeom prst="rect">
            <a:avLst/>
          </a:prstGeom>
          <a:noFill/>
          <a:ln/>
        </p:spPr>
        <p:txBody>
          <a:bodyPr wrap="square" lIns="0" tIns="0" rIns="0" bIns="0" rtlCol="0" anchor="t"/>
          <a:lstStyle/>
          <a:p>
            <a:pPr indent="0" marL="0">
              <a:buNone/>
            </a:pPr>
            <a:r>
              <a:rPr lang="en-US" sz="1500" b="1" dirty="0">
                <a:solidFill>
                  <a:schemeClr val="tx2"/>
                </a:solidFill>
              </a:rPr>
              <a:t>The Checker</a:t>
            </a:r>
            <a:endParaRPr lang="en-US" sz="1500" dirty="0"/>
          </a:p>
        </p:txBody>
      </p:sp>
      <p:sp>
        <p:nvSpPr>
          <p:cNvPr id="31" name="text-178"/>
          <p:cNvSpPr txBox="1"/>
          <p:nvPr/>
        </p:nvSpPr>
        <p:spPr>
          <a:xfrm>
            <a:off x="6903720" y="3474720"/>
            <a:ext cx="1737360" cy="228600"/>
          </a:xfrm>
          <a:prstGeom prst="rect">
            <a:avLst/>
          </a:prstGeom>
          <a:noFill/>
          <a:ln/>
        </p:spPr>
        <p:txBody>
          <a:bodyPr wrap="square" lIns="0" tIns="0" rIns="0" bIns="0" rtlCol="0" anchor="t"/>
          <a:lstStyle/>
          <a:p>
            <a:pPr indent="0" marL="0">
              <a:buNone/>
            </a:pPr>
            <a:r>
              <a:rPr lang="en-US" sz="1000" i="1" dirty="0">
                <a:solidFill>
                  <a:schemeClr val="accent5"/>
                </a:solidFill>
              </a:rPr>
              <a:t>Source check</a:t>
            </a:r>
            <a:endParaRPr lang="en-US" sz="1000" dirty="0"/>
          </a:p>
        </p:txBody>
      </p:sp>
      <p:sp>
        <p:nvSpPr>
          <p:cNvPr id="32" name="text-179"/>
          <p:cNvSpPr txBox="1"/>
          <p:nvPr/>
        </p:nvSpPr>
        <p:spPr>
          <a:xfrm>
            <a:off x="6263640" y="3840480"/>
            <a:ext cx="2286000" cy="685800"/>
          </a:xfrm>
          <a:prstGeom prst="rect">
            <a:avLst/>
          </a:prstGeom>
          <a:noFill/>
          <a:ln/>
        </p:spPr>
        <p:txBody>
          <a:bodyPr wrap="square" lIns="0" tIns="0" rIns="0" bIns="0" rtlCol="0" anchor="t"/>
          <a:lstStyle/>
          <a:p>
            <a:pPr indent="0" marL="0">
              <a:buNone/>
            </a:pPr>
            <a:r>
              <a:rPr lang="en-US" sz="1200" dirty="0">
                <a:solidFill>
                  <a:schemeClr val="tx1"/>
                </a:solidFill>
              </a:rPr>
              <a:t>Makes sure every point has a real source</a:t>
            </a:r>
            <a:endParaRPr lang="en-US" sz="1200" dirty="0"/>
          </a:p>
        </p:txBody>
      </p:sp>
      <p:sp>
        <p:nvSpPr>
          <p:cNvPr id="33" name="arrow-180"/>
          <p:cNvSpPr/>
          <p:nvPr/>
        </p:nvSpPr>
        <p:spPr>
          <a:xfrm>
            <a:off x="5870448" y="3840480"/>
            <a:ext cx="228600" cy="0"/>
          </a:xfrm>
          <a:prstGeom prst="line">
            <a:avLst/>
          </a:prstGeom>
          <a:noFill/>
          <a:ln w="31750">
            <a:solidFill>
              <a:schemeClr val="accent2"/>
            </a:solidFill>
            <a:prstDash val="solid"/>
            <a:tailEnd type="triangle"/>
          </a:ln>
        </p:spPr>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How the Librarian and the Writer Talk</a:t>
            </a:r>
            <a:endParaRPr lang="en-US" sz="2800" dirty="0"/>
          </a:p>
        </p:txBody>
      </p:sp>
      <p:sp>
        <p:nvSpPr>
          <p:cNvPr id="3" name="arrow-181"/>
          <p:cNvSpPr/>
          <p:nvPr/>
        </p:nvSpPr>
        <p:spPr>
          <a:xfrm>
            <a:off x="1188720" y="1463040"/>
            <a:ext cx="0" cy="2852928"/>
          </a:xfrm>
          <a:prstGeom prst="line">
            <a:avLst/>
          </a:prstGeom>
          <a:noFill/>
          <a:ln w="12700">
            <a:solidFill>
              <a:schemeClr val="accent5"/>
            </a:solidFill>
            <a:prstDash val="dash"/>
          </a:ln>
        </p:spPr>
      </p:sp>
      <p:sp>
        <p:nvSpPr>
          <p:cNvPr id="4" name="box-182"/>
          <p:cNvSpPr/>
          <p:nvPr/>
        </p:nvSpPr>
        <p:spPr>
          <a:xfrm>
            <a:off x="457200" y="960120"/>
            <a:ext cx="1463040" cy="502920"/>
          </a:xfrm>
          <a:prstGeom prst="roundRect">
            <a:avLst>
              <a:gd name="adj" fmla="val 14545"/>
            </a:avLst>
          </a:prstGeom>
          <a:solidFill>
            <a:schemeClr val="accent3"/>
          </a:solidFill>
          <a:ln/>
        </p:spPr>
      </p:sp>
      <p:sp>
        <p:nvSpPr>
          <p:cNvPr id="5" name="boxtext-183"/>
          <p:cNvSpPr txBox="1"/>
          <p:nvPr/>
        </p:nvSpPr>
        <p:spPr>
          <a:xfrm>
            <a:off x="457200" y="960120"/>
            <a:ext cx="1463040" cy="502920"/>
          </a:xfrm>
          <a:prstGeom prst="rect">
            <a:avLst/>
          </a:prstGeom>
          <a:noFill/>
          <a:ln/>
        </p:spPr>
        <p:txBody>
          <a:bodyPr wrap="square" lIns="254" tIns="254" rIns="254" bIns="254" rtlCol="0" anchor="ctr"/>
          <a:lstStyle/>
          <a:p>
            <a:pPr algn="ctr" indent="0" marL="0">
              <a:buNone/>
            </a:pPr>
            <a:r>
              <a:rPr lang="en-US" sz="1200" b="1" dirty="0">
                <a:solidFill>
                  <a:schemeClr val="tx2"/>
                </a:solidFill>
              </a:rPr>
              <a:t>Ali (website)</a:t>
            </a:r>
            <a:endParaRPr lang="en-US" sz="1200" dirty="0"/>
          </a:p>
          <a:p>
            <a:pPr algn="ctr" indent="0" marL="0">
              <a:buNone/>
            </a:pPr>
            <a:r>
              <a:rPr lang="en-US" sz="1000" dirty="0">
                <a:solidFill>
                  <a:schemeClr val="tx2"/>
                </a:solidFill>
              </a:rPr>
              <a:t>Citizen portal</a:t>
            </a:r>
            <a:endParaRPr lang="en-US" sz="1200" dirty="0"/>
          </a:p>
        </p:txBody>
      </p:sp>
      <p:sp>
        <p:nvSpPr>
          <p:cNvPr id="6" name="arrow-184"/>
          <p:cNvSpPr/>
          <p:nvPr/>
        </p:nvSpPr>
        <p:spPr>
          <a:xfrm>
            <a:off x="2834640" y="1463040"/>
            <a:ext cx="0" cy="2852928"/>
          </a:xfrm>
          <a:prstGeom prst="line">
            <a:avLst/>
          </a:prstGeom>
          <a:noFill/>
          <a:ln w="12700">
            <a:solidFill>
              <a:schemeClr val="accent5"/>
            </a:solidFill>
            <a:prstDash val="dash"/>
          </a:ln>
        </p:spPr>
      </p:sp>
      <p:sp>
        <p:nvSpPr>
          <p:cNvPr id="7" name="box-185"/>
          <p:cNvSpPr/>
          <p:nvPr/>
        </p:nvSpPr>
        <p:spPr>
          <a:xfrm>
            <a:off x="2103120" y="960120"/>
            <a:ext cx="1463040" cy="502920"/>
          </a:xfrm>
          <a:prstGeom prst="roundRect">
            <a:avLst>
              <a:gd name="adj" fmla="val 14545"/>
            </a:avLst>
          </a:prstGeom>
          <a:solidFill>
            <a:schemeClr val="accent1"/>
          </a:solidFill>
          <a:ln/>
        </p:spPr>
      </p:sp>
      <p:sp>
        <p:nvSpPr>
          <p:cNvPr id="8" name="boxtext-186"/>
          <p:cNvSpPr txBox="1"/>
          <p:nvPr/>
        </p:nvSpPr>
        <p:spPr>
          <a:xfrm>
            <a:off x="2103120" y="960120"/>
            <a:ext cx="1463040" cy="502920"/>
          </a:xfrm>
          <a:prstGeom prst="rect">
            <a:avLst/>
          </a:prstGeom>
          <a:noFill/>
          <a:ln/>
        </p:spPr>
        <p:txBody>
          <a:bodyPr wrap="square" lIns="254" tIns="254" rIns="254" bIns="254" rtlCol="0" anchor="ctr"/>
          <a:lstStyle/>
          <a:p>
            <a:pPr algn="ctr" indent="0" marL="0">
              <a:buNone/>
            </a:pPr>
            <a:r>
              <a:rPr lang="en-US" sz="1200" b="1" dirty="0">
                <a:solidFill>
                  <a:schemeClr val="bg1"/>
                </a:solidFill>
              </a:rPr>
              <a:t>Our Server</a:t>
            </a:r>
            <a:endParaRPr lang="en-US" sz="1200" dirty="0"/>
          </a:p>
          <a:p>
            <a:pPr algn="ctr" indent="0" marL="0">
              <a:buNone/>
            </a:pPr>
            <a:r>
              <a:rPr lang="en-US" sz="1000" dirty="0">
                <a:solidFill>
                  <a:schemeClr val="bg1"/>
                </a:solidFill>
              </a:rPr>
              <a:t>RAG service</a:t>
            </a:r>
            <a:endParaRPr lang="en-US" sz="1200" dirty="0"/>
          </a:p>
        </p:txBody>
      </p:sp>
      <p:sp>
        <p:nvSpPr>
          <p:cNvPr id="9" name="arrow-187"/>
          <p:cNvSpPr/>
          <p:nvPr/>
        </p:nvSpPr>
        <p:spPr>
          <a:xfrm>
            <a:off x="4480560" y="1463040"/>
            <a:ext cx="0" cy="2852928"/>
          </a:xfrm>
          <a:prstGeom prst="line">
            <a:avLst/>
          </a:prstGeom>
          <a:noFill/>
          <a:ln w="12700">
            <a:solidFill>
              <a:schemeClr val="accent5"/>
            </a:solidFill>
            <a:prstDash val="dash"/>
          </a:ln>
        </p:spPr>
      </p:sp>
      <p:sp>
        <p:nvSpPr>
          <p:cNvPr id="10" name="box-188"/>
          <p:cNvSpPr/>
          <p:nvPr/>
        </p:nvSpPr>
        <p:spPr>
          <a:xfrm>
            <a:off x="3749040" y="960120"/>
            <a:ext cx="1463040" cy="502920"/>
          </a:xfrm>
          <a:prstGeom prst="roundRect">
            <a:avLst>
              <a:gd name="adj" fmla="val 14545"/>
            </a:avLst>
          </a:prstGeom>
          <a:solidFill>
            <a:schemeClr val="bg2"/>
          </a:solidFill>
          <a:ln/>
        </p:spPr>
      </p:sp>
      <p:sp>
        <p:nvSpPr>
          <p:cNvPr id="11" name="boxtext-189"/>
          <p:cNvSpPr txBox="1"/>
          <p:nvPr/>
        </p:nvSpPr>
        <p:spPr>
          <a:xfrm>
            <a:off x="3749040" y="960120"/>
            <a:ext cx="1463040" cy="502920"/>
          </a:xfrm>
          <a:prstGeom prst="rect">
            <a:avLst/>
          </a:prstGeom>
          <a:noFill/>
          <a:ln/>
        </p:spPr>
        <p:txBody>
          <a:bodyPr wrap="square" lIns="254" tIns="254" rIns="254" bIns="254" rtlCol="0" anchor="ctr"/>
          <a:lstStyle/>
          <a:p>
            <a:pPr algn="ctr" indent="0" marL="0">
              <a:buNone/>
            </a:pPr>
            <a:r>
              <a:rPr lang="en-US" sz="1200" b="1" dirty="0">
                <a:solidFill>
                  <a:schemeClr val="tx2"/>
                </a:solidFill>
              </a:rPr>
              <a:t>Meaning Converter</a:t>
            </a:r>
            <a:endParaRPr lang="en-US" sz="1200" dirty="0"/>
          </a:p>
          <a:p>
            <a:pPr algn="ctr" indent="0" marL="0">
              <a:buNone/>
            </a:pPr>
            <a:r>
              <a:rPr lang="en-US" sz="1000" dirty="0">
                <a:solidFill>
                  <a:schemeClr val="tx2"/>
                </a:solidFill>
              </a:rPr>
              <a:t>embedding model</a:t>
            </a:r>
            <a:endParaRPr lang="en-US" sz="1200" dirty="0"/>
          </a:p>
        </p:txBody>
      </p:sp>
      <p:sp>
        <p:nvSpPr>
          <p:cNvPr id="12" name="arrow-190"/>
          <p:cNvSpPr/>
          <p:nvPr/>
        </p:nvSpPr>
        <p:spPr>
          <a:xfrm>
            <a:off x="6126480" y="1463040"/>
            <a:ext cx="0" cy="2852928"/>
          </a:xfrm>
          <a:prstGeom prst="line">
            <a:avLst/>
          </a:prstGeom>
          <a:noFill/>
          <a:ln w="12700">
            <a:solidFill>
              <a:schemeClr val="accent5"/>
            </a:solidFill>
            <a:prstDash val="dash"/>
          </a:ln>
        </p:spPr>
      </p:sp>
      <p:sp>
        <p:nvSpPr>
          <p:cNvPr id="13" name="box-191"/>
          <p:cNvSpPr/>
          <p:nvPr/>
        </p:nvSpPr>
        <p:spPr>
          <a:xfrm>
            <a:off x="5394960" y="960120"/>
            <a:ext cx="1463040" cy="502920"/>
          </a:xfrm>
          <a:prstGeom prst="roundRect">
            <a:avLst>
              <a:gd name="adj" fmla="val 14545"/>
            </a:avLst>
          </a:prstGeom>
          <a:solidFill>
            <a:schemeClr val="accent2"/>
          </a:solidFill>
          <a:ln/>
        </p:spPr>
      </p:sp>
      <p:sp>
        <p:nvSpPr>
          <p:cNvPr id="14" name="boxtext-192"/>
          <p:cNvSpPr txBox="1"/>
          <p:nvPr/>
        </p:nvSpPr>
        <p:spPr>
          <a:xfrm>
            <a:off x="5394960" y="960120"/>
            <a:ext cx="1463040" cy="502920"/>
          </a:xfrm>
          <a:prstGeom prst="rect">
            <a:avLst/>
          </a:prstGeom>
          <a:noFill/>
          <a:ln/>
        </p:spPr>
        <p:txBody>
          <a:bodyPr wrap="square" lIns="254" tIns="254" rIns="254" bIns="254" rtlCol="0" anchor="ctr"/>
          <a:lstStyle/>
          <a:p>
            <a:pPr algn="ctr" indent="0" marL="0">
              <a:buNone/>
            </a:pPr>
            <a:r>
              <a:rPr lang="en-US" sz="1200" b="1" dirty="0">
                <a:solidFill>
                  <a:schemeClr val="bg1"/>
                </a:solidFill>
              </a:rPr>
              <a:t>Law Library</a:t>
            </a:r>
            <a:endParaRPr lang="en-US" sz="1200" dirty="0"/>
          </a:p>
          <a:p>
            <a:pPr algn="ctr" indent="0" marL="0">
              <a:buNone/>
            </a:pPr>
            <a:r>
              <a:rPr lang="en-US" sz="1000" dirty="0">
                <a:solidFill>
                  <a:schemeClr val="bg1"/>
                </a:solidFill>
              </a:rPr>
              <a:t>vector database</a:t>
            </a:r>
            <a:endParaRPr lang="en-US" sz="1200" dirty="0"/>
          </a:p>
        </p:txBody>
      </p:sp>
      <p:sp>
        <p:nvSpPr>
          <p:cNvPr id="15" name="arrow-193"/>
          <p:cNvSpPr/>
          <p:nvPr/>
        </p:nvSpPr>
        <p:spPr>
          <a:xfrm>
            <a:off x="7772400" y="1463040"/>
            <a:ext cx="0" cy="2852928"/>
          </a:xfrm>
          <a:prstGeom prst="line">
            <a:avLst/>
          </a:prstGeom>
          <a:noFill/>
          <a:ln w="12700">
            <a:solidFill>
              <a:schemeClr val="accent5"/>
            </a:solidFill>
            <a:prstDash val="dash"/>
          </a:ln>
        </p:spPr>
      </p:sp>
      <p:sp>
        <p:nvSpPr>
          <p:cNvPr id="16" name="box-194"/>
          <p:cNvSpPr/>
          <p:nvPr/>
        </p:nvSpPr>
        <p:spPr>
          <a:xfrm>
            <a:off x="7040880" y="960120"/>
            <a:ext cx="1463040" cy="502920"/>
          </a:xfrm>
          <a:prstGeom prst="roundRect">
            <a:avLst>
              <a:gd name="adj" fmla="val 14545"/>
            </a:avLst>
          </a:prstGeom>
          <a:solidFill>
            <a:schemeClr val="tx2"/>
          </a:solidFill>
          <a:ln/>
        </p:spPr>
      </p:sp>
      <p:sp>
        <p:nvSpPr>
          <p:cNvPr id="17" name="boxtext-195"/>
          <p:cNvSpPr txBox="1"/>
          <p:nvPr/>
        </p:nvSpPr>
        <p:spPr>
          <a:xfrm>
            <a:off x="7040880" y="960120"/>
            <a:ext cx="1463040" cy="502920"/>
          </a:xfrm>
          <a:prstGeom prst="rect">
            <a:avLst/>
          </a:prstGeom>
          <a:noFill/>
          <a:ln/>
        </p:spPr>
        <p:txBody>
          <a:bodyPr wrap="square" lIns="254" tIns="254" rIns="254" bIns="254" rtlCol="0" anchor="ctr"/>
          <a:lstStyle/>
          <a:p>
            <a:pPr algn="ctr" indent="0" marL="0">
              <a:buNone/>
            </a:pPr>
            <a:r>
              <a:rPr lang="en-US" sz="1200" b="1" dirty="0">
                <a:solidFill>
                  <a:schemeClr val="bg1"/>
                </a:solidFill>
              </a:rPr>
              <a:t>AI Writer</a:t>
            </a:r>
            <a:endParaRPr lang="en-US" sz="1200" dirty="0"/>
          </a:p>
          <a:p>
            <a:pPr algn="ctr" indent="0" marL="0">
              <a:buNone/>
            </a:pPr>
            <a:r>
              <a:rPr lang="en-US" sz="1000" dirty="0">
                <a:solidFill>
                  <a:schemeClr val="bg1"/>
                </a:solidFill>
              </a:rPr>
              <a:t>open-source LLM</a:t>
            </a:r>
            <a:endParaRPr lang="en-US" sz="1200" dirty="0"/>
          </a:p>
        </p:txBody>
      </p:sp>
      <p:sp>
        <p:nvSpPr>
          <p:cNvPr id="18" name="seqnum-196"/>
          <p:cNvSpPr/>
          <p:nvPr/>
        </p:nvSpPr>
        <p:spPr>
          <a:xfrm>
            <a:off x="182880" y="1600200"/>
            <a:ext cx="237744" cy="237744"/>
          </a:xfrm>
          <a:prstGeom prst="ellipse">
            <a:avLst/>
          </a:prstGeom>
          <a:solidFill>
            <a:schemeClr val="accent1"/>
          </a:solidFill>
          <a:ln/>
        </p:spPr>
      </p:sp>
      <p:sp>
        <p:nvSpPr>
          <p:cNvPr id="19" name="text-197"/>
          <p:cNvSpPr txBox="1"/>
          <p:nvPr/>
        </p:nvSpPr>
        <p:spPr>
          <a:xfrm>
            <a:off x="182880" y="1600200"/>
            <a:ext cx="237744" cy="237744"/>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20" name="arrow-198"/>
          <p:cNvSpPr/>
          <p:nvPr/>
        </p:nvSpPr>
        <p:spPr>
          <a:xfrm>
            <a:off x="1188720" y="1737360"/>
            <a:ext cx="1645920" cy="0"/>
          </a:xfrm>
          <a:prstGeom prst="line">
            <a:avLst/>
          </a:prstGeom>
          <a:noFill/>
          <a:ln w="22225">
            <a:solidFill>
              <a:schemeClr val="accent1"/>
            </a:solidFill>
            <a:prstDash val="solid"/>
            <a:tailEnd type="triangle"/>
          </a:ln>
        </p:spPr>
      </p:sp>
      <p:sp>
        <p:nvSpPr>
          <p:cNvPr id="21" name="text-199"/>
          <p:cNvSpPr txBox="1"/>
          <p:nvPr/>
        </p:nvSpPr>
        <p:spPr>
          <a:xfrm>
            <a:off x="1188720" y="1536192"/>
            <a:ext cx="1645920" cy="182880"/>
          </a:xfrm>
          <a:prstGeom prst="rect">
            <a:avLst/>
          </a:prstGeom>
          <a:noFill/>
          <a:ln/>
        </p:spPr>
        <p:txBody>
          <a:bodyPr wrap="square" lIns="0" tIns="0" rIns="0" bIns="0" rtlCol="0" anchor="b"/>
          <a:lstStyle/>
          <a:p>
            <a:pPr algn="ctr" indent="0" marL="0">
              <a:buNone/>
            </a:pPr>
            <a:r>
              <a:rPr lang="en-US" sz="1000" dirty="0">
                <a:solidFill>
                  <a:schemeClr val="tx1"/>
                </a:solidFill>
              </a:rPr>
              <a:t>“Landlord says leave in 7 days”</a:t>
            </a:r>
            <a:endParaRPr lang="en-US" sz="1000" dirty="0"/>
          </a:p>
        </p:txBody>
      </p:sp>
      <p:sp>
        <p:nvSpPr>
          <p:cNvPr id="22" name="seqnum-200"/>
          <p:cNvSpPr/>
          <p:nvPr/>
        </p:nvSpPr>
        <p:spPr>
          <a:xfrm>
            <a:off x="182880" y="1920240"/>
            <a:ext cx="237744" cy="237744"/>
          </a:xfrm>
          <a:prstGeom prst="ellipse">
            <a:avLst/>
          </a:prstGeom>
          <a:solidFill>
            <a:schemeClr val="accent1"/>
          </a:solidFill>
          <a:ln/>
        </p:spPr>
      </p:sp>
      <p:sp>
        <p:nvSpPr>
          <p:cNvPr id="23" name="text-201"/>
          <p:cNvSpPr txBox="1"/>
          <p:nvPr/>
        </p:nvSpPr>
        <p:spPr>
          <a:xfrm>
            <a:off x="182880" y="1920240"/>
            <a:ext cx="237744" cy="237744"/>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4" name="arrow-202"/>
          <p:cNvSpPr/>
          <p:nvPr/>
        </p:nvSpPr>
        <p:spPr>
          <a:xfrm>
            <a:off x="2834640" y="2057400"/>
            <a:ext cx="1645920" cy="0"/>
          </a:xfrm>
          <a:prstGeom prst="line">
            <a:avLst/>
          </a:prstGeom>
          <a:noFill/>
          <a:ln w="22225">
            <a:solidFill>
              <a:schemeClr val="accent1"/>
            </a:solidFill>
            <a:prstDash val="solid"/>
            <a:tailEnd type="triangle"/>
          </a:ln>
        </p:spPr>
      </p:sp>
      <p:sp>
        <p:nvSpPr>
          <p:cNvPr id="25" name="text-203"/>
          <p:cNvSpPr txBox="1"/>
          <p:nvPr/>
        </p:nvSpPr>
        <p:spPr>
          <a:xfrm>
            <a:off x="2834640" y="1856232"/>
            <a:ext cx="1645920" cy="182880"/>
          </a:xfrm>
          <a:prstGeom prst="rect">
            <a:avLst/>
          </a:prstGeom>
          <a:noFill/>
          <a:ln/>
        </p:spPr>
        <p:txBody>
          <a:bodyPr wrap="square" lIns="0" tIns="0" rIns="0" bIns="0" rtlCol="0" anchor="b"/>
          <a:lstStyle/>
          <a:p>
            <a:pPr algn="ctr" indent="0" marL="0">
              <a:buNone/>
            </a:pPr>
            <a:r>
              <a:rPr lang="en-US" sz="1000" dirty="0">
                <a:solidFill>
                  <a:schemeClr val="tx1"/>
                </a:solidFill>
              </a:rPr>
              <a:t>Turn the question into numbers</a:t>
            </a:r>
            <a:endParaRPr lang="en-US" sz="1000" dirty="0"/>
          </a:p>
        </p:txBody>
      </p:sp>
      <p:sp>
        <p:nvSpPr>
          <p:cNvPr id="26" name="seqnum-204"/>
          <p:cNvSpPr/>
          <p:nvPr/>
        </p:nvSpPr>
        <p:spPr>
          <a:xfrm>
            <a:off x="182880" y="2240280"/>
            <a:ext cx="237744" cy="237744"/>
          </a:xfrm>
          <a:prstGeom prst="ellipse">
            <a:avLst/>
          </a:prstGeom>
          <a:solidFill>
            <a:schemeClr val="accent1"/>
          </a:solidFill>
          <a:ln/>
        </p:spPr>
      </p:sp>
      <p:sp>
        <p:nvSpPr>
          <p:cNvPr id="27" name="text-205"/>
          <p:cNvSpPr txBox="1"/>
          <p:nvPr/>
        </p:nvSpPr>
        <p:spPr>
          <a:xfrm>
            <a:off x="182880" y="2240280"/>
            <a:ext cx="237744" cy="237744"/>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28" name="arrow-206"/>
          <p:cNvSpPr/>
          <p:nvPr/>
        </p:nvSpPr>
        <p:spPr>
          <a:xfrm flipH="1">
            <a:off x="2834640" y="2377440"/>
            <a:ext cx="1645920" cy="0"/>
          </a:xfrm>
          <a:prstGeom prst="line">
            <a:avLst/>
          </a:prstGeom>
          <a:noFill/>
          <a:ln w="22225">
            <a:solidFill>
              <a:schemeClr val="accent1"/>
            </a:solidFill>
            <a:prstDash val="dash"/>
            <a:tailEnd type="triangle"/>
          </a:ln>
        </p:spPr>
      </p:sp>
      <p:sp>
        <p:nvSpPr>
          <p:cNvPr id="29" name="text-207"/>
          <p:cNvSpPr txBox="1"/>
          <p:nvPr/>
        </p:nvSpPr>
        <p:spPr>
          <a:xfrm>
            <a:off x="2834640" y="2176272"/>
            <a:ext cx="1645920" cy="182880"/>
          </a:xfrm>
          <a:prstGeom prst="rect">
            <a:avLst/>
          </a:prstGeom>
          <a:noFill/>
          <a:ln/>
        </p:spPr>
        <p:txBody>
          <a:bodyPr wrap="square" lIns="0" tIns="0" rIns="0" bIns="0" rtlCol="0" anchor="b"/>
          <a:lstStyle/>
          <a:p>
            <a:pPr algn="ctr" indent="0" marL="0">
              <a:buNone/>
            </a:pPr>
            <a:r>
              <a:rPr lang="en-US" sz="1000" dirty="0">
                <a:solidFill>
                  <a:schemeClr val="tx1"/>
                </a:solidFill>
              </a:rPr>
              <a:t>Meaning numbers</a:t>
            </a:r>
            <a:endParaRPr lang="en-US" sz="1000" dirty="0"/>
          </a:p>
        </p:txBody>
      </p:sp>
      <p:sp>
        <p:nvSpPr>
          <p:cNvPr id="30" name="seqnum-208"/>
          <p:cNvSpPr/>
          <p:nvPr/>
        </p:nvSpPr>
        <p:spPr>
          <a:xfrm>
            <a:off x="182880" y="2560320"/>
            <a:ext cx="237744" cy="237744"/>
          </a:xfrm>
          <a:prstGeom prst="ellipse">
            <a:avLst/>
          </a:prstGeom>
          <a:solidFill>
            <a:schemeClr val="accent2"/>
          </a:solidFill>
          <a:ln/>
        </p:spPr>
      </p:sp>
      <p:sp>
        <p:nvSpPr>
          <p:cNvPr id="31" name="text-209"/>
          <p:cNvSpPr txBox="1"/>
          <p:nvPr/>
        </p:nvSpPr>
        <p:spPr>
          <a:xfrm>
            <a:off x="182880" y="2560320"/>
            <a:ext cx="237744" cy="237744"/>
          </a:xfrm>
          <a:prstGeom prst="rect">
            <a:avLst/>
          </a:prstGeom>
          <a:no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32" name="arrow-210"/>
          <p:cNvSpPr/>
          <p:nvPr/>
        </p:nvSpPr>
        <p:spPr>
          <a:xfrm>
            <a:off x="2834640" y="2697480"/>
            <a:ext cx="3291840" cy="0"/>
          </a:xfrm>
          <a:prstGeom prst="line">
            <a:avLst/>
          </a:prstGeom>
          <a:noFill/>
          <a:ln w="22225">
            <a:solidFill>
              <a:schemeClr val="accent2"/>
            </a:solidFill>
            <a:prstDash val="solid"/>
            <a:tailEnd type="triangle"/>
          </a:ln>
        </p:spPr>
      </p:sp>
      <p:sp>
        <p:nvSpPr>
          <p:cNvPr id="33" name="text-211"/>
          <p:cNvSpPr txBox="1"/>
          <p:nvPr/>
        </p:nvSpPr>
        <p:spPr>
          <a:xfrm>
            <a:off x="2834640" y="2496312"/>
            <a:ext cx="3291840" cy="182880"/>
          </a:xfrm>
          <a:prstGeom prst="rect">
            <a:avLst/>
          </a:prstGeom>
          <a:noFill/>
          <a:ln/>
        </p:spPr>
        <p:txBody>
          <a:bodyPr wrap="square" lIns="0" tIns="0" rIns="0" bIns="0" rtlCol="0" anchor="b"/>
          <a:lstStyle/>
          <a:p>
            <a:pPr algn="ctr" indent="0" marL="0">
              <a:buNone/>
            </a:pPr>
            <a:r>
              <a:rPr lang="en-US" sz="1000" b="1" dirty="0">
                <a:solidFill>
                  <a:schemeClr val="tx1"/>
                </a:solidFill>
              </a:rPr>
              <a:t>Find the closest law sections</a:t>
            </a:r>
            <a:endParaRPr lang="en-US" sz="1000" dirty="0"/>
          </a:p>
        </p:txBody>
      </p:sp>
      <p:sp>
        <p:nvSpPr>
          <p:cNvPr id="34" name="seqnum-212"/>
          <p:cNvSpPr/>
          <p:nvPr/>
        </p:nvSpPr>
        <p:spPr>
          <a:xfrm>
            <a:off x="182880" y="2880360"/>
            <a:ext cx="237744" cy="237744"/>
          </a:xfrm>
          <a:prstGeom prst="ellipse">
            <a:avLst/>
          </a:prstGeom>
          <a:solidFill>
            <a:schemeClr val="accent2"/>
          </a:solidFill>
          <a:ln/>
        </p:spPr>
      </p:sp>
      <p:sp>
        <p:nvSpPr>
          <p:cNvPr id="35" name="text-213"/>
          <p:cNvSpPr txBox="1"/>
          <p:nvPr/>
        </p:nvSpPr>
        <p:spPr>
          <a:xfrm>
            <a:off x="182880" y="2880360"/>
            <a:ext cx="237744" cy="237744"/>
          </a:xfrm>
          <a:prstGeom prst="rect">
            <a:avLst/>
          </a:prstGeom>
          <a:no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36" name="arrow-214"/>
          <p:cNvSpPr/>
          <p:nvPr/>
        </p:nvSpPr>
        <p:spPr>
          <a:xfrm flipH="1">
            <a:off x="2834640" y="3017520"/>
            <a:ext cx="3291840" cy="0"/>
          </a:xfrm>
          <a:prstGeom prst="line">
            <a:avLst/>
          </a:prstGeom>
          <a:noFill/>
          <a:ln w="22225">
            <a:solidFill>
              <a:schemeClr val="accent2"/>
            </a:solidFill>
            <a:prstDash val="dash"/>
            <a:tailEnd type="triangle"/>
          </a:ln>
        </p:spPr>
      </p:sp>
      <p:sp>
        <p:nvSpPr>
          <p:cNvPr id="37" name="text-215"/>
          <p:cNvSpPr txBox="1"/>
          <p:nvPr/>
        </p:nvSpPr>
        <p:spPr>
          <a:xfrm>
            <a:off x="2834640" y="2816352"/>
            <a:ext cx="3291840" cy="182880"/>
          </a:xfrm>
          <a:prstGeom prst="rect">
            <a:avLst/>
          </a:prstGeom>
          <a:noFill/>
          <a:ln/>
        </p:spPr>
        <p:txBody>
          <a:bodyPr wrap="square" lIns="0" tIns="0" rIns="0" bIns="0" rtlCol="0" anchor="b"/>
          <a:lstStyle/>
          <a:p>
            <a:pPr algn="ctr" indent="0" marL="0">
              <a:buNone/>
            </a:pPr>
            <a:r>
              <a:rPr lang="en-US" sz="1000" b="1" dirty="0">
                <a:solidFill>
                  <a:schemeClr val="tx1"/>
                </a:solidFill>
              </a:rPr>
              <a:t>Top 3 rent law sections + names</a:t>
            </a:r>
            <a:endParaRPr lang="en-US" sz="1000" dirty="0"/>
          </a:p>
        </p:txBody>
      </p:sp>
      <p:sp>
        <p:nvSpPr>
          <p:cNvPr id="38" name="seqnum-216"/>
          <p:cNvSpPr/>
          <p:nvPr/>
        </p:nvSpPr>
        <p:spPr>
          <a:xfrm>
            <a:off x="182880" y="3200400"/>
            <a:ext cx="237744" cy="237744"/>
          </a:xfrm>
          <a:prstGeom prst="ellipse">
            <a:avLst/>
          </a:prstGeom>
          <a:solidFill>
            <a:schemeClr val="tx2"/>
          </a:solidFill>
          <a:ln/>
        </p:spPr>
      </p:sp>
      <p:sp>
        <p:nvSpPr>
          <p:cNvPr id="39" name="text-217"/>
          <p:cNvSpPr txBox="1"/>
          <p:nvPr/>
        </p:nvSpPr>
        <p:spPr>
          <a:xfrm>
            <a:off x="182880" y="3200400"/>
            <a:ext cx="237744" cy="237744"/>
          </a:xfrm>
          <a:prstGeom prst="rect">
            <a:avLst/>
          </a:prstGeom>
          <a:no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40" name="arrow-218"/>
          <p:cNvSpPr/>
          <p:nvPr/>
        </p:nvSpPr>
        <p:spPr>
          <a:xfrm>
            <a:off x="2834640" y="3337560"/>
            <a:ext cx="4937760" cy="0"/>
          </a:xfrm>
          <a:prstGeom prst="line">
            <a:avLst/>
          </a:prstGeom>
          <a:noFill/>
          <a:ln w="22225">
            <a:solidFill>
              <a:schemeClr val="tx2"/>
            </a:solidFill>
            <a:prstDash val="solid"/>
            <a:tailEnd type="triangle"/>
          </a:ln>
        </p:spPr>
      </p:sp>
      <p:sp>
        <p:nvSpPr>
          <p:cNvPr id="41" name="text-219"/>
          <p:cNvSpPr txBox="1"/>
          <p:nvPr/>
        </p:nvSpPr>
        <p:spPr>
          <a:xfrm>
            <a:off x="2834640" y="3136392"/>
            <a:ext cx="4937760" cy="182880"/>
          </a:xfrm>
          <a:prstGeom prst="rect">
            <a:avLst/>
          </a:prstGeom>
          <a:noFill/>
          <a:ln/>
        </p:spPr>
        <p:txBody>
          <a:bodyPr wrap="square" lIns="0" tIns="0" rIns="0" bIns="0" rtlCol="0" anchor="b"/>
          <a:lstStyle/>
          <a:p>
            <a:pPr algn="ctr" indent="0" marL="0">
              <a:buNone/>
            </a:pPr>
            <a:r>
              <a:rPr lang="en-US" sz="1000" b="1" dirty="0">
                <a:solidFill>
                  <a:schemeClr val="tx1"/>
                </a:solidFill>
              </a:rPr>
              <a:t>“Answer ONLY from these 3 sections”</a:t>
            </a:r>
            <a:endParaRPr lang="en-US" sz="1000" dirty="0"/>
          </a:p>
        </p:txBody>
      </p:sp>
      <p:sp>
        <p:nvSpPr>
          <p:cNvPr id="42" name="seqnum-220"/>
          <p:cNvSpPr/>
          <p:nvPr/>
        </p:nvSpPr>
        <p:spPr>
          <a:xfrm>
            <a:off x="182880" y="3520440"/>
            <a:ext cx="237744" cy="237744"/>
          </a:xfrm>
          <a:prstGeom prst="ellipse">
            <a:avLst/>
          </a:prstGeom>
          <a:solidFill>
            <a:schemeClr val="tx2"/>
          </a:solidFill>
          <a:ln/>
        </p:spPr>
      </p:sp>
      <p:sp>
        <p:nvSpPr>
          <p:cNvPr id="43" name="text-221"/>
          <p:cNvSpPr txBox="1"/>
          <p:nvPr/>
        </p:nvSpPr>
        <p:spPr>
          <a:xfrm>
            <a:off x="182880" y="3520440"/>
            <a:ext cx="237744" cy="237744"/>
          </a:xfrm>
          <a:prstGeom prst="rect">
            <a:avLst/>
          </a:prstGeom>
          <a:noFill/>
          <a:ln/>
        </p:spPr>
        <p:txBody>
          <a:bodyPr wrap="square" lIns="0" tIns="0" rIns="0" bIns="0" rtlCol="0" anchor="ctr"/>
          <a:lstStyle/>
          <a:p>
            <a:pPr algn="ctr" indent="0" marL="0">
              <a:buNone/>
            </a:pPr>
            <a:r>
              <a:rPr lang="en-US" sz="1000" b="1" dirty="0">
                <a:solidFill>
                  <a:schemeClr val="bg1"/>
                </a:solidFill>
              </a:rPr>
              <a:t>7</a:t>
            </a:r>
            <a:endParaRPr lang="en-US" sz="1000" dirty="0"/>
          </a:p>
        </p:txBody>
      </p:sp>
      <p:sp>
        <p:nvSpPr>
          <p:cNvPr id="44" name="arrow-222"/>
          <p:cNvSpPr/>
          <p:nvPr/>
        </p:nvSpPr>
        <p:spPr>
          <a:xfrm flipH="1">
            <a:off x="2834640" y="3657600"/>
            <a:ext cx="4937760" cy="0"/>
          </a:xfrm>
          <a:prstGeom prst="line">
            <a:avLst/>
          </a:prstGeom>
          <a:noFill/>
          <a:ln w="22225">
            <a:solidFill>
              <a:schemeClr val="tx2"/>
            </a:solidFill>
            <a:prstDash val="dash"/>
            <a:tailEnd type="triangle"/>
          </a:ln>
        </p:spPr>
      </p:sp>
      <p:sp>
        <p:nvSpPr>
          <p:cNvPr id="45" name="text-223"/>
          <p:cNvSpPr txBox="1"/>
          <p:nvPr/>
        </p:nvSpPr>
        <p:spPr>
          <a:xfrm>
            <a:off x="2834640" y="3456432"/>
            <a:ext cx="4937760" cy="182880"/>
          </a:xfrm>
          <a:prstGeom prst="rect">
            <a:avLst/>
          </a:prstGeom>
          <a:noFill/>
          <a:ln/>
        </p:spPr>
        <p:txBody>
          <a:bodyPr wrap="square" lIns="0" tIns="0" rIns="0" bIns="0" rtlCol="0" anchor="b"/>
          <a:lstStyle/>
          <a:p>
            <a:pPr algn="ctr" indent="0" marL="0">
              <a:buNone/>
            </a:pPr>
            <a:r>
              <a:rPr lang="en-US" sz="1000" b="1" dirty="0">
                <a:solidFill>
                  <a:schemeClr val="tx1"/>
                </a:solidFill>
              </a:rPr>
              <a:t>Draft answer with [S1] [S2]</a:t>
            </a:r>
            <a:endParaRPr lang="en-US" sz="1000" dirty="0"/>
          </a:p>
        </p:txBody>
      </p:sp>
      <p:sp>
        <p:nvSpPr>
          <p:cNvPr id="46" name="seqnum-224"/>
          <p:cNvSpPr/>
          <p:nvPr/>
        </p:nvSpPr>
        <p:spPr>
          <a:xfrm>
            <a:off x="182880" y="3840480"/>
            <a:ext cx="237744" cy="237744"/>
          </a:xfrm>
          <a:prstGeom prst="ellipse">
            <a:avLst/>
          </a:prstGeom>
          <a:solidFill>
            <a:schemeClr val="accent1"/>
          </a:solidFill>
          <a:ln/>
        </p:spPr>
      </p:sp>
      <p:sp>
        <p:nvSpPr>
          <p:cNvPr id="47" name="text-225"/>
          <p:cNvSpPr txBox="1"/>
          <p:nvPr/>
        </p:nvSpPr>
        <p:spPr>
          <a:xfrm>
            <a:off x="182880" y="3840480"/>
            <a:ext cx="237744" cy="237744"/>
          </a:xfrm>
          <a:prstGeom prst="rect">
            <a:avLst/>
          </a:prstGeom>
          <a:noFill/>
          <a:ln/>
        </p:spPr>
        <p:txBody>
          <a:bodyPr wrap="square" lIns="0" tIns="0" rIns="0" bIns="0" rtlCol="0" anchor="ctr"/>
          <a:lstStyle/>
          <a:p>
            <a:pPr algn="ctr" indent="0" marL="0">
              <a:buNone/>
            </a:pPr>
            <a:r>
              <a:rPr lang="en-US" sz="1000" b="1" dirty="0">
                <a:solidFill>
                  <a:schemeClr val="bg1"/>
                </a:solidFill>
              </a:rPr>
              <a:t>8</a:t>
            </a:r>
            <a:endParaRPr lang="en-US" sz="1000" dirty="0"/>
          </a:p>
        </p:txBody>
      </p:sp>
      <p:sp>
        <p:nvSpPr>
          <p:cNvPr id="48" name="box-226"/>
          <p:cNvSpPr/>
          <p:nvPr/>
        </p:nvSpPr>
        <p:spPr>
          <a:xfrm>
            <a:off x="2907792" y="3831336"/>
            <a:ext cx="1600200" cy="256032"/>
          </a:xfrm>
          <a:prstGeom prst="roundRect">
            <a:avLst>
              <a:gd name="adj" fmla="val 28571"/>
            </a:avLst>
          </a:prstGeom>
          <a:solidFill>
            <a:schemeClr val="bg1"/>
          </a:solidFill>
          <a:ln w="12700">
            <a:solidFill>
              <a:schemeClr val="accent1"/>
            </a:solidFill>
            <a:prstDash val="solid"/>
          </a:ln>
        </p:spPr>
      </p:sp>
      <p:sp>
        <p:nvSpPr>
          <p:cNvPr id="49" name="boxtext-227"/>
          <p:cNvSpPr txBox="1"/>
          <p:nvPr/>
        </p:nvSpPr>
        <p:spPr>
          <a:xfrm>
            <a:off x="2907792" y="3831336"/>
            <a:ext cx="1600200" cy="256032"/>
          </a:xfrm>
          <a:prstGeom prst="rect">
            <a:avLst/>
          </a:prstGeom>
          <a:noFill/>
          <a:ln/>
        </p:spPr>
        <p:txBody>
          <a:bodyPr wrap="square" lIns="0" tIns="0" rIns="0" bIns="0" rtlCol="0" anchor="ctr"/>
          <a:lstStyle/>
          <a:p>
            <a:pPr algn="ctr" indent="0" marL="0">
              <a:buNone/>
            </a:pPr>
            <a:r>
              <a:rPr lang="en-US" sz="1000" b="1" dirty="0">
                <a:solidFill>
                  <a:schemeClr val="tx2"/>
                </a:solidFill>
              </a:rPr>
              <a:t>Check every source</a:t>
            </a:r>
            <a:endParaRPr lang="en-US" sz="1000" dirty="0"/>
          </a:p>
        </p:txBody>
      </p:sp>
      <p:sp>
        <p:nvSpPr>
          <p:cNvPr id="50" name="seqnum-228"/>
          <p:cNvSpPr/>
          <p:nvPr/>
        </p:nvSpPr>
        <p:spPr>
          <a:xfrm>
            <a:off x="182880" y="4160520"/>
            <a:ext cx="237744" cy="237744"/>
          </a:xfrm>
          <a:prstGeom prst="ellipse">
            <a:avLst/>
          </a:prstGeom>
          <a:solidFill>
            <a:schemeClr val="accent1"/>
          </a:solidFill>
          <a:ln/>
        </p:spPr>
      </p:sp>
      <p:sp>
        <p:nvSpPr>
          <p:cNvPr id="51" name="text-229"/>
          <p:cNvSpPr txBox="1"/>
          <p:nvPr/>
        </p:nvSpPr>
        <p:spPr>
          <a:xfrm>
            <a:off x="182880" y="4160520"/>
            <a:ext cx="237744" cy="237744"/>
          </a:xfrm>
          <a:prstGeom prst="rect">
            <a:avLst/>
          </a:prstGeom>
          <a:noFill/>
          <a:ln/>
        </p:spPr>
        <p:txBody>
          <a:bodyPr wrap="square" lIns="0" tIns="0" rIns="0" bIns="0" rtlCol="0" anchor="ctr"/>
          <a:lstStyle/>
          <a:p>
            <a:pPr algn="ctr" indent="0" marL="0">
              <a:buNone/>
            </a:pPr>
            <a:r>
              <a:rPr lang="en-US" sz="1000" b="1" dirty="0">
                <a:solidFill>
                  <a:schemeClr val="bg1"/>
                </a:solidFill>
              </a:rPr>
              <a:t>9</a:t>
            </a:r>
            <a:endParaRPr lang="en-US" sz="1000" dirty="0"/>
          </a:p>
        </p:txBody>
      </p:sp>
      <p:sp>
        <p:nvSpPr>
          <p:cNvPr id="52" name="arrow-230"/>
          <p:cNvSpPr/>
          <p:nvPr/>
        </p:nvSpPr>
        <p:spPr>
          <a:xfrm flipH="1">
            <a:off x="1188720" y="4297680"/>
            <a:ext cx="1645920" cy="0"/>
          </a:xfrm>
          <a:prstGeom prst="line">
            <a:avLst/>
          </a:prstGeom>
          <a:noFill/>
          <a:ln w="22225">
            <a:solidFill>
              <a:schemeClr val="accent1"/>
            </a:solidFill>
            <a:prstDash val="dash"/>
            <a:tailEnd type="triangle"/>
          </a:ln>
        </p:spPr>
      </p:sp>
      <p:sp>
        <p:nvSpPr>
          <p:cNvPr id="53" name="text-231"/>
          <p:cNvSpPr txBox="1"/>
          <p:nvPr/>
        </p:nvSpPr>
        <p:spPr>
          <a:xfrm>
            <a:off x="1188720" y="4096512"/>
            <a:ext cx="1645920" cy="182880"/>
          </a:xfrm>
          <a:prstGeom prst="rect">
            <a:avLst/>
          </a:prstGeom>
          <a:noFill/>
          <a:ln/>
        </p:spPr>
        <p:txBody>
          <a:bodyPr wrap="square" lIns="0" tIns="0" rIns="0" bIns="0" rtlCol="0" anchor="b"/>
          <a:lstStyle/>
          <a:p>
            <a:pPr algn="ctr" indent="0" marL="0">
              <a:buNone/>
            </a:pPr>
            <a:r>
              <a:rPr lang="en-US" sz="1000" dirty="0">
                <a:solidFill>
                  <a:schemeClr val="tx1"/>
                </a:solidFill>
              </a:rPr>
              <a:t>Simple answer + sources</a:t>
            </a:r>
            <a:endParaRPr lang="en-US" sz="1000" dirty="0"/>
          </a:p>
        </p:txBody>
      </p:sp>
      <p:sp>
        <p:nvSpPr>
          <p:cNvPr id="54" name="box-232"/>
          <p:cNvSpPr/>
          <p:nvPr/>
        </p:nvSpPr>
        <p:spPr>
          <a:xfrm>
            <a:off x="457200" y="4407408"/>
            <a:ext cx="8229600" cy="310896"/>
          </a:xfrm>
          <a:prstGeom prst="roundRect">
            <a:avLst>
              <a:gd name="adj" fmla="val 23529"/>
            </a:avLst>
          </a:prstGeom>
          <a:solidFill>
            <a:schemeClr val="tx2"/>
          </a:solidFill>
          <a:ln/>
        </p:spPr>
      </p:sp>
      <p:sp>
        <p:nvSpPr>
          <p:cNvPr id="55" name="boxtext-233"/>
          <p:cNvSpPr txBox="1"/>
          <p:nvPr/>
        </p:nvSpPr>
        <p:spPr>
          <a:xfrm>
            <a:off x="594360" y="4407408"/>
            <a:ext cx="7955280" cy="310896"/>
          </a:xfrm>
          <a:prstGeom prst="rect">
            <a:avLst/>
          </a:prstGeom>
          <a:noFill/>
          <a:ln/>
        </p:spPr>
        <p:txBody>
          <a:bodyPr wrap="square" lIns="0" tIns="0" rIns="0" bIns="0" rtlCol="0" anchor="ctr"/>
          <a:lstStyle/>
          <a:p>
            <a:pPr algn="l" indent="0" marL="0">
              <a:buNone/>
            </a:pPr>
            <a:r>
              <a:rPr lang="en-US" sz="1100" b="1" dirty="0">
                <a:solidFill>
                  <a:schemeClr val="accent2"/>
                </a:solidFill>
              </a:rPr>
              <a:t>Key point: </a:t>
            </a:r>
            <a:pPr algn="l" indent="0" marL="0">
              <a:buNone/>
            </a:pPr>
            <a:r>
              <a:rPr lang="en-US" sz="1100" dirty="0">
                <a:solidFill>
                  <a:schemeClr val="bg1"/>
                </a:solidFill>
              </a:rPr>
              <a:t>the AI Writer never searches by itself. Our server finds the law first and gives the Writer only that text.</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How We Find the Right Law in the Database</a:t>
            </a:r>
            <a:endParaRPr lang="en-US" sz="2800" dirty="0"/>
          </a:p>
        </p:txBody>
      </p:sp>
      <p:sp>
        <p:nvSpPr>
          <p:cNvPr id="3" name="text-234"/>
          <p:cNvSpPr txBox="1"/>
          <p:nvPr/>
        </p:nvSpPr>
        <p:spPr>
          <a:xfrm>
            <a:off x="457200" y="914400"/>
            <a:ext cx="8229600" cy="256032"/>
          </a:xfrm>
          <a:prstGeom prst="rect">
            <a:avLst/>
          </a:prstGeom>
          <a:noFill/>
          <a:ln/>
        </p:spPr>
        <p:txBody>
          <a:bodyPr wrap="square" lIns="0" tIns="0" rIns="0" bIns="0" rtlCol="0" anchor="t"/>
          <a:lstStyle/>
          <a:p>
            <a:pPr indent="0" marL="0">
              <a:buNone/>
            </a:pPr>
            <a:r>
              <a:rPr lang="en-US" sz="1100" b="1" spc="100" kern="0" dirty="0">
                <a:solidFill>
                  <a:schemeClr val="accent5"/>
                </a:solidFill>
              </a:rPr>
              <a:t>A.  BUILD THE LAW LIBRARY (done once, before users arrive)</a:t>
            </a:r>
            <a:endParaRPr lang="en-US" sz="1100" dirty="0"/>
          </a:p>
        </p:txBody>
      </p:sp>
      <p:sp>
        <p:nvSpPr>
          <p:cNvPr id="4" name="box-235"/>
          <p:cNvSpPr/>
          <p:nvPr/>
        </p:nvSpPr>
        <p:spPr>
          <a:xfrm>
            <a:off x="457200" y="1207008"/>
            <a:ext cx="1499616" cy="566928"/>
          </a:xfrm>
          <a:prstGeom prst="roundRect">
            <a:avLst>
              <a:gd name="adj" fmla="val 12903"/>
            </a:avLst>
          </a:prstGeom>
          <a:solidFill>
            <a:schemeClr val="bg2"/>
          </a:solidFill>
          <a:ln/>
        </p:spPr>
      </p:sp>
      <p:sp>
        <p:nvSpPr>
          <p:cNvPr id="5" name="boxtext-236"/>
          <p:cNvSpPr txBox="1"/>
          <p:nvPr/>
        </p:nvSpPr>
        <p:spPr>
          <a:xfrm>
            <a:off x="457200" y="1207008"/>
            <a:ext cx="1499616" cy="566928"/>
          </a:xfrm>
          <a:prstGeom prst="rect">
            <a:avLst/>
          </a:prstGeom>
          <a:noFill/>
          <a:ln/>
        </p:spPr>
        <p:txBody>
          <a:bodyPr wrap="square" lIns="762" tIns="762" rIns="762" bIns="762" rtlCol="0" anchor="ctr"/>
          <a:lstStyle/>
          <a:p>
            <a:pPr algn="ctr" indent="0" marL="0">
              <a:buNone/>
            </a:pPr>
            <a:r>
              <a:rPr lang="en-US" sz="1100" b="1" dirty="0">
                <a:solidFill>
                  <a:schemeClr val="tx2"/>
                </a:solidFill>
              </a:rPr>
              <a:t>Collect verified Pakistani laws</a:t>
            </a:r>
            <a:endParaRPr lang="en-US" sz="1100" dirty="0"/>
          </a:p>
        </p:txBody>
      </p:sp>
      <p:sp>
        <p:nvSpPr>
          <p:cNvPr id="6" name="box-237"/>
          <p:cNvSpPr/>
          <p:nvPr/>
        </p:nvSpPr>
        <p:spPr>
          <a:xfrm>
            <a:off x="2139696" y="1207008"/>
            <a:ext cx="1499616" cy="566928"/>
          </a:xfrm>
          <a:prstGeom prst="roundRect">
            <a:avLst>
              <a:gd name="adj" fmla="val 12903"/>
            </a:avLst>
          </a:prstGeom>
          <a:solidFill>
            <a:schemeClr val="bg2"/>
          </a:solidFill>
          <a:ln/>
        </p:spPr>
      </p:sp>
      <p:sp>
        <p:nvSpPr>
          <p:cNvPr id="7" name="boxtext-238"/>
          <p:cNvSpPr txBox="1"/>
          <p:nvPr/>
        </p:nvSpPr>
        <p:spPr>
          <a:xfrm>
            <a:off x="2139696" y="1207008"/>
            <a:ext cx="1499616" cy="566928"/>
          </a:xfrm>
          <a:prstGeom prst="rect">
            <a:avLst/>
          </a:prstGeom>
          <a:noFill/>
          <a:ln/>
        </p:spPr>
        <p:txBody>
          <a:bodyPr wrap="square" lIns="762" tIns="762" rIns="762" bIns="762" rtlCol="0" anchor="ctr"/>
          <a:lstStyle/>
          <a:p>
            <a:pPr algn="ctr" indent="0" marL="0">
              <a:buNone/>
            </a:pPr>
            <a:r>
              <a:rPr lang="en-US" sz="1100" b="1" dirty="0">
                <a:solidFill>
                  <a:schemeClr val="tx2"/>
                </a:solidFill>
              </a:rPr>
              <a:t>Clean and double-check them</a:t>
            </a:r>
            <a:endParaRPr lang="en-US" sz="1100" dirty="0"/>
          </a:p>
        </p:txBody>
      </p:sp>
      <p:sp>
        <p:nvSpPr>
          <p:cNvPr id="8" name="arrow-239"/>
          <p:cNvSpPr/>
          <p:nvPr/>
        </p:nvSpPr>
        <p:spPr>
          <a:xfrm>
            <a:off x="1965960" y="1490472"/>
            <a:ext cx="164592" cy="0"/>
          </a:xfrm>
          <a:prstGeom prst="line">
            <a:avLst/>
          </a:prstGeom>
          <a:noFill/>
          <a:ln w="19050">
            <a:solidFill>
              <a:schemeClr val="accent1"/>
            </a:solidFill>
            <a:prstDash val="solid"/>
            <a:tailEnd type="triangle"/>
          </a:ln>
        </p:spPr>
      </p:sp>
      <p:sp>
        <p:nvSpPr>
          <p:cNvPr id="9" name="box-240"/>
          <p:cNvSpPr/>
          <p:nvPr/>
        </p:nvSpPr>
        <p:spPr>
          <a:xfrm>
            <a:off x="3822192" y="1207008"/>
            <a:ext cx="1499616" cy="566928"/>
          </a:xfrm>
          <a:prstGeom prst="roundRect">
            <a:avLst>
              <a:gd name="adj" fmla="val 12903"/>
            </a:avLst>
          </a:prstGeom>
          <a:solidFill>
            <a:schemeClr val="bg2"/>
          </a:solidFill>
          <a:ln/>
        </p:spPr>
      </p:sp>
      <p:sp>
        <p:nvSpPr>
          <p:cNvPr id="10" name="boxtext-241"/>
          <p:cNvSpPr txBox="1"/>
          <p:nvPr/>
        </p:nvSpPr>
        <p:spPr>
          <a:xfrm>
            <a:off x="3822192" y="1207008"/>
            <a:ext cx="1499616" cy="566928"/>
          </a:xfrm>
          <a:prstGeom prst="rect">
            <a:avLst/>
          </a:prstGeom>
          <a:noFill/>
          <a:ln/>
        </p:spPr>
        <p:txBody>
          <a:bodyPr wrap="square" lIns="762" tIns="762" rIns="762" bIns="762" rtlCol="0" anchor="ctr"/>
          <a:lstStyle/>
          <a:p>
            <a:pPr algn="ctr" indent="0" marL="0">
              <a:buNone/>
            </a:pPr>
            <a:r>
              <a:rPr lang="en-US" sz="1100" b="1" dirty="0">
                <a:solidFill>
                  <a:schemeClr val="tx2"/>
                </a:solidFill>
              </a:rPr>
              <a:t>Cut into sections (one topic each)</a:t>
            </a:r>
            <a:endParaRPr lang="en-US" sz="1100" dirty="0"/>
          </a:p>
        </p:txBody>
      </p:sp>
      <p:sp>
        <p:nvSpPr>
          <p:cNvPr id="11" name="arrow-242"/>
          <p:cNvSpPr/>
          <p:nvPr/>
        </p:nvSpPr>
        <p:spPr>
          <a:xfrm>
            <a:off x="3648456" y="1490472"/>
            <a:ext cx="164592" cy="0"/>
          </a:xfrm>
          <a:prstGeom prst="line">
            <a:avLst/>
          </a:prstGeom>
          <a:noFill/>
          <a:ln w="19050">
            <a:solidFill>
              <a:schemeClr val="accent1"/>
            </a:solidFill>
            <a:prstDash val="solid"/>
            <a:tailEnd type="triangle"/>
          </a:ln>
        </p:spPr>
      </p:sp>
      <p:sp>
        <p:nvSpPr>
          <p:cNvPr id="12" name="box-243"/>
          <p:cNvSpPr/>
          <p:nvPr/>
        </p:nvSpPr>
        <p:spPr>
          <a:xfrm>
            <a:off x="5504688" y="1207008"/>
            <a:ext cx="1499616" cy="566928"/>
          </a:xfrm>
          <a:prstGeom prst="roundRect">
            <a:avLst>
              <a:gd name="adj" fmla="val 12903"/>
            </a:avLst>
          </a:prstGeom>
          <a:solidFill>
            <a:schemeClr val="bg2"/>
          </a:solidFill>
          <a:ln/>
        </p:spPr>
      </p:sp>
      <p:sp>
        <p:nvSpPr>
          <p:cNvPr id="13" name="boxtext-244"/>
          <p:cNvSpPr txBox="1"/>
          <p:nvPr/>
        </p:nvSpPr>
        <p:spPr>
          <a:xfrm>
            <a:off x="5504688" y="1207008"/>
            <a:ext cx="1499616" cy="566928"/>
          </a:xfrm>
          <a:prstGeom prst="rect">
            <a:avLst/>
          </a:prstGeom>
          <a:noFill/>
          <a:ln/>
        </p:spPr>
        <p:txBody>
          <a:bodyPr wrap="square" lIns="762" tIns="762" rIns="762" bIns="762" rtlCol="0" anchor="ctr"/>
          <a:lstStyle/>
          <a:p>
            <a:pPr algn="ctr" indent="0" marL="0">
              <a:buNone/>
            </a:pPr>
            <a:r>
              <a:rPr lang="en-US" sz="1100" b="1" dirty="0">
                <a:solidFill>
                  <a:schemeClr val="tx2"/>
                </a:solidFill>
              </a:rPr>
              <a:t>Turn each section into meaning numbers</a:t>
            </a:r>
            <a:endParaRPr lang="en-US" sz="1100" dirty="0"/>
          </a:p>
        </p:txBody>
      </p:sp>
      <p:sp>
        <p:nvSpPr>
          <p:cNvPr id="14" name="arrow-245"/>
          <p:cNvSpPr/>
          <p:nvPr/>
        </p:nvSpPr>
        <p:spPr>
          <a:xfrm>
            <a:off x="5330952" y="1490472"/>
            <a:ext cx="164592" cy="0"/>
          </a:xfrm>
          <a:prstGeom prst="line">
            <a:avLst/>
          </a:prstGeom>
          <a:noFill/>
          <a:ln w="19050">
            <a:solidFill>
              <a:schemeClr val="accent1"/>
            </a:solidFill>
            <a:prstDash val="solid"/>
            <a:tailEnd type="triangle"/>
          </a:ln>
        </p:spPr>
      </p:sp>
      <p:sp>
        <p:nvSpPr>
          <p:cNvPr id="15" name="box-246"/>
          <p:cNvSpPr/>
          <p:nvPr/>
        </p:nvSpPr>
        <p:spPr>
          <a:xfrm>
            <a:off x="7187184" y="1207008"/>
            <a:ext cx="1499616" cy="566928"/>
          </a:xfrm>
          <a:prstGeom prst="roundRect">
            <a:avLst>
              <a:gd name="adj" fmla="val 12903"/>
            </a:avLst>
          </a:prstGeom>
          <a:solidFill>
            <a:schemeClr val="accent2"/>
          </a:solidFill>
          <a:ln/>
        </p:spPr>
      </p:sp>
      <p:sp>
        <p:nvSpPr>
          <p:cNvPr id="16" name="boxtext-247"/>
          <p:cNvSpPr txBox="1"/>
          <p:nvPr/>
        </p:nvSpPr>
        <p:spPr>
          <a:xfrm>
            <a:off x="7187184" y="1207008"/>
            <a:ext cx="1499616" cy="566928"/>
          </a:xfrm>
          <a:prstGeom prst="rect">
            <a:avLst/>
          </a:prstGeom>
          <a:noFill/>
          <a:ln/>
        </p:spPr>
        <p:txBody>
          <a:bodyPr wrap="square" lIns="762" tIns="762" rIns="762" bIns="762" rtlCol="0" anchor="ctr"/>
          <a:lstStyle/>
          <a:p>
            <a:pPr algn="ctr" indent="0" marL="0">
              <a:buNone/>
            </a:pPr>
            <a:r>
              <a:rPr lang="en-US" sz="1100" b="1" dirty="0">
                <a:solidFill>
                  <a:schemeClr val="bg1"/>
                </a:solidFill>
              </a:rPr>
              <a:t>Save in the law library (vector DB)</a:t>
            </a:r>
            <a:endParaRPr lang="en-US" sz="1100" dirty="0"/>
          </a:p>
        </p:txBody>
      </p:sp>
      <p:sp>
        <p:nvSpPr>
          <p:cNvPr id="17" name="arrow-248"/>
          <p:cNvSpPr/>
          <p:nvPr/>
        </p:nvSpPr>
        <p:spPr>
          <a:xfrm>
            <a:off x="7013448" y="1490472"/>
            <a:ext cx="164592" cy="0"/>
          </a:xfrm>
          <a:prstGeom prst="line">
            <a:avLst/>
          </a:prstGeom>
          <a:noFill/>
          <a:ln w="19050">
            <a:solidFill>
              <a:schemeClr val="accent1"/>
            </a:solidFill>
            <a:prstDash val="solid"/>
            <a:tailEnd type="triangle"/>
          </a:ln>
        </p:spPr>
      </p:sp>
      <p:sp>
        <p:nvSpPr>
          <p:cNvPr id="18" name="text-249"/>
          <p:cNvSpPr txBox="1"/>
          <p:nvPr/>
        </p:nvSpPr>
        <p:spPr>
          <a:xfrm>
            <a:off x="457200" y="1965960"/>
            <a:ext cx="8229600" cy="256032"/>
          </a:xfrm>
          <a:prstGeom prst="rect">
            <a:avLst/>
          </a:prstGeom>
          <a:noFill/>
          <a:ln/>
        </p:spPr>
        <p:txBody>
          <a:bodyPr wrap="square" lIns="0" tIns="0" rIns="0" bIns="0" rtlCol="0" anchor="t"/>
          <a:lstStyle/>
          <a:p>
            <a:pPr indent="0" marL="0">
              <a:buNone/>
            </a:pPr>
            <a:r>
              <a:rPr lang="en-US" sz="1100" b="1" spc="100" kern="0" dirty="0">
                <a:solidFill>
                  <a:schemeClr val="accent5"/>
                </a:solidFill>
              </a:rPr>
              <a:t>B.  SEARCH (every time someone asks a question)</a:t>
            </a:r>
            <a:endParaRPr lang="en-US" sz="1100" dirty="0"/>
          </a:p>
        </p:txBody>
      </p:sp>
      <p:sp>
        <p:nvSpPr>
          <p:cNvPr id="19" name="box-250"/>
          <p:cNvSpPr/>
          <p:nvPr/>
        </p:nvSpPr>
        <p:spPr>
          <a:xfrm>
            <a:off x="457200" y="2331720"/>
            <a:ext cx="1828800" cy="868680"/>
          </a:xfrm>
          <a:prstGeom prst="roundRect">
            <a:avLst>
              <a:gd name="adj" fmla="val 15789"/>
            </a:avLst>
          </a:prstGeom>
          <a:solidFill>
            <a:schemeClr val="accent1"/>
          </a:solidFill>
          <a:ln/>
        </p:spPr>
      </p:sp>
      <p:sp>
        <p:nvSpPr>
          <p:cNvPr id="20" name="boxtext-251"/>
          <p:cNvSpPr txBox="1"/>
          <p:nvPr/>
        </p:nvSpPr>
        <p:spPr>
          <a:xfrm>
            <a:off x="457200" y="2331720"/>
            <a:ext cx="1828800" cy="868680"/>
          </a:xfrm>
          <a:prstGeom prst="rect">
            <a:avLst/>
          </a:prstGeom>
          <a:noFill/>
          <a:ln/>
        </p:spPr>
        <p:txBody>
          <a:bodyPr wrap="square" lIns="762" tIns="762" rIns="762" bIns="762" rtlCol="0" anchor="ctr"/>
          <a:lstStyle/>
          <a:p>
            <a:pPr algn="ctr" indent="0" marL="0">
              <a:buNone/>
            </a:pPr>
            <a:r>
              <a:rPr lang="en-US" sz="1100" dirty="0">
                <a:solidFill>
                  <a:schemeClr val="bg1"/>
                </a:solidFill>
              </a:rPr>
              <a:t>“My landlord says leave the house in 7 days”</a:t>
            </a:r>
            <a:endParaRPr lang="en-US" sz="1100" dirty="0"/>
          </a:p>
        </p:txBody>
      </p:sp>
      <p:sp>
        <p:nvSpPr>
          <p:cNvPr id="21" name="text-252"/>
          <p:cNvSpPr txBox="1"/>
          <p:nvPr/>
        </p:nvSpPr>
        <p:spPr>
          <a:xfrm>
            <a:off x="457200" y="3246120"/>
            <a:ext cx="1828800" cy="228600"/>
          </a:xfrm>
          <a:prstGeom prst="rect">
            <a:avLst/>
          </a:prstGeom>
          <a:noFill/>
          <a:ln/>
        </p:spPr>
        <p:txBody>
          <a:bodyPr wrap="square" lIns="0" tIns="0" rIns="0" bIns="0" rtlCol="0" anchor="t"/>
          <a:lstStyle/>
          <a:p>
            <a:pPr algn="ctr" indent="0" marL="0">
              <a:buNone/>
            </a:pPr>
            <a:r>
              <a:rPr lang="en-US" sz="1000" dirty="0">
                <a:solidFill>
                  <a:schemeClr val="accent5"/>
                </a:solidFill>
              </a:rPr>
              <a:t>Ali's question</a:t>
            </a:r>
            <a:endParaRPr lang="en-US" sz="1000" dirty="0"/>
          </a:p>
        </p:txBody>
      </p:sp>
      <p:sp>
        <p:nvSpPr>
          <p:cNvPr id="22" name="arrow-253"/>
          <p:cNvSpPr/>
          <p:nvPr/>
        </p:nvSpPr>
        <p:spPr>
          <a:xfrm>
            <a:off x="2304288" y="2761488"/>
            <a:ext cx="329184" cy="0"/>
          </a:xfrm>
          <a:prstGeom prst="line">
            <a:avLst/>
          </a:prstGeom>
          <a:noFill/>
          <a:ln w="25400">
            <a:solidFill>
              <a:schemeClr val="accent1"/>
            </a:solidFill>
            <a:prstDash val="solid"/>
            <a:tailEnd type="triangle"/>
          </a:ln>
        </p:spPr>
      </p:sp>
      <p:sp>
        <p:nvSpPr>
          <p:cNvPr id="23" name="box-254"/>
          <p:cNvSpPr/>
          <p:nvPr/>
        </p:nvSpPr>
        <p:spPr>
          <a:xfrm>
            <a:off x="2651760" y="2331720"/>
            <a:ext cx="1737360" cy="868680"/>
          </a:xfrm>
          <a:prstGeom prst="roundRect">
            <a:avLst>
              <a:gd name="adj" fmla="val 8421"/>
            </a:avLst>
          </a:prstGeom>
          <a:solidFill>
            <a:schemeClr val="bg2"/>
          </a:solidFill>
          <a:ln/>
        </p:spPr>
      </p:sp>
      <p:sp>
        <p:nvSpPr>
          <p:cNvPr id="24" name="boxtext-255"/>
          <p:cNvSpPr txBox="1"/>
          <p:nvPr/>
        </p:nvSpPr>
        <p:spPr>
          <a:xfrm>
            <a:off x="2651760" y="2331720"/>
            <a:ext cx="1737360" cy="868680"/>
          </a:xfrm>
          <a:prstGeom prst="rect">
            <a:avLst/>
          </a:prstGeom>
          <a:noFill/>
          <a:ln/>
        </p:spPr>
        <p:txBody>
          <a:bodyPr wrap="square" lIns="762" tIns="762" rIns="762" bIns="762" rtlCol="0" anchor="ctr"/>
          <a:lstStyle/>
          <a:p>
            <a:pPr algn="ctr" indent="0" marL="0">
              <a:buNone/>
            </a:pPr>
            <a:r>
              <a:rPr lang="en-US" sz="1100" b="1" dirty="0">
                <a:solidFill>
                  <a:schemeClr val="tx2"/>
                </a:solidFill>
              </a:rPr>
              <a:t>Meaning numbers</a:t>
            </a:r>
            <a:endParaRPr lang="en-US" sz="1200" dirty="0"/>
          </a:p>
          <a:p>
            <a:pPr algn="ctr" indent="0" marL="0">
              <a:buNone/>
            </a:pPr>
            <a:r>
              <a:rPr lang="en-US" sz="1000" dirty="0">
                <a:solidFill>
                  <a:schemeClr val="tx2"/>
                </a:solidFill>
                <a:latin typeface="Courier New" pitchFamily="34" charset="0"/>
                <a:ea typeface="Courier New" pitchFamily="34" charset="-122"/>
                <a:cs typeface="Courier New" pitchFamily="34" charset="-120"/>
              </a:rPr>
              <a:t>[0.21, -0.11, 0.08, ...]</a:t>
            </a:r>
            <a:endParaRPr lang="en-US" sz="1200" dirty="0"/>
          </a:p>
        </p:txBody>
      </p:sp>
      <p:sp>
        <p:nvSpPr>
          <p:cNvPr id="25" name="text-256"/>
          <p:cNvSpPr txBox="1"/>
          <p:nvPr/>
        </p:nvSpPr>
        <p:spPr>
          <a:xfrm>
            <a:off x="2651760" y="3246120"/>
            <a:ext cx="1737360" cy="228600"/>
          </a:xfrm>
          <a:prstGeom prst="rect">
            <a:avLst/>
          </a:prstGeom>
          <a:noFill/>
          <a:ln/>
        </p:spPr>
        <p:txBody>
          <a:bodyPr wrap="square" lIns="0" tIns="0" rIns="0" bIns="0" rtlCol="0" anchor="t"/>
          <a:lstStyle/>
          <a:p>
            <a:pPr algn="ctr" indent="0" marL="0">
              <a:buNone/>
            </a:pPr>
            <a:r>
              <a:rPr lang="en-US" sz="1000" dirty="0">
                <a:solidFill>
                  <a:schemeClr val="accent5"/>
                </a:solidFill>
              </a:rPr>
              <a:t>Same meaning = similar numbers</a:t>
            </a:r>
            <a:endParaRPr lang="en-US" sz="1000" dirty="0"/>
          </a:p>
        </p:txBody>
      </p:sp>
      <p:sp>
        <p:nvSpPr>
          <p:cNvPr id="26" name="arrow-257"/>
          <p:cNvSpPr/>
          <p:nvPr/>
        </p:nvSpPr>
        <p:spPr>
          <a:xfrm>
            <a:off x="4407408" y="2761488"/>
            <a:ext cx="329184" cy="0"/>
          </a:xfrm>
          <a:prstGeom prst="line">
            <a:avLst/>
          </a:prstGeom>
          <a:noFill/>
          <a:ln w="25400">
            <a:solidFill>
              <a:schemeClr val="accent1"/>
            </a:solidFill>
            <a:prstDash val="solid"/>
            <a:tailEnd type="triangle"/>
          </a:ln>
        </p:spPr>
      </p:sp>
      <p:sp>
        <p:nvSpPr>
          <p:cNvPr id="27" name="text-258"/>
          <p:cNvSpPr txBox="1"/>
          <p:nvPr/>
        </p:nvSpPr>
        <p:spPr>
          <a:xfrm>
            <a:off x="4754880" y="2240280"/>
            <a:ext cx="3931920" cy="256032"/>
          </a:xfrm>
          <a:prstGeom prst="rect">
            <a:avLst/>
          </a:prstGeom>
          <a:noFill/>
          <a:ln/>
        </p:spPr>
        <p:txBody>
          <a:bodyPr wrap="square" lIns="0" tIns="0" rIns="0" bIns="0" rtlCol="0" anchor="t"/>
          <a:lstStyle/>
          <a:p>
            <a:pPr indent="0" marL="0">
              <a:buNone/>
            </a:pPr>
            <a:r>
              <a:rPr lang="en-US" sz="1100" b="1" dirty="0">
                <a:solidFill>
                  <a:schemeClr val="tx2"/>
                </a:solidFill>
              </a:rPr>
              <a:t>Compare with every law section (example scores):</a:t>
            </a:r>
            <a:endParaRPr lang="en-US" sz="1100" dirty="0"/>
          </a:p>
        </p:txBody>
      </p:sp>
      <p:sp>
        <p:nvSpPr>
          <p:cNvPr id="28" name="text-259"/>
          <p:cNvSpPr txBox="1"/>
          <p:nvPr/>
        </p:nvSpPr>
        <p:spPr>
          <a:xfrm>
            <a:off x="4754880" y="2560320"/>
            <a:ext cx="2011680" cy="310896"/>
          </a:xfrm>
          <a:prstGeom prst="rect">
            <a:avLst/>
          </a:prstGeom>
          <a:noFill/>
          <a:ln/>
        </p:spPr>
        <p:txBody>
          <a:bodyPr wrap="square" lIns="0" tIns="0" rIns="0" bIns="0" rtlCol="0" anchor="ctr"/>
          <a:lstStyle/>
          <a:p>
            <a:pPr indent="0" marL="0">
              <a:buNone/>
            </a:pPr>
            <a:r>
              <a:rPr lang="en-US" sz="1100" b="1" dirty="0">
                <a:solidFill>
                  <a:schemeClr val="tx1"/>
                </a:solidFill>
              </a:rPr>
              <a:t>Rent law: eviction process</a:t>
            </a:r>
            <a:endParaRPr lang="en-US" sz="1100" dirty="0"/>
          </a:p>
        </p:txBody>
      </p:sp>
      <p:sp>
        <p:nvSpPr>
          <p:cNvPr id="29" name="barbg-260"/>
          <p:cNvSpPr/>
          <p:nvPr/>
        </p:nvSpPr>
        <p:spPr>
          <a:xfrm>
            <a:off x="6812280" y="2633472"/>
            <a:ext cx="1371600" cy="182880"/>
          </a:xfrm>
          <a:prstGeom prst="rect">
            <a:avLst/>
          </a:prstGeom>
          <a:solidFill>
            <a:schemeClr val="bg2"/>
          </a:solidFill>
          <a:ln/>
        </p:spPr>
      </p:sp>
      <p:sp>
        <p:nvSpPr>
          <p:cNvPr id="30" name="bar-261"/>
          <p:cNvSpPr/>
          <p:nvPr/>
        </p:nvSpPr>
        <p:spPr>
          <a:xfrm>
            <a:off x="6812280" y="2633472"/>
            <a:ext cx="1261872" cy="182880"/>
          </a:xfrm>
          <a:prstGeom prst="rect">
            <a:avLst/>
          </a:prstGeom>
          <a:solidFill>
            <a:schemeClr val="accent1"/>
          </a:solidFill>
          <a:ln/>
        </p:spPr>
      </p:sp>
      <p:sp>
        <p:nvSpPr>
          <p:cNvPr id="31" name="text-262"/>
          <p:cNvSpPr txBox="1"/>
          <p:nvPr/>
        </p:nvSpPr>
        <p:spPr>
          <a:xfrm>
            <a:off x="8229600" y="2560320"/>
            <a:ext cx="457200" cy="310896"/>
          </a:xfrm>
          <a:prstGeom prst="rect">
            <a:avLst/>
          </a:prstGeom>
          <a:noFill/>
          <a:ln/>
        </p:spPr>
        <p:txBody>
          <a:bodyPr wrap="square" lIns="0" tIns="0" rIns="0" bIns="0" rtlCol="0" anchor="ctr"/>
          <a:lstStyle/>
          <a:p>
            <a:pPr algn="r" indent="0" marL="0">
              <a:buNone/>
            </a:pPr>
            <a:r>
              <a:rPr lang="en-US" sz="1100" b="1" dirty="0">
                <a:solidFill>
                  <a:schemeClr val="accent1"/>
                </a:solidFill>
              </a:rPr>
              <a:t>92%</a:t>
            </a:r>
            <a:endParaRPr lang="en-US" sz="1100" dirty="0"/>
          </a:p>
        </p:txBody>
      </p:sp>
      <p:sp>
        <p:nvSpPr>
          <p:cNvPr id="32" name="text-263"/>
          <p:cNvSpPr txBox="1"/>
          <p:nvPr/>
        </p:nvSpPr>
        <p:spPr>
          <a:xfrm>
            <a:off x="4754880" y="2944368"/>
            <a:ext cx="2011680" cy="310896"/>
          </a:xfrm>
          <a:prstGeom prst="rect">
            <a:avLst/>
          </a:prstGeom>
          <a:noFill/>
          <a:ln/>
        </p:spPr>
        <p:txBody>
          <a:bodyPr wrap="square" lIns="0" tIns="0" rIns="0" bIns="0" rtlCol="0" anchor="ctr"/>
          <a:lstStyle/>
          <a:p>
            <a:pPr indent="0" marL="0">
              <a:buNone/>
            </a:pPr>
            <a:r>
              <a:rPr lang="en-US" sz="1100" b="1" dirty="0">
                <a:solidFill>
                  <a:schemeClr val="tx1"/>
                </a:solidFill>
              </a:rPr>
              <a:t>Rent law: notice to tenant</a:t>
            </a:r>
            <a:endParaRPr lang="en-US" sz="1100" dirty="0"/>
          </a:p>
        </p:txBody>
      </p:sp>
      <p:sp>
        <p:nvSpPr>
          <p:cNvPr id="33" name="barbg-264"/>
          <p:cNvSpPr/>
          <p:nvPr/>
        </p:nvSpPr>
        <p:spPr>
          <a:xfrm>
            <a:off x="6812280" y="3017520"/>
            <a:ext cx="1371600" cy="182880"/>
          </a:xfrm>
          <a:prstGeom prst="rect">
            <a:avLst/>
          </a:prstGeom>
          <a:solidFill>
            <a:schemeClr val="bg2"/>
          </a:solidFill>
          <a:ln/>
        </p:spPr>
      </p:sp>
      <p:sp>
        <p:nvSpPr>
          <p:cNvPr id="34" name="bar-265"/>
          <p:cNvSpPr/>
          <p:nvPr/>
        </p:nvSpPr>
        <p:spPr>
          <a:xfrm>
            <a:off x="6812280" y="3017520"/>
            <a:ext cx="1207008" cy="182880"/>
          </a:xfrm>
          <a:prstGeom prst="rect">
            <a:avLst/>
          </a:prstGeom>
          <a:solidFill>
            <a:schemeClr val="accent1"/>
          </a:solidFill>
          <a:ln/>
        </p:spPr>
      </p:sp>
      <p:sp>
        <p:nvSpPr>
          <p:cNvPr id="35" name="text-266"/>
          <p:cNvSpPr txBox="1"/>
          <p:nvPr/>
        </p:nvSpPr>
        <p:spPr>
          <a:xfrm>
            <a:off x="8229600" y="2944368"/>
            <a:ext cx="457200" cy="310896"/>
          </a:xfrm>
          <a:prstGeom prst="rect">
            <a:avLst/>
          </a:prstGeom>
          <a:noFill/>
          <a:ln/>
        </p:spPr>
        <p:txBody>
          <a:bodyPr wrap="square" lIns="0" tIns="0" rIns="0" bIns="0" rtlCol="0" anchor="ctr"/>
          <a:lstStyle/>
          <a:p>
            <a:pPr algn="r" indent="0" marL="0">
              <a:buNone/>
            </a:pPr>
            <a:r>
              <a:rPr lang="en-US" sz="1100" b="1" dirty="0">
                <a:solidFill>
                  <a:schemeClr val="accent1"/>
                </a:solidFill>
              </a:rPr>
              <a:t>88%</a:t>
            </a:r>
            <a:endParaRPr lang="en-US" sz="1100" dirty="0"/>
          </a:p>
        </p:txBody>
      </p:sp>
      <p:sp>
        <p:nvSpPr>
          <p:cNvPr id="36" name="text-267"/>
          <p:cNvSpPr txBox="1"/>
          <p:nvPr/>
        </p:nvSpPr>
        <p:spPr>
          <a:xfrm>
            <a:off x="4754880" y="3328416"/>
            <a:ext cx="2011680" cy="310896"/>
          </a:xfrm>
          <a:prstGeom prst="rect">
            <a:avLst/>
          </a:prstGeom>
          <a:noFill/>
          <a:ln/>
        </p:spPr>
        <p:txBody>
          <a:bodyPr wrap="square" lIns="0" tIns="0" rIns="0" bIns="0" rtlCol="0" anchor="ctr"/>
          <a:lstStyle/>
          <a:p>
            <a:pPr indent="0" marL="0">
              <a:buNone/>
            </a:pPr>
            <a:r>
              <a:rPr lang="en-US" sz="1100" b="1" dirty="0">
                <a:solidFill>
                  <a:schemeClr val="tx1"/>
                </a:solidFill>
              </a:rPr>
              <a:t>Tenancy agreement rules</a:t>
            </a:r>
            <a:endParaRPr lang="en-US" sz="1100" dirty="0"/>
          </a:p>
        </p:txBody>
      </p:sp>
      <p:sp>
        <p:nvSpPr>
          <p:cNvPr id="37" name="barbg-268"/>
          <p:cNvSpPr/>
          <p:nvPr/>
        </p:nvSpPr>
        <p:spPr>
          <a:xfrm>
            <a:off x="6812280" y="3401568"/>
            <a:ext cx="1371600" cy="182880"/>
          </a:xfrm>
          <a:prstGeom prst="rect">
            <a:avLst/>
          </a:prstGeom>
          <a:solidFill>
            <a:schemeClr val="bg2"/>
          </a:solidFill>
          <a:ln/>
        </p:spPr>
      </p:sp>
      <p:sp>
        <p:nvSpPr>
          <p:cNvPr id="38" name="bar-269"/>
          <p:cNvSpPr/>
          <p:nvPr/>
        </p:nvSpPr>
        <p:spPr>
          <a:xfrm>
            <a:off x="6812280" y="3401568"/>
            <a:ext cx="1110996" cy="182880"/>
          </a:xfrm>
          <a:prstGeom prst="rect">
            <a:avLst/>
          </a:prstGeom>
          <a:solidFill>
            <a:schemeClr val="accent1"/>
          </a:solidFill>
          <a:ln/>
        </p:spPr>
      </p:sp>
      <p:sp>
        <p:nvSpPr>
          <p:cNvPr id="39" name="text-270"/>
          <p:cNvSpPr txBox="1"/>
          <p:nvPr/>
        </p:nvSpPr>
        <p:spPr>
          <a:xfrm>
            <a:off x="8229600" y="3328416"/>
            <a:ext cx="457200" cy="310896"/>
          </a:xfrm>
          <a:prstGeom prst="rect">
            <a:avLst/>
          </a:prstGeom>
          <a:noFill/>
          <a:ln/>
        </p:spPr>
        <p:txBody>
          <a:bodyPr wrap="square" lIns="0" tIns="0" rIns="0" bIns="0" rtlCol="0" anchor="ctr"/>
          <a:lstStyle/>
          <a:p>
            <a:pPr algn="r" indent="0" marL="0">
              <a:buNone/>
            </a:pPr>
            <a:r>
              <a:rPr lang="en-US" sz="1100" b="1" dirty="0">
                <a:solidFill>
                  <a:schemeClr val="accent1"/>
                </a:solidFill>
              </a:rPr>
              <a:t>81%</a:t>
            </a:r>
            <a:endParaRPr lang="en-US" sz="1100" dirty="0"/>
          </a:p>
        </p:txBody>
      </p:sp>
      <p:sp>
        <p:nvSpPr>
          <p:cNvPr id="40" name="text-271"/>
          <p:cNvSpPr txBox="1"/>
          <p:nvPr/>
        </p:nvSpPr>
        <p:spPr>
          <a:xfrm>
            <a:off x="4754880" y="3712464"/>
            <a:ext cx="2011680" cy="310896"/>
          </a:xfrm>
          <a:prstGeom prst="rect">
            <a:avLst/>
          </a:prstGeom>
          <a:noFill/>
          <a:ln/>
        </p:spPr>
        <p:txBody>
          <a:bodyPr wrap="square" lIns="0" tIns="0" rIns="0" bIns="0" rtlCol="0" anchor="ctr"/>
          <a:lstStyle/>
          <a:p>
            <a:pPr indent="0" marL="0">
              <a:buNone/>
            </a:pPr>
            <a:r>
              <a:rPr lang="en-US" sz="1100" dirty="0">
                <a:solidFill>
                  <a:schemeClr val="accent5"/>
                </a:solidFill>
              </a:rPr>
              <a:t>Family law: child custody</a:t>
            </a:r>
            <a:endParaRPr lang="en-US" sz="1100" dirty="0"/>
          </a:p>
        </p:txBody>
      </p:sp>
      <p:sp>
        <p:nvSpPr>
          <p:cNvPr id="41" name="barbg-272"/>
          <p:cNvSpPr/>
          <p:nvPr/>
        </p:nvSpPr>
        <p:spPr>
          <a:xfrm>
            <a:off x="6812280" y="3785616"/>
            <a:ext cx="1371600" cy="182880"/>
          </a:xfrm>
          <a:prstGeom prst="rect">
            <a:avLst/>
          </a:prstGeom>
          <a:solidFill>
            <a:schemeClr val="bg2"/>
          </a:solidFill>
          <a:ln/>
        </p:spPr>
      </p:sp>
      <p:sp>
        <p:nvSpPr>
          <p:cNvPr id="42" name="bar-273"/>
          <p:cNvSpPr/>
          <p:nvPr/>
        </p:nvSpPr>
        <p:spPr>
          <a:xfrm>
            <a:off x="6812280" y="3785616"/>
            <a:ext cx="164592" cy="182880"/>
          </a:xfrm>
          <a:prstGeom prst="rect">
            <a:avLst/>
          </a:prstGeom>
          <a:solidFill>
            <a:schemeClr val="accent5"/>
          </a:solidFill>
          <a:ln/>
        </p:spPr>
      </p:sp>
      <p:sp>
        <p:nvSpPr>
          <p:cNvPr id="43" name="text-274"/>
          <p:cNvSpPr txBox="1"/>
          <p:nvPr/>
        </p:nvSpPr>
        <p:spPr>
          <a:xfrm>
            <a:off x="8229600" y="3712464"/>
            <a:ext cx="457200" cy="310896"/>
          </a:xfrm>
          <a:prstGeom prst="rect">
            <a:avLst/>
          </a:prstGeom>
          <a:noFill/>
          <a:ln/>
        </p:spPr>
        <p:txBody>
          <a:bodyPr wrap="square" lIns="0" tIns="0" rIns="0" bIns="0" rtlCol="0" anchor="ctr"/>
          <a:lstStyle/>
          <a:p>
            <a:pPr algn="r" indent="0" marL="0">
              <a:buNone/>
            </a:pPr>
            <a:r>
              <a:rPr lang="en-US" sz="1100" b="1" dirty="0">
                <a:solidFill>
                  <a:schemeClr val="accent5"/>
                </a:solidFill>
              </a:rPr>
              <a:t>12%</a:t>
            </a:r>
            <a:endParaRPr lang="en-US" sz="1100" dirty="0"/>
          </a:p>
        </p:txBody>
      </p:sp>
      <p:sp>
        <p:nvSpPr>
          <p:cNvPr id="44" name="box-275"/>
          <p:cNvSpPr/>
          <p:nvPr/>
        </p:nvSpPr>
        <p:spPr>
          <a:xfrm>
            <a:off x="457200" y="4160520"/>
            <a:ext cx="8229600" cy="457200"/>
          </a:xfrm>
          <a:prstGeom prst="roundRect">
            <a:avLst>
              <a:gd name="adj" fmla="val 16000"/>
            </a:avLst>
          </a:prstGeom>
          <a:solidFill>
            <a:schemeClr val="tx2"/>
          </a:solidFill>
          <a:ln/>
        </p:spPr>
      </p:sp>
      <p:sp>
        <p:nvSpPr>
          <p:cNvPr id="45" name="boxtext-276"/>
          <p:cNvSpPr txBox="1"/>
          <p:nvPr/>
        </p:nvSpPr>
        <p:spPr>
          <a:xfrm>
            <a:off x="594360" y="4160520"/>
            <a:ext cx="7955280" cy="457200"/>
          </a:xfrm>
          <a:prstGeom prst="rect">
            <a:avLst/>
          </a:prstGeom>
          <a:noFill/>
          <a:ln/>
        </p:spPr>
        <p:txBody>
          <a:bodyPr wrap="square" lIns="0" tIns="0" rIns="0" bIns="0" rtlCol="0" anchor="ctr"/>
          <a:lstStyle/>
          <a:p>
            <a:pPr algn="l" indent="0" marL="0">
              <a:buNone/>
            </a:pPr>
            <a:r>
              <a:rPr lang="en-US" sz="1200" b="1" dirty="0">
                <a:solidFill>
                  <a:schemeClr val="accent2"/>
                </a:solidFill>
              </a:rPr>
              <a:t>Result: </a:t>
            </a:r>
            <a:pPr algn="l" indent="0" marL="0">
              <a:buNone/>
            </a:pPr>
            <a:r>
              <a:rPr lang="en-US" sz="1200" dirty="0">
                <a:solidFill>
                  <a:schemeClr val="bg1"/>
                </a:solidFill>
              </a:rPr>
              <a:t>only the top 3 sections are sent to the AI Writer. The custody section is ignored because it does not match Ali's problem.</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System Architecture: Three Simple Layers</a:t>
            </a:r>
            <a:endParaRPr lang="en-US" sz="2800" dirty="0"/>
          </a:p>
        </p:txBody>
      </p:sp>
      <p:sp>
        <p:nvSpPr>
          <p:cNvPr id="3" name="box-277"/>
          <p:cNvSpPr/>
          <p:nvPr/>
        </p:nvSpPr>
        <p:spPr>
          <a:xfrm>
            <a:off x="457200" y="914400"/>
            <a:ext cx="8229600" cy="868680"/>
          </a:xfrm>
          <a:prstGeom prst="roundRect">
            <a:avLst>
              <a:gd name="adj" fmla="val 6316"/>
            </a:avLst>
          </a:prstGeom>
          <a:solidFill>
            <a:schemeClr val="bg2"/>
          </a:solidFill>
          <a:ln/>
        </p:spPr>
      </p:sp>
      <p:sp>
        <p:nvSpPr>
          <p:cNvPr id="4" name="text-278"/>
          <p:cNvSpPr txBox="1"/>
          <p:nvPr/>
        </p:nvSpPr>
        <p:spPr>
          <a:xfrm>
            <a:off x="594360" y="960120"/>
            <a:ext cx="7315200" cy="228600"/>
          </a:xfrm>
          <a:prstGeom prst="rect">
            <a:avLst/>
          </a:prstGeom>
          <a:noFill/>
          <a:ln/>
        </p:spPr>
        <p:txBody>
          <a:bodyPr wrap="square" lIns="0" tIns="0" rIns="0" bIns="0" rtlCol="0" anchor="t"/>
          <a:lstStyle/>
          <a:p>
            <a:pPr indent="0" marL="0">
              <a:buNone/>
            </a:pPr>
            <a:r>
              <a:rPr lang="en-US" sz="1100" b="1" spc="100" kern="0" dirty="0">
                <a:solidFill>
                  <a:schemeClr val="accent5"/>
                </a:solidFill>
              </a:rPr>
              <a:t>1. WHAT PEOPLE SEE  ·  website made with React / Next.js</a:t>
            </a:r>
            <a:endParaRPr lang="en-US" sz="1100" dirty="0"/>
          </a:p>
        </p:txBody>
      </p:sp>
      <p:sp>
        <p:nvSpPr>
          <p:cNvPr id="5" name="box-279"/>
          <p:cNvSpPr/>
          <p:nvPr/>
        </p:nvSpPr>
        <p:spPr>
          <a:xfrm>
            <a:off x="457200" y="2103120"/>
            <a:ext cx="8229600" cy="1234440"/>
          </a:xfrm>
          <a:prstGeom prst="roundRect">
            <a:avLst>
              <a:gd name="adj" fmla="val 4444"/>
            </a:avLst>
          </a:prstGeom>
          <a:solidFill>
            <a:schemeClr val="bg2"/>
          </a:solidFill>
          <a:ln/>
        </p:spPr>
      </p:sp>
      <p:sp>
        <p:nvSpPr>
          <p:cNvPr id="6" name="text-280"/>
          <p:cNvSpPr txBox="1"/>
          <p:nvPr/>
        </p:nvSpPr>
        <p:spPr>
          <a:xfrm>
            <a:off x="594360" y="2148840"/>
            <a:ext cx="7315200" cy="228600"/>
          </a:xfrm>
          <a:prstGeom prst="rect">
            <a:avLst/>
          </a:prstGeom>
          <a:noFill/>
          <a:ln/>
        </p:spPr>
        <p:txBody>
          <a:bodyPr wrap="square" lIns="0" tIns="0" rIns="0" bIns="0" rtlCol="0" anchor="t"/>
          <a:lstStyle/>
          <a:p>
            <a:pPr indent="0" marL="0">
              <a:buNone/>
            </a:pPr>
            <a:r>
              <a:rPr lang="en-US" sz="1100" b="1" spc="100" kern="0" dirty="0">
                <a:solidFill>
                  <a:schemeClr val="accent5"/>
                </a:solidFill>
              </a:rPr>
              <a:t>2. THE BRAIN  ·  server made with Python FastAPI</a:t>
            </a:r>
            <a:endParaRPr lang="en-US" sz="1100" dirty="0"/>
          </a:p>
        </p:txBody>
      </p:sp>
      <p:sp>
        <p:nvSpPr>
          <p:cNvPr id="7" name="box-281"/>
          <p:cNvSpPr/>
          <p:nvPr/>
        </p:nvSpPr>
        <p:spPr>
          <a:xfrm>
            <a:off x="457200" y="3611880"/>
            <a:ext cx="8229600" cy="1097280"/>
          </a:xfrm>
          <a:prstGeom prst="roundRect">
            <a:avLst>
              <a:gd name="adj" fmla="val 5000"/>
            </a:avLst>
          </a:prstGeom>
          <a:solidFill>
            <a:schemeClr val="bg2"/>
          </a:solidFill>
          <a:ln/>
        </p:spPr>
      </p:sp>
      <p:sp>
        <p:nvSpPr>
          <p:cNvPr id="8" name="text-282"/>
          <p:cNvSpPr txBox="1"/>
          <p:nvPr/>
        </p:nvSpPr>
        <p:spPr>
          <a:xfrm>
            <a:off x="594360" y="3657600"/>
            <a:ext cx="7315200" cy="228600"/>
          </a:xfrm>
          <a:prstGeom prst="rect">
            <a:avLst/>
          </a:prstGeom>
          <a:noFill/>
          <a:ln/>
        </p:spPr>
        <p:txBody>
          <a:bodyPr wrap="square" lIns="0" tIns="0" rIns="0" bIns="0" rtlCol="0" anchor="t"/>
          <a:lstStyle/>
          <a:p>
            <a:pPr indent="0" marL="0">
              <a:buNone/>
            </a:pPr>
            <a:r>
              <a:rPr lang="en-US" sz="1100" b="1" spc="100" kern="0" dirty="0">
                <a:solidFill>
                  <a:schemeClr val="accent5"/>
                </a:solidFill>
              </a:rPr>
              <a:t>3. STORAGE</a:t>
            </a:r>
            <a:endParaRPr lang="en-US" sz="1100" dirty="0"/>
          </a:p>
        </p:txBody>
      </p:sp>
      <p:sp>
        <p:nvSpPr>
          <p:cNvPr id="9" name="box-283"/>
          <p:cNvSpPr/>
          <p:nvPr/>
        </p:nvSpPr>
        <p:spPr>
          <a:xfrm>
            <a:off x="822960" y="1216152"/>
            <a:ext cx="2240280" cy="475488"/>
          </a:xfrm>
          <a:prstGeom prst="roundRect">
            <a:avLst>
              <a:gd name="adj" fmla="val 15385"/>
            </a:avLst>
          </a:prstGeom>
          <a:solidFill>
            <a:schemeClr val="bg1"/>
          </a:solidFill>
          <a:ln w="12700">
            <a:solidFill>
              <a:schemeClr val="accent1"/>
            </a:solidFill>
            <a:prstDash val="solid"/>
          </a:ln>
        </p:spPr>
      </p:sp>
      <p:sp>
        <p:nvSpPr>
          <p:cNvPr id="10" name="boxtext-284"/>
          <p:cNvSpPr txBox="1"/>
          <p:nvPr/>
        </p:nvSpPr>
        <p:spPr>
          <a:xfrm>
            <a:off x="822960" y="1216152"/>
            <a:ext cx="2240280" cy="475488"/>
          </a:xfrm>
          <a:prstGeom prst="rect">
            <a:avLst/>
          </a:prstGeom>
          <a:noFill/>
          <a:ln/>
        </p:spPr>
        <p:txBody>
          <a:bodyPr wrap="square" lIns="762" tIns="762" rIns="762" bIns="762" rtlCol="0" anchor="ctr"/>
          <a:lstStyle/>
          <a:p>
            <a:pPr algn="ctr" indent="0" marL="0">
              <a:buNone/>
            </a:pPr>
            <a:r>
              <a:rPr lang="en-US" sz="1200" b="1" dirty="0">
                <a:solidFill>
                  <a:schemeClr val="tx2"/>
                </a:solidFill>
              </a:rPr>
              <a:t>Citizen Portal</a:t>
            </a:r>
            <a:endParaRPr lang="en-US" sz="1200" dirty="0"/>
          </a:p>
          <a:p>
            <a:pPr algn="ctr" indent="0" marL="0">
              <a:buNone/>
            </a:pPr>
            <a:r>
              <a:rPr lang="en-US" sz="1000" dirty="0">
                <a:solidFill>
                  <a:schemeClr val="tx2"/>
                </a:solidFill>
              </a:rPr>
              <a:t>ask, upload, track</a:t>
            </a:r>
            <a:endParaRPr lang="en-US" sz="1200" dirty="0"/>
          </a:p>
        </p:txBody>
      </p:sp>
      <p:sp>
        <p:nvSpPr>
          <p:cNvPr id="11" name="box-285"/>
          <p:cNvSpPr/>
          <p:nvPr/>
        </p:nvSpPr>
        <p:spPr>
          <a:xfrm>
            <a:off x="3520440" y="1216152"/>
            <a:ext cx="2240280" cy="475488"/>
          </a:xfrm>
          <a:prstGeom prst="roundRect">
            <a:avLst>
              <a:gd name="adj" fmla="val 15385"/>
            </a:avLst>
          </a:prstGeom>
          <a:solidFill>
            <a:schemeClr val="bg1"/>
          </a:solidFill>
          <a:ln w="12700">
            <a:solidFill>
              <a:schemeClr val="accent1"/>
            </a:solidFill>
            <a:prstDash val="solid"/>
          </a:ln>
        </p:spPr>
      </p:sp>
      <p:sp>
        <p:nvSpPr>
          <p:cNvPr id="12" name="boxtext-286"/>
          <p:cNvSpPr txBox="1"/>
          <p:nvPr/>
        </p:nvSpPr>
        <p:spPr>
          <a:xfrm>
            <a:off x="3520440" y="1216152"/>
            <a:ext cx="2240280" cy="475488"/>
          </a:xfrm>
          <a:prstGeom prst="rect">
            <a:avLst/>
          </a:prstGeom>
          <a:noFill/>
          <a:ln/>
        </p:spPr>
        <p:txBody>
          <a:bodyPr wrap="square" lIns="762" tIns="762" rIns="762" bIns="762" rtlCol="0" anchor="ctr"/>
          <a:lstStyle/>
          <a:p>
            <a:pPr algn="ctr" indent="0" marL="0">
              <a:buNone/>
            </a:pPr>
            <a:r>
              <a:rPr lang="en-US" sz="1200" b="1" dirty="0">
                <a:solidFill>
                  <a:schemeClr val="tx2"/>
                </a:solidFill>
              </a:rPr>
              <a:t>Lawyer Portal</a:t>
            </a:r>
            <a:endParaRPr lang="en-US" sz="1200" dirty="0"/>
          </a:p>
          <a:p>
            <a:pPr algn="ctr" indent="0" marL="0">
              <a:buNone/>
            </a:pPr>
            <a:r>
              <a:rPr lang="en-US" sz="1000" dirty="0">
                <a:solidFill>
                  <a:schemeClr val="tx2"/>
                </a:solidFill>
              </a:rPr>
              <a:t>profile, shared cases</a:t>
            </a:r>
            <a:endParaRPr lang="en-US" sz="1200" dirty="0"/>
          </a:p>
        </p:txBody>
      </p:sp>
      <p:sp>
        <p:nvSpPr>
          <p:cNvPr id="13" name="box-287"/>
          <p:cNvSpPr/>
          <p:nvPr/>
        </p:nvSpPr>
        <p:spPr>
          <a:xfrm>
            <a:off x="6217920" y="1216152"/>
            <a:ext cx="2240280" cy="475488"/>
          </a:xfrm>
          <a:prstGeom prst="roundRect">
            <a:avLst>
              <a:gd name="adj" fmla="val 15385"/>
            </a:avLst>
          </a:prstGeom>
          <a:solidFill>
            <a:schemeClr val="bg1"/>
          </a:solidFill>
          <a:ln w="12700">
            <a:solidFill>
              <a:schemeClr val="accent1"/>
            </a:solidFill>
            <a:prstDash val="solid"/>
          </a:ln>
        </p:spPr>
      </p:sp>
      <p:sp>
        <p:nvSpPr>
          <p:cNvPr id="14" name="boxtext-288"/>
          <p:cNvSpPr txBox="1"/>
          <p:nvPr/>
        </p:nvSpPr>
        <p:spPr>
          <a:xfrm>
            <a:off x="6217920" y="1216152"/>
            <a:ext cx="2240280" cy="475488"/>
          </a:xfrm>
          <a:prstGeom prst="rect">
            <a:avLst/>
          </a:prstGeom>
          <a:noFill/>
          <a:ln/>
        </p:spPr>
        <p:txBody>
          <a:bodyPr wrap="square" lIns="762" tIns="762" rIns="762" bIns="762" rtlCol="0" anchor="ctr"/>
          <a:lstStyle/>
          <a:p>
            <a:pPr algn="ctr" indent="0" marL="0">
              <a:buNone/>
            </a:pPr>
            <a:r>
              <a:rPr lang="en-US" sz="1200" b="1" dirty="0">
                <a:solidFill>
                  <a:schemeClr val="tx2"/>
                </a:solidFill>
              </a:rPr>
              <a:t>Admin Portal</a:t>
            </a:r>
            <a:endParaRPr lang="en-US" sz="1200" dirty="0"/>
          </a:p>
          <a:p>
            <a:pPr algn="ctr" indent="0" marL="0">
              <a:buNone/>
            </a:pPr>
            <a:r>
              <a:rPr lang="en-US" sz="1000" dirty="0">
                <a:solidFill>
                  <a:schemeClr val="tx2"/>
                </a:solidFill>
              </a:rPr>
              <a:t>verify lawyers, manage</a:t>
            </a:r>
            <a:endParaRPr lang="en-US" sz="1200" dirty="0"/>
          </a:p>
        </p:txBody>
      </p:sp>
      <p:sp>
        <p:nvSpPr>
          <p:cNvPr id="15" name="arrow-289"/>
          <p:cNvSpPr/>
          <p:nvPr/>
        </p:nvSpPr>
        <p:spPr>
          <a:xfrm>
            <a:off x="4572000" y="1792224"/>
            <a:ext cx="0" cy="301752"/>
          </a:xfrm>
          <a:prstGeom prst="line">
            <a:avLst/>
          </a:prstGeom>
          <a:noFill/>
          <a:ln w="25400">
            <a:solidFill>
              <a:schemeClr val="accent1"/>
            </a:solidFill>
            <a:prstDash val="solid"/>
            <a:headEnd type="triangle"/>
            <a:tailEnd type="triangle"/>
          </a:ln>
        </p:spPr>
      </p:sp>
      <p:sp>
        <p:nvSpPr>
          <p:cNvPr id="16" name="text-290"/>
          <p:cNvSpPr txBox="1"/>
          <p:nvPr/>
        </p:nvSpPr>
        <p:spPr>
          <a:xfrm>
            <a:off x="4709160" y="1828800"/>
            <a:ext cx="2743200" cy="228600"/>
          </a:xfrm>
          <a:prstGeom prst="rect">
            <a:avLst/>
          </a:prstGeom>
          <a:noFill/>
          <a:ln/>
        </p:spPr>
        <p:txBody>
          <a:bodyPr wrap="square" lIns="0" tIns="0" rIns="0" bIns="0" rtlCol="0" anchor="ctr"/>
          <a:lstStyle/>
          <a:p>
            <a:pPr indent="0" marL="0">
              <a:buNone/>
            </a:pPr>
            <a:r>
              <a:rPr lang="en-US" sz="1000" i="1" dirty="0">
                <a:solidFill>
                  <a:schemeClr val="accent5"/>
                </a:solidFill>
              </a:rPr>
              <a:t>secure internet connection (HTTPS)</a:t>
            </a:r>
            <a:endParaRPr lang="en-US" sz="1000" dirty="0"/>
          </a:p>
        </p:txBody>
      </p:sp>
      <p:sp>
        <p:nvSpPr>
          <p:cNvPr id="17" name="box-291"/>
          <p:cNvSpPr/>
          <p:nvPr/>
        </p:nvSpPr>
        <p:spPr>
          <a:xfrm>
            <a:off x="594360" y="2395728"/>
            <a:ext cx="1444752" cy="868680"/>
          </a:xfrm>
          <a:prstGeom prst="roundRect">
            <a:avLst>
              <a:gd name="adj" fmla="val 8421"/>
            </a:avLst>
          </a:prstGeom>
          <a:solidFill>
            <a:schemeClr val="bg1"/>
          </a:solidFill>
          <a:ln w="12700">
            <a:solidFill>
              <a:schemeClr val="accent1"/>
            </a:solidFill>
            <a:prstDash val="solid"/>
          </a:ln>
        </p:spPr>
      </p:sp>
      <p:sp>
        <p:nvSpPr>
          <p:cNvPr id="18" name="boxtext-292"/>
          <p:cNvSpPr txBox="1"/>
          <p:nvPr/>
        </p:nvSpPr>
        <p:spPr>
          <a:xfrm>
            <a:off x="594360" y="2395728"/>
            <a:ext cx="1444752" cy="868680"/>
          </a:xfrm>
          <a:prstGeom prst="rect">
            <a:avLst/>
          </a:prstGeom>
          <a:noFill/>
          <a:ln/>
        </p:spPr>
        <p:txBody>
          <a:bodyPr wrap="square" lIns="762" tIns="762" rIns="762" bIns="762" rtlCol="0" anchor="ctr"/>
          <a:lstStyle/>
          <a:p>
            <a:pPr algn="ctr" indent="0" marL="0">
              <a:buNone/>
            </a:pPr>
            <a:r>
              <a:rPr lang="en-US" sz="1200" b="1" dirty="0">
                <a:solidFill>
                  <a:schemeClr val="tx2"/>
                </a:solidFill>
              </a:rPr>
              <a:t>Login and users</a:t>
            </a:r>
            <a:endParaRPr lang="en-US" sz="1200" dirty="0"/>
          </a:p>
          <a:p>
            <a:pPr algn="ctr" indent="0" marL="0">
              <a:buNone/>
            </a:pPr>
            <a:r>
              <a:rPr lang="en-US" sz="1000" dirty="0">
                <a:solidFill>
                  <a:schemeClr val="tx2"/>
                </a:solidFill>
              </a:rPr>
              <a:t>who is who</a:t>
            </a:r>
            <a:endParaRPr lang="en-US" sz="1200" dirty="0"/>
          </a:p>
        </p:txBody>
      </p:sp>
      <p:sp>
        <p:nvSpPr>
          <p:cNvPr id="19" name="box-293"/>
          <p:cNvSpPr/>
          <p:nvPr/>
        </p:nvSpPr>
        <p:spPr>
          <a:xfrm>
            <a:off x="2221992" y="2395728"/>
            <a:ext cx="1444752" cy="868680"/>
          </a:xfrm>
          <a:prstGeom prst="roundRect">
            <a:avLst>
              <a:gd name="adj" fmla="val 8421"/>
            </a:avLst>
          </a:prstGeom>
          <a:solidFill>
            <a:schemeClr val="bg1"/>
          </a:solidFill>
          <a:ln w="12700">
            <a:solidFill>
              <a:schemeClr val="accent1"/>
            </a:solidFill>
            <a:prstDash val="solid"/>
          </a:ln>
        </p:spPr>
      </p:sp>
      <p:sp>
        <p:nvSpPr>
          <p:cNvPr id="20" name="boxtext-294"/>
          <p:cNvSpPr txBox="1"/>
          <p:nvPr/>
        </p:nvSpPr>
        <p:spPr>
          <a:xfrm>
            <a:off x="2221992" y="2395728"/>
            <a:ext cx="1444752" cy="868680"/>
          </a:xfrm>
          <a:prstGeom prst="rect">
            <a:avLst/>
          </a:prstGeom>
          <a:noFill/>
          <a:ln/>
        </p:spPr>
        <p:txBody>
          <a:bodyPr wrap="square" lIns="762" tIns="762" rIns="762" bIns="762" rtlCol="0" anchor="ctr"/>
          <a:lstStyle/>
          <a:p>
            <a:pPr algn="ctr" indent="0" marL="0">
              <a:buNone/>
            </a:pPr>
            <a:r>
              <a:rPr lang="en-US" sz="1200" b="1" dirty="0">
                <a:solidFill>
                  <a:schemeClr val="tx2"/>
                </a:solidFill>
              </a:rPr>
              <a:t>Case tracking</a:t>
            </a:r>
            <a:endParaRPr lang="en-US" sz="1200" dirty="0"/>
          </a:p>
          <a:p>
            <a:pPr algn="ctr" indent="0" marL="0">
              <a:buNone/>
            </a:pPr>
            <a:r>
              <a:rPr lang="en-US" sz="1000" dirty="0">
                <a:solidFill>
                  <a:schemeClr val="tx2"/>
                </a:solidFill>
              </a:rPr>
              <a:t>status of each case</a:t>
            </a:r>
            <a:endParaRPr lang="en-US" sz="1200" dirty="0"/>
          </a:p>
        </p:txBody>
      </p:sp>
      <p:sp>
        <p:nvSpPr>
          <p:cNvPr id="21" name="box-295"/>
          <p:cNvSpPr/>
          <p:nvPr/>
        </p:nvSpPr>
        <p:spPr>
          <a:xfrm>
            <a:off x="3849624" y="2395728"/>
            <a:ext cx="1444752" cy="868680"/>
          </a:xfrm>
          <a:prstGeom prst="roundRect">
            <a:avLst>
              <a:gd name="adj" fmla="val 8421"/>
            </a:avLst>
          </a:prstGeom>
          <a:solidFill>
            <a:schemeClr val="bg1"/>
          </a:solidFill>
          <a:ln w="12700">
            <a:solidFill>
              <a:schemeClr val="accent1"/>
            </a:solidFill>
            <a:prstDash val="solid"/>
          </a:ln>
        </p:spPr>
      </p:sp>
      <p:sp>
        <p:nvSpPr>
          <p:cNvPr id="22" name="boxtext-296"/>
          <p:cNvSpPr txBox="1"/>
          <p:nvPr/>
        </p:nvSpPr>
        <p:spPr>
          <a:xfrm>
            <a:off x="3849624" y="2395728"/>
            <a:ext cx="1444752" cy="868680"/>
          </a:xfrm>
          <a:prstGeom prst="rect">
            <a:avLst/>
          </a:prstGeom>
          <a:noFill/>
          <a:ln/>
        </p:spPr>
        <p:txBody>
          <a:bodyPr wrap="square" lIns="762" tIns="762" rIns="762" bIns="762" rtlCol="0" anchor="ctr"/>
          <a:lstStyle/>
          <a:p>
            <a:pPr algn="ctr" indent="0" marL="0">
              <a:buNone/>
            </a:pPr>
            <a:r>
              <a:rPr lang="en-US" sz="1200" b="1" dirty="0">
                <a:solidFill>
                  <a:schemeClr val="tx2"/>
                </a:solidFill>
              </a:rPr>
              <a:t>Document reader</a:t>
            </a:r>
            <a:endParaRPr lang="en-US" sz="1200" dirty="0"/>
          </a:p>
          <a:p>
            <a:pPr algn="ctr" indent="0" marL="0">
              <a:buNone/>
            </a:pPr>
            <a:r>
              <a:rPr lang="en-US" sz="1000" dirty="0">
                <a:solidFill>
                  <a:schemeClr val="tx2"/>
                </a:solidFill>
              </a:rPr>
              <a:t>PDF + photo (OCR)</a:t>
            </a:r>
            <a:endParaRPr lang="en-US" sz="1200" dirty="0"/>
          </a:p>
        </p:txBody>
      </p:sp>
      <p:sp>
        <p:nvSpPr>
          <p:cNvPr id="23" name="box-297"/>
          <p:cNvSpPr/>
          <p:nvPr/>
        </p:nvSpPr>
        <p:spPr>
          <a:xfrm>
            <a:off x="5477256" y="2395728"/>
            <a:ext cx="1444752" cy="868680"/>
          </a:xfrm>
          <a:prstGeom prst="roundRect">
            <a:avLst>
              <a:gd name="adj" fmla="val 8421"/>
            </a:avLst>
          </a:prstGeom>
          <a:solidFill>
            <a:schemeClr val="bg1"/>
          </a:solidFill>
          <a:ln w="12700">
            <a:solidFill>
              <a:schemeClr val="accent1"/>
            </a:solidFill>
            <a:prstDash val="solid"/>
          </a:ln>
        </p:spPr>
      </p:sp>
      <p:sp>
        <p:nvSpPr>
          <p:cNvPr id="24" name="boxtext-298"/>
          <p:cNvSpPr txBox="1"/>
          <p:nvPr/>
        </p:nvSpPr>
        <p:spPr>
          <a:xfrm>
            <a:off x="5477256" y="2395728"/>
            <a:ext cx="1444752" cy="868680"/>
          </a:xfrm>
          <a:prstGeom prst="rect">
            <a:avLst/>
          </a:prstGeom>
          <a:noFill/>
          <a:ln/>
        </p:spPr>
        <p:txBody>
          <a:bodyPr wrap="square" lIns="762" tIns="762" rIns="762" bIns="762" rtlCol="0" anchor="ctr"/>
          <a:lstStyle/>
          <a:p>
            <a:pPr algn="ctr" indent="0" marL="0">
              <a:buNone/>
            </a:pPr>
            <a:r>
              <a:rPr lang="en-US" sz="1200" b="1" dirty="0">
                <a:solidFill>
                  <a:schemeClr val="tx2"/>
                </a:solidFill>
              </a:rPr>
              <a:t>Question handler</a:t>
            </a:r>
            <a:endParaRPr lang="en-US" sz="1200" dirty="0"/>
          </a:p>
          <a:p>
            <a:pPr algn="ctr" indent="0" marL="0">
              <a:buNone/>
            </a:pPr>
            <a:r>
              <a:rPr lang="en-US" sz="1000" dirty="0">
                <a:solidFill>
                  <a:schemeClr val="tx2"/>
                </a:solidFill>
              </a:rPr>
              <a:t>asks follow-ups</a:t>
            </a:r>
            <a:endParaRPr lang="en-US" sz="1200" dirty="0"/>
          </a:p>
        </p:txBody>
      </p:sp>
      <p:sp>
        <p:nvSpPr>
          <p:cNvPr id="25" name="box-299"/>
          <p:cNvSpPr/>
          <p:nvPr/>
        </p:nvSpPr>
        <p:spPr>
          <a:xfrm>
            <a:off x="7104888" y="2395728"/>
            <a:ext cx="1444752" cy="868680"/>
          </a:xfrm>
          <a:prstGeom prst="roundRect">
            <a:avLst>
              <a:gd name="adj" fmla="val 8421"/>
            </a:avLst>
          </a:prstGeom>
          <a:solidFill>
            <a:schemeClr val="tx2"/>
          </a:solidFill>
          <a:ln/>
        </p:spPr>
      </p:sp>
      <p:sp>
        <p:nvSpPr>
          <p:cNvPr id="26" name="boxtext-300"/>
          <p:cNvSpPr txBox="1"/>
          <p:nvPr/>
        </p:nvSpPr>
        <p:spPr>
          <a:xfrm>
            <a:off x="7104888" y="2395728"/>
            <a:ext cx="1444752" cy="868680"/>
          </a:xfrm>
          <a:prstGeom prst="rect">
            <a:avLst/>
          </a:prstGeom>
          <a:noFill/>
          <a:ln/>
        </p:spPr>
        <p:txBody>
          <a:bodyPr wrap="square" lIns="762" tIns="762" rIns="762" bIns="762" rtlCol="0" anchor="ctr"/>
          <a:lstStyle/>
          <a:p>
            <a:pPr algn="ctr" indent="0" marL="0">
              <a:buNone/>
            </a:pPr>
            <a:r>
              <a:rPr lang="en-US" sz="1200" b="1" dirty="0">
                <a:solidFill>
                  <a:schemeClr val="bg1"/>
                </a:solidFill>
              </a:rPr>
              <a:t>AI helper (RAG)</a:t>
            </a:r>
            <a:endParaRPr lang="en-US" sz="1200" dirty="0"/>
          </a:p>
          <a:p>
            <a:pPr algn="ctr" indent="0" marL="0">
              <a:buNone/>
            </a:pPr>
            <a:r>
              <a:rPr lang="en-US" sz="1000" dirty="0">
                <a:solidFill>
                  <a:schemeClr val="bg1"/>
                </a:solidFill>
              </a:rPr>
              <a:t>librarian + writer</a:t>
            </a:r>
            <a:endParaRPr lang="en-US" sz="1200" dirty="0"/>
          </a:p>
        </p:txBody>
      </p:sp>
      <p:sp>
        <p:nvSpPr>
          <p:cNvPr id="27" name="arrow-301"/>
          <p:cNvSpPr/>
          <p:nvPr/>
        </p:nvSpPr>
        <p:spPr>
          <a:xfrm>
            <a:off x="6931152" y="2830068"/>
            <a:ext cx="164592" cy="0"/>
          </a:xfrm>
          <a:prstGeom prst="line">
            <a:avLst/>
          </a:prstGeom>
          <a:noFill/>
          <a:ln w="19050">
            <a:solidFill>
              <a:schemeClr val="accent1"/>
            </a:solidFill>
            <a:prstDash val="solid"/>
            <a:tailEnd type="triangle"/>
          </a:ln>
        </p:spPr>
      </p:sp>
      <p:sp>
        <p:nvSpPr>
          <p:cNvPr id="28" name="box-302"/>
          <p:cNvSpPr/>
          <p:nvPr/>
        </p:nvSpPr>
        <p:spPr>
          <a:xfrm>
            <a:off x="594360" y="3904488"/>
            <a:ext cx="3072384" cy="713232"/>
          </a:xfrm>
          <a:prstGeom prst="roundRect">
            <a:avLst>
              <a:gd name="adj" fmla="val 10256"/>
            </a:avLst>
          </a:prstGeom>
          <a:solidFill>
            <a:schemeClr val="bg1"/>
          </a:solidFill>
          <a:ln w="12700">
            <a:solidFill>
              <a:schemeClr val="accent5"/>
            </a:solidFill>
            <a:prstDash val="solid"/>
          </a:ln>
        </p:spPr>
      </p:sp>
      <p:sp>
        <p:nvSpPr>
          <p:cNvPr id="29" name="boxtext-303"/>
          <p:cNvSpPr txBox="1"/>
          <p:nvPr/>
        </p:nvSpPr>
        <p:spPr>
          <a:xfrm>
            <a:off x="594360" y="3904488"/>
            <a:ext cx="3072384" cy="713232"/>
          </a:xfrm>
          <a:prstGeom prst="rect">
            <a:avLst/>
          </a:prstGeom>
          <a:noFill/>
          <a:ln/>
        </p:spPr>
        <p:txBody>
          <a:bodyPr wrap="square" lIns="762" tIns="762" rIns="762" bIns="762" rtlCol="0" anchor="ctr"/>
          <a:lstStyle/>
          <a:p>
            <a:pPr algn="ctr" indent="0" marL="0">
              <a:buNone/>
            </a:pPr>
            <a:r>
              <a:rPr lang="en-US" sz="1300" b="1" dirty="0">
                <a:solidFill>
                  <a:schemeClr val="tx2"/>
                </a:solidFill>
              </a:rPr>
              <a:t>MongoDB</a:t>
            </a:r>
            <a:endParaRPr lang="en-US" sz="1200" dirty="0"/>
          </a:p>
          <a:p>
            <a:pPr algn="ctr" indent="0" marL="0">
              <a:buNone/>
            </a:pPr>
            <a:r>
              <a:rPr lang="en-US" sz="1000" dirty="0">
                <a:solidFill>
                  <a:schemeClr val="tx2"/>
                </a:solidFill>
              </a:rPr>
              <a:t>users, lawyers, cases</a:t>
            </a:r>
            <a:endParaRPr lang="en-US" sz="1200" dirty="0"/>
          </a:p>
        </p:txBody>
      </p:sp>
      <p:sp>
        <p:nvSpPr>
          <p:cNvPr id="30" name="box-304"/>
          <p:cNvSpPr/>
          <p:nvPr/>
        </p:nvSpPr>
        <p:spPr>
          <a:xfrm>
            <a:off x="3849624" y="3904488"/>
            <a:ext cx="1444752" cy="713232"/>
          </a:xfrm>
          <a:prstGeom prst="roundRect">
            <a:avLst>
              <a:gd name="adj" fmla="val 10256"/>
            </a:avLst>
          </a:prstGeom>
          <a:solidFill>
            <a:schemeClr val="bg1"/>
          </a:solidFill>
          <a:ln w="12700">
            <a:solidFill>
              <a:schemeClr val="accent5"/>
            </a:solidFill>
            <a:prstDash val="solid"/>
          </a:ln>
        </p:spPr>
      </p:sp>
      <p:sp>
        <p:nvSpPr>
          <p:cNvPr id="31" name="boxtext-305"/>
          <p:cNvSpPr txBox="1"/>
          <p:nvPr/>
        </p:nvSpPr>
        <p:spPr>
          <a:xfrm>
            <a:off x="3849624" y="3904488"/>
            <a:ext cx="1444752" cy="713232"/>
          </a:xfrm>
          <a:prstGeom prst="rect">
            <a:avLst/>
          </a:prstGeom>
          <a:noFill/>
          <a:ln/>
        </p:spPr>
        <p:txBody>
          <a:bodyPr wrap="square" lIns="762" tIns="762" rIns="762" bIns="762" rtlCol="0" anchor="ctr"/>
          <a:lstStyle/>
          <a:p>
            <a:pPr algn="ctr" indent="0" marL="0">
              <a:buNone/>
            </a:pPr>
            <a:r>
              <a:rPr lang="en-US" sz="1200" b="1" dirty="0">
                <a:solidFill>
                  <a:schemeClr val="tx2"/>
                </a:solidFill>
              </a:rPr>
              <a:t>File storage</a:t>
            </a:r>
            <a:endParaRPr lang="en-US" sz="1200" dirty="0"/>
          </a:p>
          <a:p>
            <a:pPr algn="ctr" indent="0" marL="0">
              <a:buNone/>
            </a:pPr>
            <a:r>
              <a:rPr lang="en-US" sz="1000" dirty="0">
                <a:solidFill>
                  <a:schemeClr val="tx2"/>
                </a:solidFill>
              </a:rPr>
              <a:t>uploaded papers</a:t>
            </a:r>
            <a:endParaRPr lang="en-US" sz="1200" dirty="0"/>
          </a:p>
        </p:txBody>
      </p:sp>
      <p:sp>
        <p:nvSpPr>
          <p:cNvPr id="32" name="box-306"/>
          <p:cNvSpPr/>
          <p:nvPr/>
        </p:nvSpPr>
        <p:spPr>
          <a:xfrm>
            <a:off x="5477256" y="3904488"/>
            <a:ext cx="1444752" cy="713232"/>
          </a:xfrm>
          <a:prstGeom prst="roundRect">
            <a:avLst>
              <a:gd name="adj" fmla="val 10256"/>
            </a:avLst>
          </a:prstGeom>
          <a:solidFill>
            <a:schemeClr val="tx2"/>
          </a:solidFill>
          <a:ln/>
        </p:spPr>
      </p:sp>
      <p:sp>
        <p:nvSpPr>
          <p:cNvPr id="33" name="boxtext-307"/>
          <p:cNvSpPr txBox="1"/>
          <p:nvPr/>
        </p:nvSpPr>
        <p:spPr>
          <a:xfrm>
            <a:off x="5477256" y="3904488"/>
            <a:ext cx="1444752" cy="713232"/>
          </a:xfrm>
          <a:prstGeom prst="rect">
            <a:avLst/>
          </a:prstGeom>
          <a:noFill/>
          <a:ln/>
        </p:spPr>
        <p:txBody>
          <a:bodyPr wrap="square" lIns="762" tIns="762" rIns="762" bIns="762" rtlCol="0" anchor="ctr"/>
          <a:lstStyle/>
          <a:p>
            <a:pPr algn="ctr" indent="0" marL="0">
              <a:buNone/>
            </a:pPr>
            <a:r>
              <a:rPr lang="en-US" sz="1200" b="1" dirty="0">
                <a:solidFill>
                  <a:schemeClr val="bg1"/>
                </a:solidFill>
              </a:rPr>
              <a:t>AI Writer</a:t>
            </a:r>
            <a:endParaRPr lang="en-US" sz="1200" dirty="0"/>
          </a:p>
          <a:p>
            <a:pPr algn="ctr" indent="0" marL="0">
              <a:buNone/>
            </a:pPr>
            <a:r>
              <a:rPr lang="en-US" sz="1000" dirty="0">
                <a:solidFill>
                  <a:schemeClr val="bg1"/>
                </a:solidFill>
              </a:rPr>
              <a:t>open-source LLM</a:t>
            </a:r>
            <a:endParaRPr lang="en-US" sz="1200" dirty="0"/>
          </a:p>
        </p:txBody>
      </p:sp>
      <p:sp>
        <p:nvSpPr>
          <p:cNvPr id="34" name="box-308"/>
          <p:cNvSpPr/>
          <p:nvPr/>
        </p:nvSpPr>
        <p:spPr>
          <a:xfrm>
            <a:off x="7104888" y="3904488"/>
            <a:ext cx="1444752" cy="713232"/>
          </a:xfrm>
          <a:prstGeom prst="roundRect">
            <a:avLst>
              <a:gd name="adj" fmla="val 10256"/>
            </a:avLst>
          </a:prstGeom>
          <a:solidFill>
            <a:schemeClr val="accent2"/>
          </a:solidFill>
          <a:ln/>
        </p:spPr>
      </p:sp>
      <p:sp>
        <p:nvSpPr>
          <p:cNvPr id="35" name="boxtext-309"/>
          <p:cNvSpPr txBox="1"/>
          <p:nvPr/>
        </p:nvSpPr>
        <p:spPr>
          <a:xfrm>
            <a:off x="7104888" y="3904488"/>
            <a:ext cx="1444752" cy="713232"/>
          </a:xfrm>
          <a:prstGeom prst="rect">
            <a:avLst/>
          </a:prstGeom>
          <a:noFill/>
          <a:ln/>
        </p:spPr>
        <p:txBody>
          <a:bodyPr wrap="square" lIns="762" tIns="762" rIns="762" bIns="762" rtlCol="0" anchor="ctr"/>
          <a:lstStyle/>
          <a:p>
            <a:pPr algn="ctr" indent="0" marL="0">
              <a:buNone/>
            </a:pPr>
            <a:r>
              <a:rPr lang="en-US" sz="1200" b="1" dirty="0">
                <a:solidFill>
                  <a:schemeClr val="bg1"/>
                </a:solidFill>
              </a:rPr>
              <a:t>Law Library</a:t>
            </a:r>
            <a:endParaRPr lang="en-US" sz="1200" dirty="0"/>
          </a:p>
          <a:p>
            <a:pPr algn="ctr" indent="0" marL="0">
              <a:buNone/>
            </a:pPr>
            <a:r>
              <a:rPr lang="en-US" sz="1000" dirty="0">
                <a:solidFill>
                  <a:schemeClr val="bg1"/>
                </a:solidFill>
              </a:rPr>
              <a:t>vector DB of law sections</a:t>
            </a:r>
            <a:endParaRPr lang="en-US" sz="1200" dirty="0"/>
          </a:p>
        </p:txBody>
      </p:sp>
      <p:sp>
        <p:nvSpPr>
          <p:cNvPr id="36" name="arrow-310"/>
          <p:cNvSpPr/>
          <p:nvPr/>
        </p:nvSpPr>
        <p:spPr>
          <a:xfrm>
            <a:off x="1965960" y="3273552"/>
            <a:ext cx="0" cy="621792"/>
          </a:xfrm>
          <a:prstGeom prst="line">
            <a:avLst/>
          </a:prstGeom>
          <a:noFill/>
          <a:ln w="19050">
            <a:solidFill>
              <a:schemeClr val="accent5"/>
            </a:solidFill>
            <a:prstDash val="solid"/>
            <a:headEnd type="triangle"/>
            <a:tailEnd type="triangle"/>
          </a:ln>
        </p:spPr>
      </p:sp>
      <p:sp>
        <p:nvSpPr>
          <p:cNvPr id="37" name="arrow-311"/>
          <p:cNvSpPr/>
          <p:nvPr/>
        </p:nvSpPr>
        <p:spPr>
          <a:xfrm>
            <a:off x="2944368" y="3273552"/>
            <a:ext cx="0" cy="621792"/>
          </a:xfrm>
          <a:prstGeom prst="line">
            <a:avLst/>
          </a:prstGeom>
          <a:noFill/>
          <a:ln w="19050">
            <a:solidFill>
              <a:schemeClr val="accent5"/>
            </a:solidFill>
            <a:prstDash val="solid"/>
            <a:headEnd type="triangle"/>
            <a:tailEnd type="triangle"/>
          </a:ln>
        </p:spPr>
      </p:sp>
      <p:sp>
        <p:nvSpPr>
          <p:cNvPr id="38" name="arrow-312"/>
          <p:cNvSpPr/>
          <p:nvPr/>
        </p:nvSpPr>
        <p:spPr>
          <a:xfrm>
            <a:off x="4572000" y="3273552"/>
            <a:ext cx="0" cy="621792"/>
          </a:xfrm>
          <a:prstGeom prst="line">
            <a:avLst/>
          </a:prstGeom>
          <a:noFill/>
          <a:ln w="19050">
            <a:solidFill>
              <a:schemeClr val="accent5"/>
            </a:solidFill>
            <a:prstDash val="solid"/>
            <a:headEnd type="triangle"/>
            <a:tailEnd type="triangle"/>
          </a:ln>
        </p:spPr>
      </p:sp>
      <p:sp>
        <p:nvSpPr>
          <p:cNvPr id="39" name="arrow-313"/>
          <p:cNvSpPr/>
          <p:nvPr/>
        </p:nvSpPr>
        <p:spPr>
          <a:xfrm>
            <a:off x="7827264" y="3273552"/>
            <a:ext cx="0" cy="621792"/>
          </a:xfrm>
          <a:prstGeom prst="line">
            <a:avLst/>
          </a:prstGeom>
          <a:noFill/>
          <a:ln w="19050">
            <a:solidFill>
              <a:schemeClr val="accent5"/>
            </a:solidFill>
            <a:prstDash val="solid"/>
            <a:headEnd type="triangle"/>
            <a:tailEnd type="triangle"/>
          </a:ln>
        </p:spPr>
      </p:sp>
      <p:sp>
        <p:nvSpPr>
          <p:cNvPr id="40" name="arrow-314"/>
          <p:cNvSpPr/>
          <p:nvPr/>
        </p:nvSpPr>
        <p:spPr>
          <a:xfrm flipH="1">
            <a:off x="6199632" y="3273552"/>
            <a:ext cx="1088136" cy="621792"/>
          </a:xfrm>
          <a:prstGeom prst="line">
            <a:avLst/>
          </a:prstGeom>
          <a:noFill/>
          <a:ln w="19050">
            <a:solidFill>
              <a:schemeClr val="tx2"/>
            </a:solidFill>
            <a:prstDash val="solid"/>
            <a:headEnd type="triangle"/>
            <a:tailEnd type="triangle"/>
          </a:ln>
        </p:spPr>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548640"/>
          </a:xfrm>
          <a:prstGeom prst="rect">
            <a:avLst/>
          </a:prstGeom>
          <a:noFill/>
          <a:ln/>
        </p:spPr>
        <p:txBody>
          <a:bodyPr wrap="square" lIns="0" tIns="0" rIns="0" bIns="0" rtlCol="0" anchor="ctr"/>
          <a:lstStyle/>
          <a:p>
            <a:pPr algn="l" indent="0" marL="0">
              <a:buNone/>
            </a:pPr>
            <a:r>
              <a:rPr lang="en-US" sz="2800" b="1" dirty="0">
                <a:solidFill>
                  <a:schemeClr val="tx2"/>
                </a:solidFill>
              </a:rPr>
              <a:t>How We Compare to Existing Apps</a:t>
            </a:r>
            <a:endParaRPr lang="en-US" sz="2800" dirty="0"/>
          </a:p>
        </p:txBody>
      </p:sp>
      <p:graphicFrame>
        <p:nvGraphicFramePr>
          <p:cNvPr id="12" name="comparison-table"/>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651760"/>
                <a:gridCol w="1783080"/>
                <a:gridCol w="1783080"/>
                <a:gridCol w="2011680"/>
              </a:tblGrid>
              <a:tr h="347472">
                <a:tc>
                  <a:txBody>
                    <a:bodyPr/>
                    <a:lstStyle/>
                    <a:p>
                      <a:pPr algn="ctr" indent="0" marL="0">
                        <a:buNone/>
                      </a:pPr>
                      <a:r>
                        <a:rPr lang="en-US" sz="1200" b="1" dirty="0">
                          <a:solidFill>
                            <a:schemeClr val="bg1"/>
                          </a:solidFill>
                        </a:rPr>
                        <a:t>Feature</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MyCounsel</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QanoonAI</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Our System</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tx2"/>
                    </a:solidFill>
                  </a:tcPr>
                </a:tc>
              </a:tr>
              <a:tr h="347472">
                <a:tc>
                  <a:txBody>
                    <a:bodyPr/>
                    <a:lstStyle/>
                    <a:p>
                      <a:pPr indent="0" marL="0">
                        <a:buNone/>
                      </a:pPr>
                      <a:r>
                        <a:rPr lang="en-US" sz="1200" b="1" dirty="0">
                          <a:solidFill>
                            <a:schemeClr val="tx2"/>
                          </a:solidFill>
                        </a:rPr>
                        <a:t>Answers based on real law (RAG)</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Not stated</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5"/>
                          </a:solidFill>
                        </a:rPr>
                        <a:t>Not stated</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accent1"/>
                          </a:solidFill>
                        </a:rPr>
                        <a:t>Yes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accent4"/>
                    </a:solidFill>
                  </a:tcPr>
                </a:tc>
              </a:tr>
              <a:tr h="347472">
                <a:tc>
                  <a:txBody>
                    <a:bodyPr/>
                    <a:lstStyle/>
                    <a:p>
                      <a:pPr indent="0" marL="0">
                        <a:buNone/>
                      </a:pPr>
                      <a:r>
                        <a:rPr lang="en-US" sz="1200" b="1" dirty="0">
                          <a:solidFill>
                            <a:schemeClr val="tx2"/>
                          </a:solidFill>
                        </a:rPr>
                        <a:t>Shows sources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5"/>
                          </a:solidFill>
                        </a:rPr>
                        <a:t>Not stated</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Citation verification</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accent1"/>
                          </a:solidFill>
                        </a:rPr>
                        <a:t>Yes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accent4"/>
                    </a:solidFill>
                  </a:tcPr>
                </a:tc>
              </a:tr>
              <a:tr h="347472">
                <a:tc>
                  <a:txBody>
                    <a:bodyPr/>
                    <a:lstStyle/>
                    <a:p>
                      <a:pPr indent="0" marL="0">
                        <a:buNone/>
                      </a:pPr>
                      <a:r>
                        <a:rPr lang="en-US" sz="1200" b="1" dirty="0">
                          <a:solidFill>
                            <a:schemeClr val="tx2"/>
                          </a:solidFill>
                        </a:rPr>
                        <a:t>Asks follow-up questions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Not stated</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5"/>
                          </a:solidFill>
                        </a:rPr>
                        <a:t>Not stated</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accent1"/>
                          </a:solidFill>
                        </a:rPr>
                        <a:t>Yes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accent4"/>
                    </a:solidFill>
                  </a:tcPr>
                </a:tc>
              </a:tr>
              <a:tr h="347472">
                <a:tc>
                  <a:txBody>
                    <a:bodyPr/>
                    <a:lstStyle/>
                    <a:p>
                      <a:pPr indent="0" marL="0">
                        <a:buNone/>
                      </a:pPr>
                      <a:r>
                        <a:rPr lang="en-US" sz="1200" b="1" dirty="0">
                          <a:solidFill>
                            <a:schemeClr val="tx2"/>
                          </a:solidFill>
                        </a:rPr>
                        <a:t>Reads scanned papers + checklist</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5"/>
                          </a:solidFill>
                        </a:rPr>
                        <a:t>Not stated</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5"/>
                          </a:solidFill>
                        </a:rPr>
                        <a:t>Not stated</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accent1"/>
                          </a:solidFill>
                        </a:rPr>
                        <a:t>Yes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accent4"/>
                    </a:solidFill>
                  </a:tcPr>
                </a:tc>
              </a:tr>
              <a:tr h="347472">
                <a:tc>
                  <a:txBody>
                    <a:bodyPr/>
                    <a:lstStyle/>
                    <a:p>
                      <a:pPr indent="0" marL="0">
                        <a:buNone/>
                      </a:pPr>
                      <a:r>
                        <a:rPr lang="en-US" sz="1200" b="1" dirty="0">
                          <a:solidFill>
                            <a:schemeClr val="tx2"/>
                          </a:solidFill>
                        </a:rPr>
                        <a:t>Verified lawyer directory</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1"/>
                          </a:solidFill>
                        </a:rPr>
                        <a:t>Yes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accent5"/>
                          </a:solidFill>
                        </a:rPr>
                        <a:t>Not stated</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accent1"/>
                          </a:solidFill>
                        </a:rPr>
                        <a:t>Yes + filters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accent4"/>
                    </a:solidFill>
                  </a:tcPr>
                </a:tc>
              </a:tr>
              <a:tr h="347472">
                <a:tc>
                  <a:txBody>
                    <a:bodyPr/>
                    <a:lstStyle/>
                    <a:p>
                      <a:pPr indent="0" marL="0">
                        <a:buNone/>
                      </a:pPr>
                      <a:r>
                        <a:rPr lang="en-US" sz="1200" b="1" dirty="0">
                          <a:solidFill>
                            <a:schemeClr val="tx2"/>
                          </a:solidFill>
                        </a:rPr>
                        <a:t>Case tracking</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rPr>
                        <a:t>Engagement mgmt.</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accent5"/>
                          </a:solidFill>
                        </a:rPr>
                        <a:t>Not stated</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accent1"/>
                          </a:solidFill>
                        </a:rPr>
                        <a:t>Yes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accent4"/>
                    </a:solidFill>
                  </a:tcPr>
                </a:tc>
              </a:tr>
              <a:tr h="347472">
                <a:tc>
                  <a:txBody>
                    <a:bodyPr/>
                    <a:lstStyle/>
                    <a:p>
                      <a:pPr indent="0" marL="0">
                        <a:buNone/>
                      </a:pPr>
                      <a:r>
                        <a:rPr lang="en-US" sz="1200" b="1" dirty="0">
                          <a:solidFill>
                            <a:schemeClr val="tx2"/>
                          </a:solidFill>
                        </a:rPr>
                        <a:t>Focus on Pakistani law</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1"/>
                          </a:solidFill>
                        </a:rPr>
                        <a:t>Yes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1"/>
                          </a:solidFill>
                        </a:rPr>
                        <a:t>Yes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1"/>
                          </a:solidFill>
                        </a:rPr>
                        <a:t>Yes</a:t>
                      </a:r>
                      <a:endParaRPr lang="en-US" sz="1200" dirty="0"/>
                    </a:p>
                  </a:txBody>
                  <a:tcPr marL="91440" marR="91440" marT="45720" marB="45720" anchor="ctr">
                    <a:lnL w="6350" cap="flat" cmpd="sng" algn="ctr">
                      <a:solidFill>
                        <a:srgbClr val="D5E3E0"/>
                      </a:solidFill>
                      <a:prstDash val="solid"/>
                      <a:round/>
                      <a:headEnd type="none" w="med" len="med"/>
                      <a:tailEnd type="none" w="med" len="med"/>
                    </a:lnL>
                    <a:lnR w="6350" cap="flat" cmpd="sng" algn="ctr">
                      <a:solidFill>
                        <a:srgbClr val="D5E3E0"/>
                      </a:solidFill>
                      <a:prstDash val="solid"/>
                      <a:round/>
                      <a:headEnd type="none" w="med" len="med"/>
                      <a:tailEnd type="none" w="med" len="med"/>
                    </a:lnR>
                    <a:lnT w="6350" cap="flat" cmpd="sng" algn="ctr">
                      <a:solidFill>
                        <a:srgbClr val="D5E3E0"/>
                      </a:solidFill>
                      <a:prstDash val="solid"/>
                      <a:round/>
                      <a:headEnd type="none" w="med" len="med"/>
                      <a:tailEnd type="none" w="med" len="med"/>
                    </a:lnT>
                    <a:lnB w="6350" cap="flat" cmpd="sng" algn="ctr">
                      <a:solidFill>
                        <a:srgbClr val="D5E3E0"/>
                      </a:solidFill>
                      <a:prstDash val="solid"/>
                      <a:round/>
                      <a:headEnd type="none" w="med" len="med"/>
                      <a:tailEnd type="none" w="med" len="med"/>
                    </a:lnB>
                    <a:solidFill>
                      <a:schemeClr val="accent4"/>
                    </a:solidFill>
                  </a:tcPr>
                </a:tc>
              </a:tr>
            </a:tbl>
          </a:graphicData>
        </a:graphic>
      </p:graphicFrame>
      <p:sp>
        <p:nvSpPr>
          <p:cNvPr id="4" name="box-315"/>
          <p:cNvSpPr/>
          <p:nvPr/>
        </p:nvSpPr>
        <p:spPr>
          <a:xfrm>
            <a:off x="457200" y="3931920"/>
            <a:ext cx="8229600" cy="685800"/>
          </a:xfrm>
          <a:prstGeom prst="roundRect">
            <a:avLst>
              <a:gd name="adj" fmla="val 10667"/>
            </a:avLst>
          </a:prstGeom>
          <a:solidFill>
            <a:schemeClr val="tx2"/>
          </a:solidFill>
          <a:ln/>
        </p:spPr>
      </p:sp>
      <p:sp>
        <p:nvSpPr>
          <p:cNvPr id="5" name="boxtext-316"/>
          <p:cNvSpPr txBox="1"/>
          <p:nvPr/>
        </p:nvSpPr>
        <p:spPr>
          <a:xfrm>
            <a:off x="640080" y="3931920"/>
            <a:ext cx="7863840" cy="685800"/>
          </a:xfrm>
          <a:prstGeom prst="rect">
            <a:avLst/>
          </a:prstGeom>
          <a:noFill/>
          <a:ln/>
        </p:spPr>
        <p:txBody>
          <a:bodyPr wrap="square" lIns="0" tIns="0" rIns="0" bIns="0" rtlCol="0" anchor="ctr"/>
          <a:lstStyle/>
          <a:p>
            <a:pPr algn="l" indent="0" marL="0">
              <a:buNone/>
            </a:pPr>
            <a:r>
              <a:rPr lang="en-US" sz="1200" b="1" dirty="0">
                <a:solidFill>
                  <a:schemeClr val="accent2"/>
                </a:solidFill>
              </a:rPr>
              <a:t>The gap we fill: </a:t>
            </a:r>
            <a:pPr algn="l" indent="0" marL="0">
              <a:buNone/>
            </a:pPr>
            <a:r>
              <a:rPr lang="en-US" sz="1200" dirty="0">
                <a:solidFill>
                  <a:schemeClr val="bg1"/>
                </a:solidFill>
              </a:rPr>
              <a:t>other apps help lawyers research or help you book a lawyer. None gives an ordinary person one simple path: explain the problem, see the law with proof, prepare papers, find a lawyer, track the case.</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548640"/>
          </a:xfrm>
          <a:prstGeom prst="rect">
            <a:avLst/>
          </a:prstGeom>
          <a:noFill/>
          <a:ln/>
        </p:spPr>
        <p:txBody>
          <a:bodyPr wrap="square" lIns="0" tIns="0" rIns="0" bIns="0" rtlCol="0" anchor="ctr"/>
          <a:lstStyle/>
          <a:p>
            <a:pPr algn="l" indent="0" marL="0">
              <a:buNone/>
            </a:pPr>
            <a:r>
              <a:rPr lang="en-US" sz="2800" b="1" dirty="0">
                <a:solidFill>
                  <a:schemeClr val="tx2"/>
                </a:solidFill>
              </a:rPr>
              <a:t>Example: Reading Ali's Papers</a:t>
            </a:r>
            <a:endParaRPr lang="en-US" sz="2800" dirty="0"/>
          </a:p>
        </p:txBody>
      </p:sp>
      <p:sp>
        <p:nvSpPr>
          <p:cNvPr id="3" name="box-317"/>
          <p:cNvSpPr/>
          <p:nvPr/>
        </p:nvSpPr>
        <p:spPr>
          <a:xfrm>
            <a:off x="457200" y="1097280"/>
            <a:ext cx="1554480" cy="731520"/>
          </a:xfrm>
          <a:prstGeom prst="roundRect">
            <a:avLst>
              <a:gd name="adj" fmla="val 10000"/>
            </a:avLst>
          </a:prstGeom>
          <a:solidFill>
            <a:schemeClr val="accent3"/>
          </a:solidFill>
          <a:ln/>
        </p:spPr>
      </p:sp>
      <p:sp>
        <p:nvSpPr>
          <p:cNvPr id="4" name="boxtext-318"/>
          <p:cNvSpPr txBox="1"/>
          <p:nvPr/>
        </p:nvSpPr>
        <p:spPr>
          <a:xfrm>
            <a:off x="457200" y="1097280"/>
            <a:ext cx="1554480" cy="731520"/>
          </a:xfrm>
          <a:prstGeom prst="rect">
            <a:avLst/>
          </a:prstGeom>
          <a:noFill/>
          <a:ln/>
        </p:spPr>
        <p:txBody>
          <a:bodyPr wrap="square" lIns="762" tIns="762" rIns="762" bIns="762" rtlCol="0" anchor="ctr"/>
          <a:lstStyle/>
          <a:p>
            <a:pPr algn="ctr" indent="0" marL="0">
              <a:buNone/>
            </a:pPr>
            <a:r>
              <a:rPr lang="en-US" sz="1100" b="1" dirty="0">
                <a:solidFill>
                  <a:schemeClr val="tx2"/>
                </a:solidFill>
              </a:rPr>
              <a:t>Ali uploads his rent agreement</a:t>
            </a:r>
            <a:endParaRPr lang="en-US" sz="1100" dirty="0"/>
          </a:p>
        </p:txBody>
      </p:sp>
      <p:sp>
        <p:nvSpPr>
          <p:cNvPr id="5" name="decision"/>
          <p:cNvSpPr/>
          <p:nvPr/>
        </p:nvSpPr>
        <p:spPr>
          <a:xfrm>
            <a:off x="2331720" y="960120"/>
            <a:ext cx="1463040" cy="1005840"/>
          </a:xfrm>
          <a:prstGeom prst="diamond">
            <a:avLst/>
          </a:prstGeom>
          <a:solidFill>
            <a:schemeClr val="accent2"/>
          </a:solidFill>
          <a:ln/>
        </p:spPr>
      </p:sp>
      <p:sp>
        <p:nvSpPr>
          <p:cNvPr id="6" name="text-319"/>
          <p:cNvSpPr txBox="1"/>
          <p:nvPr/>
        </p:nvSpPr>
        <p:spPr>
          <a:xfrm>
            <a:off x="2514600" y="1188720"/>
            <a:ext cx="1097280" cy="548640"/>
          </a:xfrm>
          <a:prstGeom prst="rect">
            <a:avLst/>
          </a:prstGeom>
          <a:noFill/>
          <a:ln/>
        </p:spPr>
        <p:txBody>
          <a:bodyPr wrap="square" lIns="0" tIns="0" rIns="0" bIns="0" rtlCol="0" anchor="ctr"/>
          <a:lstStyle/>
          <a:p>
            <a:pPr algn="ctr" indent="0" marL="0">
              <a:buNone/>
            </a:pPr>
            <a:r>
              <a:rPr lang="en-US" sz="1100" b="1" dirty="0">
                <a:solidFill>
                  <a:schemeClr val="bg1"/>
                </a:solidFill>
              </a:rPr>
              <a:t>Typed PDF or photo?</a:t>
            </a:r>
            <a:endParaRPr lang="en-US" sz="1100" dirty="0"/>
          </a:p>
        </p:txBody>
      </p:sp>
      <p:sp>
        <p:nvSpPr>
          <p:cNvPr id="7" name="arrow-320"/>
          <p:cNvSpPr/>
          <p:nvPr/>
        </p:nvSpPr>
        <p:spPr>
          <a:xfrm>
            <a:off x="2020824" y="1463040"/>
            <a:ext cx="301752" cy="0"/>
          </a:xfrm>
          <a:prstGeom prst="line">
            <a:avLst/>
          </a:prstGeom>
          <a:noFill/>
          <a:ln w="19050">
            <a:solidFill>
              <a:schemeClr val="accent1"/>
            </a:solidFill>
            <a:prstDash val="solid"/>
            <a:tailEnd type="triangle"/>
          </a:ln>
        </p:spPr>
      </p:sp>
      <p:sp>
        <p:nvSpPr>
          <p:cNvPr id="8" name="box-321"/>
          <p:cNvSpPr/>
          <p:nvPr/>
        </p:nvSpPr>
        <p:spPr>
          <a:xfrm>
            <a:off x="4206240" y="914400"/>
            <a:ext cx="1554480" cy="502920"/>
          </a:xfrm>
          <a:prstGeom prst="roundRect">
            <a:avLst>
              <a:gd name="adj" fmla="val 14545"/>
            </a:avLst>
          </a:prstGeom>
          <a:solidFill>
            <a:schemeClr val="bg2"/>
          </a:solidFill>
          <a:ln/>
        </p:spPr>
      </p:sp>
      <p:sp>
        <p:nvSpPr>
          <p:cNvPr id="9" name="boxtext-322"/>
          <p:cNvSpPr txBox="1"/>
          <p:nvPr/>
        </p:nvSpPr>
        <p:spPr>
          <a:xfrm>
            <a:off x="4206240" y="914400"/>
            <a:ext cx="1554480" cy="502920"/>
          </a:xfrm>
          <a:prstGeom prst="rect">
            <a:avLst/>
          </a:prstGeom>
          <a:noFill/>
          <a:ln/>
        </p:spPr>
        <p:txBody>
          <a:bodyPr wrap="square" lIns="762" tIns="762" rIns="762" bIns="762" rtlCol="0" anchor="ctr"/>
          <a:lstStyle/>
          <a:p>
            <a:pPr algn="ctr" indent="0" marL="0">
              <a:buNone/>
            </a:pPr>
            <a:r>
              <a:rPr lang="en-US" sz="1100" b="1" dirty="0">
                <a:solidFill>
                  <a:schemeClr val="tx2"/>
                </a:solidFill>
              </a:rPr>
              <a:t>Read text directly (PyMuPDF)</a:t>
            </a:r>
            <a:endParaRPr lang="en-US" sz="1100" dirty="0"/>
          </a:p>
        </p:txBody>
      </p:sp>
      <p:sp>
        <p:nvSpPr>
          <p:cNvPr id="10" name="box-323"/>
          <p:cNvSpPr/>
          <p:nvPr/>
        </p:nvSpPr>
        <p:spPr>
          <a:xfrm>
            <a:off x="4206240" y="1508760"/>
            <a:ext cx="1554480" cy="502920"/>
          </a:xfrm>
          <a:prstGeom prst="roundRect">
            <a:avLst>
              <a:gd name="adj" fmla="val 14545"/>
            </a:avLst>
          </a:prstGeom>
          <a:solidFill>
            <a:schemeClr val="bg2"/>
          </a:solidFill>
          <a:ln/>
        </p:spPr>
      </p:sp>
      <p:sp>
        <p:nvSpPr>
          <p:cNvPr id="11" name="boxtext-324"/>
          <p:cNvSpPr txBox="1"/>
          <p:nvPr/>
        </p:nvSpPr>
        <p:spPr>
          <a:xfrm>
            <a:off x="4206240" y="1508760"/>
            <a:ext cx="1554480" cy="502920"/>
          </a:xfrm>
          <a:prstGeom prst="rect">
            <a:avLst/>
          </a:prstGeom>
          <a:noFill/>
          <a:ln/>
        </p:spPr>
        <p:txBody>
          <a:bodyPr wrap="square" lIns="762" tIns="762" rIns="762" bIns="762" rtlCol="0" anchor="ctr"/>
          <a:lstStyle/>
          <a:p>
            <a:pPr algn="ctr" indent="0" marL="0">
              <a:buNone/>
            </a:pPr>
            <a:r>
              <a:rPr lang="en-US" sz="1100" b="1" dirty="0">
                <a:solidFill>
                  <a:schemeClr val="tx2"/>
                </a:solidFill>
              </a:rPr>
              <a:t>Read the photo (OCR)</a:t>
            </a:r>
            <a:endParaRPr lang="en-US" sz="1100" dirty="0"/>
          </a:p>
        </p:txBody>
      </p:sp>
      <p:sp>
        <p:nvSpPr>
          <p:cNvPr id="12" name="arrow-325"/>
          <p:cNvSpPr/>
          <p:nvPr/>
        </p:nvSpPr>
        <p:spPr>
          <a:xfrm flipV="1">
            <a:off x="3794760" y="1170432"/>
            <a:ext cx="402336" cy="292608"/>
          </a:xfrm>
          <a:prstGeom prst="line">
            <a:avLst/>
          </a:prstGeom>
          <a:noFill/>
          <a:ln w="19050">
            <a:solidFill>
              <a:schemeClr val="accent1"/>
            </a:solidFill>
            <a:prstDash val="solid"/>
            <a:tailEnd type="triangle"/>
          </a:ln>
        </p:spPr>
      </p:sp>
      <p:sp>
        <p:nvSpPr>
          <p:cNvPr id="13" name="arrow-326"/>
          <p:cNvSpPr/>
          <p:nvPr/>
        </p:nvSpPr>
        <p:spPr>
          <a:xfrm>
            <a:off x="3794760" y="1463040"/>
            <a:ext cx="402336" cy="292608"/>
          </a:xfrm>
          <a:prstGeom prst="line">
            <a:avLst/>
          </a:prstGeom>
          <a:noFill/>
          <a:ln w="19050">
            <a:solidFill>
              <a:schemeClr val="accent1"/>
            </a:solidFill>
            <a:prstDash val="solid"/>
            <a:tailEnd type="triangle"/>
          </a:ln>
        </p:spPr>
      </p:sp>
      <p:sp>
        <p:nvSpPr>
          <p:cNvPr id="14" name="text-327"/>
          <p:cNvSpPr txBox="1"/>
          <p:nvPr/>
        </p:nvSpPr>
        <p:spPr>
          <a:xfrm>
            <a:off x="3749040" y="1024128"/>
            <a:ext cx="411480" cy="182880"/>
          </a:xfrm>
          <a:prstGeom prst="rect">
            <a:avLst/>
          </a:prstGeom>
          <a:noFill/>
          <a:ln/>
        </p:spPr>
        <p:txBody>
          <a:bodyPr wrap="square" lIns="0" tIns="0" rIns="0" bIns="0" rtlCol="0" anchor="t"/>
          <a:lstStyle/>
          <a:p>
            <a:pPr indent="0" marL="0">
              <a:buNone/>
            </a:pPr>
            <a:r>
              <a:rPr lang="en-US" sz="1000" dirty="0">
                <a:solidFill>
                  <a:schemeClr val="accent5"/>
                </a:solidFill>
              </a:rPr>
              <a:t>PDF</a:t>
            </a:r>
            <a:endParaRPr lang="en-US" sz="1000" dirty="0"/>
          </a:p>
        </p:txBody>
      </p:sp>
      <p:sp>
        <p:nvSpPr>
          <p:cNvPr id="15" name="text-328"/>
          <p:cNvSpPr txBox="1"/>
          <p:nvPr/>
        </p:nvSpPr>
        <p:spPr>
          <a:xfrm>
            <a:off x="3703320" y="1755648"/>
            <a:ext cx="457200" cy="182880"/>
          </a:xfrm>
          <a:prstGeom prst="rect">
            <a:avLst/>
          </a:prstGeom>
          <a:noFill/>
          <a:ln/>
        </p:spPr>
        <p:txBody>
          <a:bodyPr wrap="square" lIns="0" tIns="0" rIns="0" bIns="0" rtlCol="0" anchor="t"/>
          <a:lstStyle/>
          <a:p>
            <a:pPr indent="0" marL="0">
              <a:buNone/>
            </a:pPr>
            <a:r>
              <a:rPr lang="en-US" sz="1000" dirty="0">
                <a:solidFill>
                  <a:schemeClr val="accent5"/>
                </a:solidFill>
              </a:rPr>
              <a:t>photo</a:t>
            </a:r>
            <a:endParaRPr lang="en-US" sz="1000" dirty="0"/>
          </a:p>
        </p:txBody>
      </p:sp>
      <p:sp>
        <p:nvSpPr>
          <p:cNvPr id="16" name="box-329"/>
          <p:cNvSpPr/>
          <p:nvPr/>
        </p:nvSpPr>
        <p:spPr>
          <a:xfrm>
            <a:off x="6126480" y="1097280"/>
            <a:ext cx="2560320" cy="731520"/>
          </a:xfrm>
          <a:prstGeom prst="roundRect">
            <a:avLst>
              <a:gd name="adj" fmla="val 10000"/>
            </a:avLst>
          </a:prstGeom>
          <a:solidFill>
            <a:schemeClr val="tx2"/>
          </a:solidFill>
          <a:ln/>
        </p:spPr>
      </p:sp>
      <p:sp>
        <p:nvSpPr>
          <p:cNvPr id="17" name="boxtext-330"/>
          <p:cNvSpPr txBox="1"/>
          <p:nvPr/>
        </p:nvSpPr>
        <p:spPr>
          <a:xfrm>
            <a:off x="6126480" y="1097280"/>
            <a:ext cx="2560320" cy="731520"/>
          </a:xfrm>
          <a:prstGeom prst="rect">
            <a:avLst/>
          </a:prstGeom>
          <a:noFill/>
          <a:ln/>
        </p:spPr>
        <p:txBody>
          <a:bodyPr wrap="square" lIns="762" tIns="762" rIns="762" bIns="762" rtlCol="0" anchor="ctr"/>
          <a:lstStyle/>
          <a:p>
            <a:pPr algn="ctr" indent="0" marL="0">
              <a:buNone/>
            </a:pPr>
            <a:r>
              <a:rPr lang="en-US" sz="1100" b="1" dirty="0">
                <a:solidFill>
                  <a:schemeClr val="bg1"/>
                </a:solidFill>
              </a:rPr>
              <a:t>Pick out key clauses: rent, notice period, end date</a:t>
            </a:r>
            <a:endParaRPr lang="en-US" sz="1100" dirty="0"/>
          </a:p>
        </p:txBody>
      </p:sp>
      <p:sp>
        <p:nvSpPr>
          <p:cNvPr id="18" name="arrow-331"/>
          <p:cNvSpPr/>
          <p:nvPr/>
        </p:nvSpPr>
        <p:spPr>
          <a:xfrm>
            <a:off x="5769864" y="1170432"/>
            <a:ext cx="347472" cy="201168"/>
          </a:xfrm>
          <a:prstGeom prst="line">
            <a:avLst/>
          </a:prstGeom>
          <a:noFill/>
          <a:ln w="19050">
            <a:solidFill>
              <a:schemeClr val="accent1"/>
            </a:solidFill>
            <a:prstDash val="solid"/>
            <a:tailEnd type="triangle"/>
          </a:ln>
        </p:spPr>
      </p:sp>
      <p:sp>
        <p:nvSpPr>
          <p:cNvPr id="19" name="arrow-332"/>
          <p:cNvSpPr/>
          <p:nvPr/>
        </p:nvSpPr>
        <p:spPr>
          <a:xfrm flipV="1">
            <a:off x="5769864" y="1554480"/>
            <a:ext cx="347472" cy="201168"/>
          </a:xfrm>
          <a:prstGeom prst="line">
            <a:avLst/>
          </a:prstGeom>
          <a:noFill/>
          <a:ln w="19050">
            <a:solidFill>
              <a:schemeClr val="accent1"/>
            </a:solidFill>
            <a:prstDash val="solid"/>
            <a:tailEnd type="triangle"/>
          </a:ln>
        </p:spPr>
      </p:sp>
      <p:sp>
        <p:nvSpPr>
          <p:cNvPr id="20" name="text-333"/>
          <p:cNvSpPr txBox="1"/>
          <p:nvPr/>
        </p:nvSpPr>
        <p:spPr>
          <a:xfrm>
            <a:off x="457200" y="2240280"/>
            <a:ext cx="5486400" cy="274320"/>
          </a:xfrm>
          <a:prstGeom prst="rect">
            <a:avLst/>
          </a:prstGeom>
          <a:noFill/>
          <a:ln/>
        </p:spPr>
        <p:txBody>
          <a:bodyPr wrap="square" lIns="0" tIns="0" rIns="0" bIns="0" rtlCol="0" anchor="t"/>
          <a:lstStyle/>
          <a:p>
            <a:pPr indent="0" marL="0">
              <a:buNone/>
            </a:pPr>
            <a:r>
              <a:rPr lang="en-US" sz="1200" b="1" dirty="0">
                <a:solidFill>
                  <a:schemeClr val="tx2"/>
                </a:solidFill>
              </a:rPr>
              <a:t>Then the system makes a checklist of what Ali should keep ready:</a:t>
            </a:r>
            <a:endParaRPr lang="en-US" sz="1200" dirty="0"/>
          </a:p>
        </p:txBody>
      </p:sp>
      <p:sp>
        <p:nvSpPr>
          <p:cNvPr id="21" name="box-334"/>
          <p:cNvSpPr/>
          <p:nvPr/>
        </p:nvSpPr>
        <p:spPr>
          <a:xfrm>
            <a:off x="457200" y="2606040"/>
            <a:ext cx="4572000" cy="2011680"/>
          </a:xfrm>
          <a:prstGeom prst="roundRect">
            <a:avLst>
              <a:gd name="adj" fmla="val 3636"/>
            </a:avLst>
          </a:prstGeom>
          <a:solidFill>
            <a:schemeClr val="bg2"/>
          </a:solidFill>
          <a:ln/>
        </p:spPr>
      </p:sp>
      <p:sp>
        <p:nvSpPr>
          <p:cNvPr id="22" name="text-335"/>
          <p:cNvSpPr txBox="1"/>
          <p:nvPr/>
        </p:nvSpPr>
        <p:spPr>
          <a:xfrm>
            <a:off x="640080" y="2697480"/>
            <a:ext cx="4206240" cy="256032"/>
          </a:xfrm>
          <a:prstGeom prst="rect">
            <a:avLst/>
          </a:prstGeom>
          <a:noFill/>
          <a:ln/>
        </p:spPr>
        <p:txBody>
          <a:bodyPr wrap="square" lIns="0" tIns="0" rIns="0" bIns="0" rtlCol="0" anchor="t"/>
          <a:lstStyle/>
          <a:p>
            <a:pPr indent="0" marL="0">
              <a:buNone/>
            </a:pPr>
            <a:r>
              <a:rPr lang="en-US" sz="1100" b="1" dirty="0">
                <a:solidFill>
                  <a:schemeClr val="accent5"/>
                </a:solidFill>
              </a:rPr>
              <a:t>Ali's evidence checklist (example)</a:t>
            </a:r>
            <a:endParaRPr lang="en-US" sz="1100" dirty="0"/>
          </a:p>
        </p:txBody>
      </p:sp>
      <p:sp>
        <p:nvSpPr>
          <p:cNvPr id="23" name="check-336"/>
          <p:cNvSpPr/>
          <p:nvPr/>
        </p:nvSpPr>
        <p:spPr>
          <a:xfrm>
            <a:off x="685800" y="3054096"/>
            <a:ext cx="182880" cy="182880"/>
          </a:xfrm>
          <a:prstGeom prst="roundRect">
            <a:avLst>
              <a:gd name="adj" fmla="val 15000"/>
            </a:avLst>
          </a:prstGeom>
          <a:solidFill>
            <a:schemeClr val="accent1"/>
          </a:solidFill>
          <a:ln w="12700">
            <a:solidFill>
              <a:schemeClr val="accent1"/>
            </a:solidFill>
            <a:prstDash val="solid"/>
          </a:ln>
        </p:spPr>
      </p:sp>
      <p:sp>
        <p:nvSpPr>
          <p:cNvPr id="24" name="text-337"/>
          <p:cNvSpPr txBox="1"/>
          <p:nvPr/>
        </p:nvSpPr>
        <p:spPr>
          <a:xfrm>
            <a:off x="987552" y="3017520"/>
            <a:ext cx="3931920" cy="256032"/>
          </a:xfrm>
          <a:prstGeom prst="rect">
            <a:avLst/>
          </a:prstGeom>
          <a:noFill/>
          <a:ln/>
        </p:spPr>
        <p:txBody>
          <a:bodyPr wrap="square" lIns="0" tIns="0" rIns="0" bIns="0" rtlCol="0" anchor="ctr"/>
          <a:lstStyle/>
          <a:p>
            <a:pPr indent="0" marL="0">
              <a:buNone/>
            </a:pPr>
            <a:r>
              <a:rPr lang="en-US" sz="1200" dirty="0">
                <a:solidFill>
                  <a:schemeClr val="tx1"/>
                </a:solidFill>
              </a:rPr>
              <a:t>Rent agreement  (uploaded)</a:t>
            </a:r>
            <a:endParaRPr lang="en-US" sz="1200" dirty="0"/>
          </a:p>
        </p:txBody>
      </p:sp>
      <p:sp>
        <p:nvSpPr>
          <p:cNvPr id="25" name="check-338"/>
          <p:cNvSpPr/>
          <p:nvPr/>
        </p:nvSpPr>
        <p:spPr>
          <a:xfrm>
            <a:off x="685800" y="3364992"/>
            <a:ext cx="182880" cy="182880"/>
          </a:xfrm>
          <a:prstGeom prst="roundRect">
            <a:avLst>
              <a:gd name="adj" fmla="val 15000"/>
            </a:avLst>
          </a:prstGeom>
          <a:solidFill>
            <a:schemeClr val="bg1"/>
          </a:solidFill>
          <a:ln w="12700">
            <a:solidFill>
              <a:schemeClr val="accent1"/>
            </a:solidFill>
            <a:prstDash val="solid"/>
          </a:ln>
        </p:spPr>
      </p:sp>
      <p:sp>
        <p:nvSpPr>
          <p:cNvPr id="26" name="text-339"/>
          <p:cNvSpPr txBox="1"/>
          <p:nvPr/>
        </p:nvSpPr>
        <p:spPr>
          <a:xfrm>
            <a:off x="987552" y="3328416"/>
            <a:ext cx="3931920" cy="256032"/>
          </a:xfrm>
          <a:prstGeom prst="rect">
            <a:avLst/>
          </a:prstGeom>
          <a:noFill/>
          <a:ln/>
        </p:spPr>
        <p:txBody>
          <a:bodyPr wrap="square" lIns="0" tIns="0" rIns="0" bIns="0" rtlCol="0" anchor="ctr"/>
          <a:lstStyle/>
          <a:p>
            <a:pPr indent="0" marL="0">
              <a:buNone/>
            </a:pPr>
            <a:r>
              <a:rPr lang="en-US" sz="1200" dirty="0">
                <a:solidFill>
                  <a:schemeClr val="tx1"/>
                </a:solidFill>
              </a:rPr>
              <a:t>Rent payment receipts</a:t>
            </a:r>
            <a:endParaRPr lang="en-US" sz="1200" dirty="0"/>
          </a:p>
        </p:txBody>
      </p:sp>
      <p:sp>
        <p:nvSpPr>
          <p:cNvPr id="27" name="check-340"/>
          <p:cNvSpPr/>
          <p:nvPr/>
        </p:nvSpPr>
        <p:spPr>
          <a:xfrm>
            <a:off x="685800" y="3675888"/>
            <a:ext cx="182880" cy="182880"/>
          </a:xfrm>
          <a:prstGeom prst="roundRect">
            <a:avLst>
              <a:gd name="adj" fmla="val 15000"/>
            </a:avLst>
          </a:prstGeom>
          <a:solidFill>
            <a:schemeClr val="bg1"/>
          </a:solidFill>
          <a:ln w="12700">
            <a:solidFill>
              <a:schemeClr val="accent1"/>
            </a:solidFill>
            <a:prstDash val="solid"/>
          </a:ln>
        </p:spPr>
      </p:sp>
      <p:sp>
        <p:nvSpPr>
          <p:cNvPr id="28" name="text-341"/>
          <p:cNvSpPr txBox="1"/>
          <p:nvPr/>
        </p:nvSpPr>
        <p:spPr>
          <a:xfrm>
            <a:off x="987552" y="3639312"/>
            <a:ext cx="3931920" cy="256032"/>
          </a:xfrm>
          <a:prstGeom prst="rect">
            <a:avLst/>
          </a:prstGeom>
          <a:noFill/>
          <a:ln/>
        </p:spPr>
        <p:txBody>
          <a:bodyPr wrap="square" lIns="0" tIns="0" rIns="0" bIns="0" rtlCol="0" anchor="ctr"/>
          <a:lstStyle/>
          <a:p>
            <a:pPr indent="0" marL="0">
              <a:buNone/>
            </a:pPr>
            <a:r>
              <a:rPr lang="en-US" sz="1200" dirty="0">
                <a:solidFill>
                  <a:schemeClr val="tx1"/>
                </a:solidFill>
              </a:rPr>
              <a:t>Record of the landlord's call</a:t>
            </a:r>
            <a:endParaRPr lang="en-US" sz="1200" dirty="0"/>
          </a:p>
        </p:txBody>
      </p:sp>
      <p:sp>
        <p:nvSpPr>
          <p:cNvPr id="29" name="check-342"/>
          <p:cNvSpPr/>
          <p:nvPr/>
        </p:nvSpPr>
        <p:spPr>
          <a:xfrm>
            <a:off x="685800" y="3986784"/>
            <a:ext cx="182880" cy="182880"/>
          </a:xfrm>
          <a:prstGeom prst="roundRect">
            <a:avLst>
              <a:gd name="adj" fmla="val 15000"/>
            </a:avLst>
          </a:prstGeom>
          <a:solidFill>
            <a:schemeClr val="bg1"/>
          </a:solidFill>
          <a:ln w="12700">
            <a:solidFill>
              <a:schemeClr val="accent1"/>
            </a:solidFill>
            <a:prstDash val="solid"/>
          </a:ln>
        </p:spPr>
      </p:sp>
      <p:sp>
        <p:nvSpPr>
          <p:cNvPr id="30" name="text-343"/>
          <p:cNvSpPr txBox="1"/>
          <p:nvPr/>
        </p:nvSpPr>
        <p:spPr>
          <a:xfrm>
            <a:off x="987552" y="3950208"/>
            <a:ext cx="3931920" cy="256032"/>
          </a:xfrm>
          <a:prstGeom prst="rect">
            <a:avLst/>
          </a:prstGeom>
          <a:noFill/>
          <a:ln/>
        </p:spPr>
        <p:txBody>
          <a:bodyPr wrap="square" lIns="0" tIns="0" rIns="0" bIns="0" rtlCol="0" anchor="ctr"/>
          <a:lstStyle/>
          <a:p>
            <a:pPr indent="0" marL="0">
              <a:buNone/>
            </a:pPr>
            <a:r>
              <a:rPr lang="en-US" sz="1200" dirty="0">
                <a:solidFill>
                  <a:schemeClr val="tx1"/>
                </a:solidFill>
              </a:rPr>
              <a:t>Any written notice (if one comes)</a:t>
            </a:r>
            <a:endParaRPr lang="en-US" sz="1200" dirty="0"/>
          </a:p>
        </p:txBody>
      </p:sp>
      <p:sp>
        <p:nvSpPr>
          <p:cNvPr id="31" name="check-344"/>
          <p:cNvSpPr/>
          <p:nvPr/>
        </p:nvSpPr>
        <p:spPr>
          <a:xfrm>
            <a:off x="685800" y="4297680"/>
            <a:ext cx="182880" cy="182880"/>
          </a:xfrm>
          <a:prstGeom prst="roundRect">
            <a:avLst>
              <a:gd name="adj" fmla="val 15000"/>
            </a:avLst>
          </a:prstGeom>
          <a:solidFill>
            <a:schemeClr val="bg1"/>
          </a:solidFill>
          <a:ln w="12700">
            <a:solidFill>
              <a:schemeClr val="accent1"/>
            </a:solidFill>
            <a:prstDash val="solid"/>
          </a:ln>
        </p:spPr>
      </p:sp>
      <p:sp>
        <p:nvSpPr>
          <p:cNvPr id="32" name="text-345"/>
          <p:cNvSpPr txBox="1"/>
          <p:nvPr/>
        </p:nvSpPr>
        <p:spPr>
          <a:xfrm>
            <a:off x="987552" y="4261104"/>
            <a:ext cx="3931920" cy="256032"/>
          </a:xfrm>
          <a:prstGeom prst="rect">
            <a:avLst/>
          </a:prstGeom>
          <a:noFill/>
          <a:ln/>
        </p:spPr>
        <p:txBody>
          <a:bodyPr wrap="square" lIns="0" tIns="0" rIns="0" bIns="0" rtlCol="0" anchor="ctr"/>
          <a:lstStyle/>
          <a:p>
            <a:pPr indent="0" marL="0">
              <a:buNone/>
            </a:pPr>
            <a:r>
              <a:rPr lang="en-US" sz="1200" dirty="0">
                <a:solidFill>
                  <a:schemeClr val="tx1"/>
                </a:solidFill>
              </a:rPr>
              <a:t>CNIC copy</a:t>
            </a:r>
            <a:endParaRPr lang="en-US" sz="1200" dirty="0"/>
          </a:p>
        </p:txBody>
      </p:sp>
      <p:sp>
        <p:nvSpPr>
          <p:cNvPr id="33" name="box-346"/>
          <p:cNvSpPr/>
          <p:nvPr/>
        </p:nvSpPr>
        <p:spPr>
          <a:xfrm>
            <a:off x="5303520" y="2606040"/>
            <a:ext cx="3383280" cy="2011680"/>
          </a:xfrm>
          <a:prstGeom prst="roundRect">
            <a:avLst>
              <a:gd name="adj" fmla="val 3636"/>
            </a:avLst>
          </a:prstGeom>
          <a:solidFill>
            <a:schemeClr val="tx2"/>
          </a:solidFill>
          <a:ln/>
        </p:spPr>
      </p:sp>
      <p:sp>
        <p:nvSpPr>
          <p:cNvPr id="34" name="text-347"/>
          <p:cNvSpPr txBox="1"/>
          <p:nvPr/>
        </p:nvSpPr>
        <p:spPr>
          <a:xfrm>
            <a:off x="5486400" y="2743200"/>
            <a:ext cx="3063240" cy="1783080"/>
          </a:xfrm>
          <a:prstGeom prst="rect">
            <a:avLst/>
          </a:prstGeom>
          <a:noFill/>
          <a:ln/>
        </p:spPr>
        <p:txBody>
          <a:bodyPr wrap="square" lIns="0" tIns="0" rIns="0" bIns="0" rtlCol="0" anchor="t"/>
          <a:lstStyle/>
          <a:p>
            <a:pPr indent="0" marL="0">
              <a:spcAft>
                <a:spcPts val="600"/>
              </a:spcAft>
              <a:buNone/>
            </a:pPr>
            <a:r>
              <a:rPr lang="en-US" sz="1300" b="1" dirty="0">
                <a:solidFill>
                  <a:schemeClr val="accent2"/>
                </a:solidFill>
              </a:rPr>
              <a:t>Why it helps</a:t>
            </a:r>
            <a:endParaRPr lang="en-US" sz="1300" dirty="0"/>
          </a:p>
          <a:p>
            <a:pPr marL="342900" indent="-342900">
              <a:spcAft>
                <a:spcPts val="600"/>
              </a:spcAft>
              <a:buSzPct val="100000"/>
              <a:buChar char="•"/>
            </a:pPr>
            <a:r>
              <a:rPr lang="en-US" sz="1300" dirty="0">
                <a:solidFill>
                  <a:schemeClr val="bg1"/>
                </a:solidFill>
              </a:rPr>
              <a:t>Ali knows exactly what to bring to a lawyer.</a:t>
            </a:r>
            <a:endParaRPr lang="en-US" sz="1300" dirty="0"/>
          </a:p>
          <a:p>
            <a:pPr marL="342900" indent="-342900">
              <a:spcAft>
                <a:spcPts val="600"/>
              </a:spcAft>
              <a:buSzPct val="100000"/>
              <a:buChar char="•"/>
            </a:pPr>
            <a:r>
              <a:rPr lang="en-US" sz="1300" dirty="0">
                <a:solidFill>
                  <a:schemeClr val="bg1"/>
                </a:solidFill>
              </a:rPr>
              <a:t>The lawyer gets a well-prepared case.</a:t>
            </a:r>
            <a:endParaRPr lang="en-US" sz="1300" dirty="0"/>
          </a:p>
          <a:p>
            <a:pPr marL="342900" indent="-342900">
              <a:spcAft>
                <a:spcPts val="600"/>
              </a:spcAft>
              <a:buSzPct val="100000"/>
              <a:buChar char="•"/>
            </a:pPr>
            <a:r>
              <a:rPr lang="en-US" sz="1300" dirty="0">
                <a:solidFill>
                  <a:schemeClr val="bg1"/>
                </a:solidFill>
              </a:rPr>
              <a:t>Saves time and money for both.</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548640"/>
          </a:xfrm>
          <a:prstGeom prst="rect">
            <a:avLst/>
          </a:prstGeom>
          <a:noFill/>
          <a:ln/>
        </p:spPr>
        <p:txBody>
          <a:bodyPr wrap="square" lIns="0" tIns="0" rIns="0" bIns="0" rtlCol="0" anchor="ctr"/>
          <a:lstStyle/>
          <a:p>
            <a:pPr algn="l" indent="0" marL="0">
              <a:buNone/>
            </a:pPr>
            <a:r>
              <a:rPr lang="en-US" sz="2800" b="1" dirty="0">
                <a:solidFill>
                  <a:schemeClr val="tx2"/>
                </a:solidFill>
              </a:rPr>
              <a:t>Tools We Use (In Plain Words)</a:t>
            </a:r>
            <a:endParaRPr lang="en-US" sz="2800" dirty="0"/>
          </a:p>
        </p:txBody>
      </p:sp>
      <p:sp>
        <p:nvSpPr>
          <p:cNvPr id="3" name="box-348"/>
          <p:cNvSpPr/>
          <p:nvPr/>
        </p:nvSpPr>
        <p:spPr>
          <a:xfrm>
            <a:off x="457200" y="1005840"/>
            <a:ext cx="1499616" cy="1691640"/>
          </a:xfrm>
          <a:prstGeom prst="roundRect">
            <a:avLst>
              <a:gd name="adj" fmla="val 4878"/>
            </a:avLst>
          </a:prstGeom>
          <a:solidFill>
            <a:schemeClr val="bg2"/>
          </a:solidFill>
          <a:ln/>
        </p:spPr>
      </p:sp>
      <p:sp>
        <p:nvSpPr>
          <p:cNvPr id="4" name="iconbg-349"/>
          <p:cNvSpPr/>
          <p:nvPr/>
        </p:nvSpPr>
        <p:spPr>
          <a:xfrm>
            <a:off x="566928" y="1115568"/>
            <a:ext cx="438912" cy="438912"/>
          </a:xfrm>
          <a:prstGeom prst="ellipse">
            <a:avLst/>
          </a:prstGeom>
          <a:solidFill>
            <a:schemeClr val="accent1"/>
          </a:solidFill>
          <a:ln/>
        </p:spPr>
      </p:sp>
      <p:pic>
        <p:nvPicPr>
          <p:cNvPr id="5" name="icon-350" descr="preencoded.png">    </p:cNvPr>
          <p:cNvPicPr>
            <a:picLocks noChangeAspect="1"/>
          </p:cNvPicPr>
          <p:nvPr/>
        </p:nvPicPr>
        <p:blipFill>
          <a:blip r:embed="rId1"/>
          <a:stretch>
            <a:fillRect/>
          </a:stretch>
        </p:blipFill>
        <p:spPr>
          <a:xfrm>
            <a:off x="663489" y="1212129"/>
            <a:ext cx="245791" cy="245791"/>
          </a:xfrm>
          <a:prstGeom prst="rect">
            <a:avLst/>
          </a:prstGeom>
        </p:spPr>
      </p:pic>
      <p:sp>
        <p:nvSpPr>
          <p:cNvPr id="6" name="text-351"/>
          <p:cNvSpPr txBox="1"/>
          <p:nvPr/>
        </p:nvSpPr>
        <p:spPr>
          <a:xfrm>
            <a:off x="566928" y="1609344"/>
            <a:ext cx="1298448" cy="384048"/>
          </a:xfrm>
          <a:prstGeom prst="rect">
            <a:avLst/>
          </a:prstGeom>
          <a:noFill/>
          <a:ln/>
        </p:spPr>
        <p:txBody>
          <a:bodyPr wrap="square" lIns="0" tIns="0" rIns="0" bIns="0" rtlCol="0" anchor="ctr"/>
          <a:lstStyle/>
          <a:p>
            <a:pPr indent="0" marL="0">
              <a:buNone/>
            </a:pPr>
            <a:r>
              <a:rPr lang="en-US" sz="1200" b="1" dirty="0">
                <a:solidFill>
                  <a:schemeClr val="tx2"/>
                </a:solidFill>
              </a:rPr>
              <a:t>Python</a:t>
            </a:r>
            <a:endParaRPr lang="en-US" sz="1200" dirty="0"/>
          </a:p>
        </p:txBody>
      </p:sp>
      <p:sp>
        <p:nvSpPr>
          <p:cNvPr id="7" name="text-352"/>
          <p:cNvSpPr txBox="1"/>
          <p:nvPr/>
        </p:nvSpPr>
        <p:spPr>
          <a:xfrm>
            <a:off x="566928" y="2011680"/>
            <a:ext cx="1298448" cy="640080"/>
          </a:xfrm>
          <a:prstGeom prst="rect">
            <a:avLst/>
          </a:prstGeom>
          <a:noFill/>
          <a:ln/>
        </p:spPr>
        <p:txBody>
          <a:bodyPr wrap="square" lIns="0" tIns="0" rIns="0" bIns="0" rtlCol="0" anchor="t"/>
          <a:lstStyle/>
          <a:p>
            <a:pPr indent="0" marL="0">
              <a:buNone/>
            </a:pPr>
            <a:r>
              <a:rPr lang="en-US" sz="1100" dirty="0">
                <a:solidFill>
                  <a:schemeClr val="tx1"/>
                </a:solidFill>
              </a:rPr>
              <a:t>Main language for the server and AI</a:t>
            </a:r>
            <a:endParaRPr lang="en-US" sz="1100" dirty="0"/>
          </a:p>
        </p:txBody>
      </p:sp>
      <p:sp>
        <p:nvSpPr>
          <p:cNvPr id="8" name="box-353"/>
          <p:cNvSpPr/>
          <p:nvPr/>
        </p:nvSpPr>
        <p:spPr>
          <a:xfrm>
            <a:off x="2139696" y="1005840"/>
            <a:ext cx="1499616" cy="1691640"/>
          </a:xfrm>
          <a:prstGeom prst="roundRect">
            <a:avLst>
              <a:gd name="adj" fmla="val 4878"/>
            </a:avLst>
          </a:prstGeom>
          <a:solidFill>
            <a:schemeClr val="bg2"/>
          </a:solidFill>
          <a:ln/>
        </p:spPr>
      </p:sp>
      <p:sp>
        <p:nvSpPr>
          <p:cNvPr id="9" name="iconbg-354"/>
          <p:cNvSpPr/>
          <p:nvPr/>
        </p:nvSpPr>
        <p:spPr>
          <a:xfrm>
            <a:off x="2249424" y="1115568"/>
            <a:ext cx="438912" cy="438912"/>
          </a:xfrm>
          <a:prstGeom prst="ellipse">
            <a:avLst/>
          </a:prstGeom>
          <a:solidFill>
            <a:schemeClr val="accent1"/>
          </a:solidFill>
          <a:ln/>
        </p:spPr>
      </p:sp>
      <p:pic>
        <p:nvPicPr>
          <p:cNvPr id="10" name="icon-355" descr="preencoded.png">    </p:cNvPr>
          <p:cNvPicPr>
            <a:picLocks noChangeAspect="1"/>
          </p:cNvPicPr>
          <p:nvPr/>
        </p:nvPicPr>
        <p:blipFill>
          <a:blip r:embed="rId2"/>
          <a:stretch>
            <a:fillRect/>
          </a:stretch>
        </p:blipFill>
        <p:spPr>
          <a:xfrm>
            <a:off x="2345985" y="1212129"/>
            <a:ext cx="245791" cy="245791"/>
          </a:xfrm>
          <a:prstGeom prst="rect">
            <a:avLst/>
          </a:prstGeom>
        </p:spPr>
      </p:pic>
      <p:sp>
        <p:nvSpPr>
          <p:cNvPr id="11" name="text-356"/>
          <p:cNvSpPr txBox="1"/>
          <p:nvPr/>
        </p:nvSpPr>
        <p:spPr>
          <a:xfrm>
            <a:off x="2249424" y="1609344"/>
            <a:ext cx="1298448" cy="384048"/>
          </a:xfrm>
          <a:prstGeom prst="rect">
            <a:avLst/>
          </a:prstGeom>
          <a:noFill/>
          <a:ln/>
        </p:spPr>
        <p:txBody>
          <a:bodyPr wrap="square" lIns="0" tIns="0" rIns="0" bIns="0" rtlCol="0" anchor="ctr"/>
          <a:lstStyle/>
          <a:p>
            <a:pPr indent="0" marL="0">
              <a:buNone/>
            </a:pPr>
            <a:r>
              <a:rPr lang="en-US" sz="1200" b="1" dirty="0">
                <a:solidFill>
                  <a:schemeClr val="tx2"/>
                </a:solidFill>
              </a:rPr>
              <a:t>JavaScript / TypeScript</a:t>
            </a:r>
            <a:endParaRPr lang="en-US" sz="1200" dirty="0"/>
          </a:p>
        </p:txBody>
      </p:sp>
      <p:sp>
        <p:nvSpPr>
          <p:cNvPr id="12" name="text-357"/>
          <p:cNvSpPr txBox="1"/>
          <p:nvPr/>
        </p:nvSpPr>
        <p:spPr>
          <a:xfrm>
            <a:off x="2249424" y="2011680"/>
            <a:ext cx="1298448" cy="640080"/>
          </a:xfrm>
          <a:prstGeom prst="rect">
            <a:avLst/>
          </a:prstGeom>
          <a:noFill/>
          <a:ln/>
        </p:spPr>
        <p:txBody>
          <a:bodyPr wrap="square" lIns="0" tIns="0" rIns="0" bIns="0" rtlCol="0" anchor="t"/>
          <a:lstStyle/>
          <a:p>
            <a:pPr indent="0" marL="0">
              <a:buNone/>
            </a:pPr>
            <a:r>
              <a:rPr lang="en-US" sz="1100" dirty="0">
                <a:solidFill>
                  <a:schemeClr val="tx1"/>
                </a:solidFill>
              </a:rPr>
              <a:t>Language for the website</a:t>
            </a:r>
            <a:endParaRPr lang="en-US" sz="1100" dirty="0"/>
          </a:p>
        </p:txBody>
      </p:sp>
      <p:sp>
        <p:nvSpPr>
          <p:cNvPr id="13" name="box-358"/>
          <p:cNvSpPr/>
          <p:nvPr/>
        </p:nvSpPr>
        <p:spPr>
          <a:xfrm>
            <a:off x="3822192" y="1005840"/>
            <a:ext cx="1499616" cy="1691640"/>
          </a:xfrm>
          <a:prstGeom prst="roundRect">
            <a:avLst>
              <a:gd name="adj" fmla="val 4878"/>
            </a:avLst>
          </a:prstGeom>
          <a:solidFill>
            <a:schemeClr val="bg2"/>
          </a:solidFill>
          <a:ln/>
        </p:spPr>
      </p:sp>
      <p:sp>
        <p:nvSpPr>
          <p:cNvPr id="14" name="iconbg-359"/>
          <p:cNvSpPr/>
          <p:nvPr/>
        </p:nvSpPr>
        <p:spPr>
          <a:xfrm>
            <a:off x="3931920" y="1115568"/>
            <a:ext cx="438912" cy="438912"/>
          </a:xfrm>
          <a:prstGeom prst="ellipse">
            <a:avLst/>
          </a:prstGeom>
          <a:solidFill>
            <a:schemeClr val="accent1"/>
          </a:solidFill>
          <a:ln/>
        </p:spPr>
      </p:sp>
      <p:pic>
        <p:nvPicPr>
          <p:cNvPr id="15" name="icon-360" descr="preencoded.png">    </p:cNvPr>
          <p:cNvPicPr>
            <a:picLocks noChangeAspect="1"/>
          </p:cNvPicPr>
          <p:nvPr/>
        </p:nvPicPr>
        <p:blipFill>
          <a:blip r:embed="rId3"/>
          <a:stretch>
            <a:fillRect/>
          </a:stretch>
        </p:blipFill>
        <p:spPr>
          <a:xfrm>
            <a:off x="4028481" y="1212129"/>
            <a:ext cx="245791" cy="245791"/>
          </a:xfrm>
          <a:prstGeom prst="rect">
            <a:avLst/>
          </a:prstGeom>
        </p:spPr>
      </p:pic>
      <p:sp>
        <p:nvSpPr>
          <p:cNvPr id="16" name="text-361"/>
          <p:cNvSpPr txBox="1"/>
          <p:nvPr/>
        </p:nvSpPr>
        <p:spPr>
          <a:xfrm>
            <a:off x="3931920" y="1609344"/>
            <a:ext cx="1298448" cy="384048"/>
          </a:xfrm>
          <a:prstGeom prst="rect">
            <a:avLst/>
          </a:prstGeom>
          <a:noFill/>
          <a:ln/>
        </p:spPr>
        <p:txBody>
          <a:bodyPr wrap="square" lIns="0" tIns="0" rIns="0" bIns="0" rtlCol="0" anchor="ctr"/>
          <a:lstStyle/>
          <a:p>
            <a:pPr indent="0" marL="0">
              <a:buNone/>
            </a:pPr>
            <a:r>
              <a:rPr lang="en-US" sz="1200" b="1" dirty="0">
                <a:solidFill>
                  <a:schemeClr val="tx2"/>
                </a:solidFill>
              </a:rPr>
              <a:t>React / Next.js</a:t>
            </a:r>
            <a:endParaRPr lang="en-US" sz="1200" dirty="0"/>
          </a:p>
        </p:txBody>
      </p:sp>
      <p:sp>
        <p:nvSpPr>
          <p:cNvPr id="17" name="text-362"/>
          <p:cNvSpPr txBox="1"/>
          <p:nvPr/>
        </p:nvSpPr>
        <p:spPr>
          <a:xfrm>
            <a:off x="3931920" y="2011680"/>
            <a:ext cx="1298448" cy="640080"/>
          </a:xfrm>
          <a:prstGeom prst="rect">
            <a:avLst/>
          </a:prstGeom>
          <a:noFill/>
          <a:ln/>
        </p:spPr>
        <p:txBody>
          <a:bodyPr wrap="square" lIns="0" tIns="0" rIns="0" bIns="0" rtlCol="0" anchor="t"/>
          <a:lstStyle/>
          <a:p>
            <a:pPr indent="0" marL="0">
              <a:buNone/>
            </a:pPr>
            <a:r>
              <a:rPr lang="en-US" sz="1100" dirty="0">
                <a:solidFill>
                  <a:schemeClr val="tx1"/>
                </a:solidFill>
              </a:rPr>
              <a:t>Builds the pages people see</a:t>
            </a:r>
            <a:endParaRPr lang="en-US" sz="1100" dirty="0"/>
          </a:p>
        </p:txBody>
      </p:sp>
      <p:sp>
        <p:nvSpPr>
          <p:cNvPr id="18" name="box-363"/>
          <p:cNvSpPr/>
          <p:nvPr/>
        </p:nvSpPr>
        <p:spPr>
          <a:xfrm>
            <a:off x="5504688" y="1005840"/>
            <a:ext cx="1499616" cy="1691640"/>
          </a:xfrm>
          <a:prstGeom prst="roundRect">
            <a:avLst>
              <a:gd name="adj" fmla="val 4878"/>
            </a:avLst>
          </a:prstGeom>
          <a:solidFill>
            <a:schemeClr val="bg2"/>
          </a:solidFill>
          <a:ln/>
        </p:spPr>
      </p:sp>
      <p:sp>
        <p:nvSpPr>
          <p:cNvPr id="19" name="iconbg-364"/>
          <p:cNvSpPr/>
          <p:nvPr/>
        </p:nvSpPr>
        <p:spPr>
          <a:xfrm>
            <a:off x="5614416" y="1115568"/>
            <a:ext cx="438912" cy="438912"/>
          </a:xfrm>
          <a:prstGeom prst="ellipse">
            <a:avLst/>
          </a:prstGeom>
          <a:solidFill>
            <a:schemeClr val="accent1"/>
          </a:solidFill>
          <a:ln/>
        </p:spPr>
      </p:sp>
      <p:pic>
        <p:nvPicPr>
          <p:cNvPr id="20" name="icon-365" descr="preencoded.png">    </p:cNvPr>
          <p:cNvPicPr>
            <a:picLocks noChangeAspect="1"/>
          </p:cNvPicPr>
          <p:nvPr/>
        </p:nvPicPr>
        <p:blipFill>
          <a:blip r:embed="rId4"/>
          <a:stretch>
            <a:fillRect/>
          </a:stretch>
        </p:blipFill>
        <p:spPr>
          <a:xfrm>
            <a:off x="5710977" y="1212129"/>
            <a:ext cx="245791" cy="245791"/>
          </a:xfrm>
          <a:prstGeom prst="rect">
            <a:avLst/>
          </a:prstGeom>
        </p:spPr>
      </p:pic>
      <p:sp>
        <p:nvSpPr>
          <p:cNvPr id="21" name="text-366"/>
          <p:cNvSpPr txBox="1"/>
          <p:nvPr/>
        </p:nvSpPr>
        <p:spPr>
          <a:xfrm>
            <a:off x="5614416" y="1609344"/>
            <a:ext cx="1298448" cy="384048"/>
          </a:xfrm>
          <a:prstGeom prst="rect">
            <a:avLst/>
          </a:prstGeom>
          <a:noFill/>
          <a:ln/>
        </p:spPr>
        <p:txBody>
          <a:bodyPr wrap="square" lIns="0" tIns="0" rIns="0" bIns="0" rtlCol="0" anchor="ctr"/>
          <a:lstStyle/>
          <a:p>
            <a:pPr indent="0" marL="0">
              <a:buNone/>
            </a:pPr>
            <a:r>
              <a:rPr lang="en-US" sz="1200" b="1" dirty="0">
                <a:solidFill>
                  <a:schemeClr val="tx2"/>
                </a:solidFill>
              </a:rPr>
              <a:t>FastAPI</a:t>
            </a:r>
            <a:endParaRPr lang="en-US" sz="1200" dirty="0"/>
          </a:p>
        </p:txBody>
      </p:sp>
      <p:sp>
        <p:nvSpPr>
          <p:cNvPr id="22" name="text-367"/>
          <p:cNvSpPr txBox="1"/>
          <p:nvPr/>
        </p:nvSpPr>
        <p:spPr>
          <a:xfrm>
            <a:off x="5614416" y="2011680"/>
            <a:ext cx="1298448" cy="640080"/>
          </a:xfrm>
          <a:prstGeom prst="rect">
            <a:avLst/>
          </a:prstGeom>
          <a:noFill/>
          <a:ln/>
        </p:spPr>
        <p:txBody>
          <a:bodyPr wrap="square" lIns="0" tIns="0" rIns="0" bIns="0" rtlCol="0" anchor="t"/>
          <a:lstStyle/>
          <a:p>
            <a:pPr indent="0" marL="0">
              <a:buNone/>
            </a:pPr>
            <a:r>
              <a:rPr lang="en-US" sz="1100" dirty="0">
                <a:solidFill>
                  <a:schemeClr val="tx1"/>
                </a:solidFill>
              </a:rPr>
              <a:t>Connects the website to the server</a:t>
            </a:r>
            <a:endParaRPr lang="en-US" sz="1100" dirty="0"/>
          </a:p>
        </p:txBody>
      </p:sp>
      <p:sp>
        <p:nvSpPr>
          <p:cNvPr id="23" name="box-368"/>
          <p:cNvSpPr/>
          <p:nvPr/>
        </p:nvSpPr>
        <p:spPr>
          <a:xfrm>
            <a:off x="7187184" y="1005840"/>
            <a:ext cx="1499616" cy="1691640"/>
          </a:xfrm>
          <a:prstGeom prst="roundRect">
            <a:avLst>
              <a:gd name="adj" fmla="val 4878"/>
            </a:avLst>
          </a:prstGeom>
          <a:solidFill>
            <a:schemeClr val="bg2"/>
          </a:solidFill>
          <a:ln/>
        </p:spPr>
      </p:sp>
      <p:sp>
        <p:nvSpPr>
          <p:cNvPr id="24" name="iconbg-369"/>
          <p:cNvSpPr/>
          <p:nvPr/>
        </p:nvSpPr>
        <p:spPr>
          <a:xfrm>
            <a:off x="7296912" y="1115568"/>
            <a:ext cx="438912" cy="438912"/>
          </a:xfrm>
          <a:prstGeom prst="ellipse">
            <a:avLst/>
          </a:prstGeom>
          <a:solidFill>
            <a:schemeClr val="accent1"/>
          </a:solidFill>
          <a:ln/>
        </p:spPr>
      </p:sp>
      <p:pic>
        <p:nvPicPr>
          <p:cNvPr id="25" name="icon-370" descr="preencoded.png">    </p:cNvPr>
          <p:cNvPicPr>
            <a:picLocks noChangeAspect="1"/>
          </p:cNvPicPr>
          <p:nvPr/>
        </p:nvPicPr>
        <p:blipFill>
          <a:blip r:embed="rId5"/>
          <a:stretch>
            <a:fillRect/>
          </a:stretch>
        </p:blipFill>
        <p:spPr>
          <a:xfrm>
            <a:off x="7393473" y="1212129"/>
            <a:ext cx="245791" cy="245791"/>
          </a:xfrm>
          <a:prstGeom prst="rect">
            <a:avLst/>
          </a:prstGeom>
        </p:spPr>
      </p:pic>
      <p:sp>
        <p:nvSpPr>
          <p:cNvPr id="26" name="text-371"/>
          <p:cNvSpPr txBox="1"/>
          <p:nvPr/>
        </p:nvSpPr>
        <p:spPr>
          <a:xfrm>
            <a:off x="7296912" y="1609344"/>
            <a:ext cx="1298448" cy="384048"/>
          </a:xfrm>
          <a:prstGeom prst="rect">
            <a:avLst/>
          </a:prstGeom>
          <a:noFill/>
          <a:ln/>
        </p:spPr>
        <p:txBody>
          <a:bodyPr wrap="square" lIns="0" tIns="0" rIns="0" bIns="0" rtlCol="0" anchor="ctr"/>
          <a:lstStyle/>
          <a:p>
            <a:pPr indent="0" marL="0">
              <a:buNone/>
            </a:pPr>
            <a:r>
              <a:rPr lang="en-US" sz="1200" b="1" dirty="0">
                <a:solidFill>
                  <a:schemeClr val="tx2"/>
                </a:solidFill>
              </a:rPr>
              <a:t>MongoDB</a:t>
            </a:r>
            <a:endParaRPr lang="en-US" sz="1200" dirty="0"/>
          </a:p>
        </p:txBody>
      </p:sp>
      <p:sp>
        <p:nvSpPr>
          <p:cNvPr id="27" name="text-372"/>
          <p:cNvSpPr txBox="1"/>
          <p:nvPr/>
        </p:nvSpPr>
        <p:spPr>
          <a:xfrm>
            <a:off x="7296912" y="2011680"/>
            <a:ext cx="1298448" cy="640080"/>
          </a:xfrm>
          <a:prstGeom prst="rect">
            <a:avLst/>
          </a:prstGeom>
          <a:noFill/>
          <a:ln/>
        </p:spPr>
        <p:txBody>
          <a:bodyPr wrap="square" lIns="0" tIns="0" rIns="0" bIns="0" rtlCol="0" anchor="t"/>
          <a:lstStyle/>
          <a:p>
            <a:pPr indent="0" marL="0">
              <a:buNone/>
            </a:pPr>
            <a:r>
              <a:rPr lang="en-US" sz="1100" dirty="0">
                <a:solidFill>
                  <a:schemeClr val="tx1"/>
                </a:solidFill>
              </a:rPr>
              <a:t>Stores users, lawyers and cases</a:t>
            </a:r>
            <a:endParaRPr lang="en-US" sz="1100" dirty="0"/>
          </a:p>
        </p:txBody>
      </p:sp>
      <p:sp>
        <p:nvSpPr>
          <p:cNvPr id="28" name="box-373"/>
          <p:cNvSpPr/>
          <p:nvPr/>
        </p:nvSpPr>
        <p:spPr>
          <a:xfrm>
            <a:off x="457200" y="2834640"/>
            <a:ext cx="1499616" cy="1691640"/>
          </a:xfrm>
          <a:prstGeom prst="roundRect">
            <a:avLst>
              <a:gd name="adj" fmla="val 4878"/>
            </a:avLst>
          </a:prstGeom>
          <a:solidFill>
            <a:schemeClr val="tx2"/>
          </a:solidFill>
          <a:ln/>
        </p:spPr>
      </p:sp>
      <p:sp>
        <p:nvSpPr>
          <p:cNvPr id="29" name="iconbg-374"/>
          <p:cNvSpPr/>
          <p:nvPr/>
        </p:nvSpPr>
        <p:spPr>
          <a:xfrm>
            <a:off x="566928" y="2944368"/>
            <a:ext cx="438912" cy="438912"/>
          </a:xfrm>
          <a:prstGeom prst="ellipse">
            <a:avLst/>
          </a:prstGeom>
          <a:solidFill>
            <a:schemeClr val="accent2"/>
          </a:solidFill>
          <a:ln/>
        </p:spPr>
      </p:sp>
      <p:pic>
        <p:nvPicPr>
          <p:cNvPr id="30" name="icon-375" descr="preencoded.png">    </p:cNvPr>
          <p:cNvPicPr>
            <a:picLocks noChangeAspect="1"/>
          </p:cNvPicPr>
          <p:nvPr/>
        </p:nvPicPr>
        <p:blipFill>
          <a:blip r:embed="rId6"/>
          <a:stretch>
            <a:fillRect/>
          </a:stretch>
        </p:blipFill>
        <p:spPr>
          <a:xfrm>
            <a:off x="663489" y="3040929"/>
            <a:ext cx="245791" cy="245791"/>
          </a:xfrm>
          <a:prstGeom prst="rect">
            <a:avLst/>
          </a:prstGeom>
        </p:spPr>
      </p:pic>
      <p:sp>
        <p:nvSpPr>
          <p:cNvPr id="31" name="text-376"/>
          <p:cNvSpPr txBox="1"/>
          <p:nvPr/>
        </p:nvSpPr>
        <p:spPr>
          <a:xfrm>
            <a:off x="566928" y="3438144"/>
            <a:ext cx="1298448" cy="384048"/>
          </a:xfrm>
          <a:prstGeom prst="rect">
            <a:avLst/>
          </a:prstGeom>
          <a:noFill/>
          <a:ln/>
        </p:spPr>
        <p:txBody>
          <a:bodyPr wrap="square" lIns="0" tIns="0" rIns="0" bIns="0" rtlCol="0" anchor="ctr"/>
          <a:lstStyle/>
          <a:p>
            <a:pPr indent="0" marL="0">
              <a:buNone/>
            </a:pPr>
            <a:r>
              <a:rPr lang="en-US" sz="1200" b="1" dirty="0">
                <a:solidFill>
                  <a:schemeClr val="bg1"/>
                </a:solidFill>
              </a:rPr>
              <a:t>FAISS / Chroma / Qdrant</a:t>
            </a:r>
            <a:endParaRPr lang="en-US" sz="1200" dirty="0"/>
          </a:p>
        </p:txBody>
      </p:sp>
      <p:sp>
        <p:nvSpPr>
          <p:cNvPr id="32" name="text-377"/>
          <p:cNvSpPr txBox="1"/>
          <p:nvPr/>
        </p:nvSpPr>
        <p:spPr>
          <a:xfrm>
            <a:off x="566928" y="3840480"/>
            <a:ext cx="1298448" cy="640080"/>
          </a:xfrm>
          <a:prstGeom prst="rect">
            <a:avLst/>
          </a:prstGeom>
          <a:noFill/>
          <a:ln/>
        </p:spPr>
        <p:txBody>
          <a:bodyPr wrap="square" lIns="0" tIns="0" rIns="0" bIns="0" rtlCol="0" anchor="t"/>
          <a:lstStyle/>
          <a:p>
            <a:pPr indent="0" marL="0">
              <a:buNone/>
            </a:pPr>
            <a:r>
              <a:rPr lang="en-US" sz="1100" dirty="0">
                <a:solidFill>
                  <a:schemeClr val="bg1"/>
                </a:solidFill>
              </a:rPr>
              <a:t>The law library (vector DB); final pick after testing</a:t>
            </a:r>
            <a:endParaRPr lang="en-US" sz="1100" dirty="0"/>
          </a:p>
        </p:txBody>
      </p:sp>
      <p:sp>
        <p:nvSpPr>
          <p:cNvPr id="33" name="box-378"/>
          <p:cNvSpPr/>
          <p:nvPr/>
        </p:nvSpPr>
        <p:spPr>
          <a:xfrm>
            <a:off x="2139696" y="2834640"/>
            <a:ext cx="1499616" cy="1691640"/>
          </a:xfrm>
          <a:prstGeom prst="roundRect">
            <a:avLst>
              <a:gd name="adj" fmla="val 4878"/>
            </a:avLst>
          </a:prstGeom>
          <a:solidFill>
            <a:schemeClr val="tx2"/>
          </a:solidFill>
          <a:ln/>
        </p:spPr>
      </p:sp>
      <p:sp>
        <p:nvSpPr>
          <p:cNvPr id="34" name="iconbg-379"/>
          <p:cNvSpPr/>
          <p:nvPr/>
        </p:nvSpPr>
        <p:spPr>
          <a:xfrm>
            <a:off x="2249424" y="2944368"/>
            <a:ext cx="438912" cy="438912"/>
          </a:xfrm>
          <a:prstGeom prst="ellipse">
            <a:avLst/>
          </a:prstGeom>
          <a:solidFill>
            <a:schemeClr val="accent2"/>
          </a:solidFill>
          <a:ln/>
        </p:spPr>
      </p:sp>
      <p:pic>
        <p:nvPicPr>
          <p:cNvPr id="35" name="icon-380" descr="preencoded.png">    </p:cNvPr>
          <p:cNvPicPr>
            <a:picLocks noChangeAspect="1"/>
          </p:cNvPicPr>
          <p:nvPr/>
        </p:nvPicPr>
        <p:blipFill>
          <a:blip r:embed="rId7"/>
          <a:stretch>
            <a:fillRect/>
          </a:stretch>
        </p:blipFill>
        <p:spPr>
          <a:xfrm>
            <a:off x="2345985" y="3040929"/>
            <a:ext cx="245791" cy="245791"/>
          </a:xfrm>
          <a:prstGeom prst="rect">
            <a:avLst/>
          </a:prstGeom>
        </p:spPr>
      </p:pic>
      <p:sp>
        <p:nvSpPr>
          <p:cNvPr id="36" name="text-381"/>
          <p:cNvSpPr txBox="1"/>
          <p:nvPr/>
        </p:nvSpPr>
        <p:spPr>
          <a:xfrm>
            <a:off x="2249424" y="3438144"/>
            <a:ext cx="1298448" cy="384048"/>
          </a:xfrm>
          <a:prstGeom prst="rect">
            <a:avLst/>
          </a:prstGeom>
          <a:noFill/>
          <a:ln/>
        </p:spPr>
        <p:txBody>
          <a:bodyPr wrap="square" lIns="0" tIns="0" rIns="0" bIns="0" rtlCol="0" anchor="ctr"/>
          <a:lstStyle/>
          <a:p>
            <a:pPr indent="0" marL="0">
              <a:buNone/>
            </a:pPr>
            <a:r>
              <a:rPr lang="en-US" sz="1200" b="1" dirty="0">
                <a:solidFill>
                  <a:schemeClr val="bg1"/>
                </a:solidFill>
              </a:rPr>
              <a:t>Sentence Transformers</a:t>
            </a:r>
            <a:endParaRPr lang="en-US" sz="1200" dirty="0"/>
          </a:p>
        </p:txBody>
      </p:sp>
      <p:sp>
        <p:nvSpPr>
          <p:cNvPr id="37" name="text-382"/>
          <p:cNvSpPr txBox="1"/>
          <p:nvPr/>
        </p:nvSpPr>
        <p:spPr>
          <a:xfrm>
            <a:off x="2249424" y="3840480"/>
            <a:ext cx="1298448" cy="640080"/>
          </a:xfrm>
          <a:prstGeom prst="rect">
            <a:avLst/>
          </a:prstGeom>
          <a:noFill/>
          <a:ln/>
        </p:spPr>
        <p:txBody>
          <a:bodyPr wrap="square" lIns="0" tIns="0" rIns="0" bIns="0" rtlCol="0" anchor="t"/>
          <a:lstStyle/>
          <a:p>
            <a:pPr indent="0" marL="0">
              <a:buNone/>
            </a:pPr>
            <a:r>
              <a:rPr lang="en-US" sz="1100" dirty="0">
                <a:solidFill>
                  <a:schemeClr val="bg1"/>
                </a:solidFill>
              </a:rPr>
              <a:t>Turns text into meaning numbers</a:t>
            </a:r>
            <a:endParaRPr lang="en-US" sz="1100" dirty="0"/>
          </a:p>
        </p:txBody>
      </p:sp>
      <p:sp>
        <p:nvSpPr>
          <p:cNvPr id="38" name="box-383"/>
          <p:cNvSpPr/>
          <p:nvPr/>
        </p:nvSpPr>
        <p:spPr>
          <a:xfrm>
            <a:off x="3822192" y="2834640"/>
            <a:ext cx="1499616" cy="1691640"/>
          </a:xfrm>
          <a:prstGeom prst="roundRect">
            <a:avLst>
              <a:gd name="adj" fmla="val 4878"/>
            </a:avLst>
          </a:prstGeom>
          <a:solidFill>
            <a:schemeClr val="tx2"/>
          </a:solidFill>
          <a:ln/>
        </p:spPr>
      </p:sp>
      <p:sp>
        <p:nvSpPr>
          <p:cNvPr id="39" name="iconbg-384"/>
          <p:cNvSpPr/>
          <p:nvPr/>
        </p:nvSpPr>
        <p:spPr>
          <a:xfrm>
            <a:off x="3931920" y="2944368"/>
            <a:ext cx="438912" cy="438912"/>
          </a:xfrm>
          <a:prstGeom prst="ellipse">
            <a:avLst/>
          </a:prstGeom>
          <a:solidFill>
            <a:schemeClr val="accent2"/>
          </a:solidFill>
          <a:ln/>
        </p:spPr>
      </p:sp>
      <p:pic>
        <p:nvPicPr>
          <p:cNvPr id="40" name="icon-385" descr="preencoded.png">    </p:cNvPr>
          <p:cNvPicPr>
            <a:picLocks noChangeAspect="1"/>
          </p:cNvPicPr>
          <p:nvPr/>
        </p:nvPicPr>
        <p:blipFill>
          <a:blip r:embed="rId8"/>
          <a:stretch>
            <a:fillRect/>
          </a:stretch>
        </p:blipFill>
        <p:spPr>
          <a:xfrm>
            <a:off x="4028481" y="3040929"/>
            <a:ext cx="245791" cy="245791"/>
          </a:xfrm>
          <a:prstGeom prst="rect">
            <a:avLst/>
          </a:prstGeom>
        </p:spPr>
      </p:pic>
      <p:sp>
        <p:nvSpPr>
          <p:cNvPr id="41" name="text-386"/>
          <p:cNvSpPr txBox="1"/>
          <p:nvPr/>
        </p:nvSpPr>
        <p:spPr>
          <a:xfrm>
            <a:off x="3931920" y="3438144"/>
            <a:ext cx="1298448" cy="384048"/>
          </a:xfrm>
          <a:prstGeom prst="rect">
            <a:avLst/>
          </a:prstGeom>
          <a:noFill/>
          <a:ln/>
        </p:spPr>
        <p:txBody>
          <a:bodyPr wrap="square" lIns="0" tIns="0" rIns="0" bIns="0" rtlCol="0" anchor="ctr"/>
          <a:lstStyle/>
          <a:p>
            <a:pPr indent="0" marL="0">
              <a:buNone/>
            </a:pPr>
            <a:r>
              <a:rPr lang="en-US" sz="1200" b="1" dirty="0">
                <a:solidFill>
                  <a:schemeClr val="bg1"/>
                </a:solidFill>
              </a:rPr>
              <a:t>Open-source LLM</a:t>
            </a:r>
            <a:endParaRPr lang="en-US" sz="1200" dirty="0"/>
          </a:p>
        </p:txBody>
      </p:sp>
      <p:sp>
        <p:nvSpPr>
          <p:cNvPr id="42" name="text-387"/>
          <p:cNvSpPr txBox="1"/>
          <p:nvPr/>
        </p:nvSpPr>
        <p:spPr>
          <a:xfrm>
            <a:off x="3931920" y="3840480"/>
            <a:ext cx="1298448" cy="640080"/>
          </a:xfrm>
          <a:prstGeom prst="rect">
            <a:avLst/>
          </a:prstGeom>
          <a:noFill/>
          <a:ln/>
        </p:spPr>
        <p:txBody>
          <a:bodyPr wrap="square" lIns="0" tIns="0" rIns="0" bIns="0" rtlCol="0" anchor="t"/>
          <a:lstStyle/>
          <a:p>
            <a:pPr indent="0" marL="0">
              <a:buNone/>
            </a:pPr>
            <a:r>
              <a:rPr lang="en-US" sz="1100" dirty="0">
                <a:solidFill>
                  <a:schemeClr val="bg1"/>
                </a:solidFill>
              </a:rPr>
              <a:t>The AI Writer; free to run</a:t>
            </a:r>
            <a:endParaRPr lang="en-US" sz="1100" dirty="0"/>
          </a:p>
        </p:txBody>
      </p:sp>
      <p:sp>
        <p:nvSpPr>
          <p:cNvPr id="43" name="box-388"/>
          <p:cNvSpPr/>
          <p:nvPr/>
        </p:nvSpPr>
        <p:spPr>
          <a:xfrm>
            <a:off x="5504688" y="2834640"/>
            <a:ext cx="1499616" cy="1691640"/>
          </a:xfrm>
          <a:prstGeom prst="roundRect">
            <a:avLst>
              <a:gd name="adj" fmla="val 4878"/>
            </a:avLst>
          </a:prstGeom>
          <a:solidFill>
            <a:schemeClr val="bg2"/>
          </a:solidFill>
          <a:ln/>
        </p:spPr>
      </p:sp>
      <p:sp>
        <p:nvSpPr>
          <p:cNvPr id="44" name="iconbg-389"/>
          <p:cNvSpPr/>
          <p:nvPr/>
        </p:nvSpPr>
        <p:spPr>
          <a:xfrm>
            <a:off x="5614416" y="2944368"/>
            <a:ext cx="438912" cy="438912"/>
          </a:xfrm>
          <a:prstGeom prst="ellipse">
            <a:avLst/>
          </a:prstGeom>
          <a:solidFill>
            <a:schemeClr val="accent1"/>
          </a:solidFill>
          <a:ln/>
        </p:spPr>
      </p:sp>
      <p:pic>
        <p:nvPicPr>
          <p:cNvPr id="45" name="icon-390" descr="preencoded.png">    </p:cNvPr>
          <p:cNvPicPr>
            <a:picLocks noChangeAspect="1"/>
          </p:cNvPicPr>
          <p:nvPr/>
        </p:nvPicPr>
        <p:blipFill>
          <a:blip r:embed="rId9"/>
          <a:stretch>
            <a:fillRect/>
          </a:stretch>
        </p:blipFill>
        <p:spPr>
          <a:xfrm>
            <a:off x="5710977" y="3040929"/>
            <a:ext cx="245791" cy="245791"/>
          </a:xfrm>
          <a:prstGeom prst="rect">
            <a:avLst/>
          </a:prstGeom>
        </p:spPr>
      </p:pic>
      <p:sp>
        <p:nvSpPr>
          <p:cNvPr id="46" name="text-391"/>
          <p:cNvSpPr txBox="1"/>
          <p:nvPr/>
        </p:nvSpPr>
        <p:spPr>
          <a:xfrm>
            <a:off x="5614416" y="3438144"/>
            <a:ext cx="1298448" cy="384048"/>
          </a:xfrm>
          <a:prstGeom prst="rect">
            <a:avLst/>
          </a:prstGeom>
          <a:noFill/>
          <a:ln/>
        </p:spPr>
        <p:txBody>
          <a:bodyPr wrap="square" lIns="0" tIns="0" rIns="0" bIns="0" rtlCol="0" anchor="ctr"/>
          <a:lstStyle/>
          <a:p>
            <a:pPr indent="0" marL="0">
              <a:buNone/>
            </a:pPr>
            <a:r>
              <a:rPr lang="en-US" sz="1200" b="1" dirty="0">
                <a:solidFill>
                  <a:schemeClr val="tx2"/>
                </a:solidFill>
              </a:rPr>
              <a:t>PyMuPDF</a:t>
            </a:r>
            <a:endParaRPr lang="en-US" sz="1200" dirty="0"/>
          </a:p>
        </p:txBody>
      </p:sp>
      <p:sp>
        <p:nvSpPr>
          <p:cNvPr id="47" name="text-392"/>
          <p:cNvSpPr txBox="1"/>
          <p:nvPr/>
        </p:nvSpPr>
        <p:spPr>
          <a:xfrm>
            <a:off x="5614416" y="3840480"/>
            <a:ext cx="1298448" cy="640080"/>
          </a:xfrm>
          <a:prstGeom prst="rect">
            <a:avLst/>
          </a:prstGeom>
          <a:noFill/>
          <a:ln/>
        </p:spPr>
        <p:txBody>
          <a:bodyPr wrap="square" lIns="0" tIns="0" rIns="0" bIns="0" rtlCol="0" anchor="t"/>
          <a:lstStyle/>
          <a:p>
            <a:pPr indent="0" marL="0">
              <a:buNone/>
            </a:pPr>
            <a:r>
              <a:rPr lang="en-US" sz="1100" dirty="0">
                <a:solidFill>
                  <a:schemeClr val="tx1"/>
                </a:solidFill>
              </a:rPr>
              <a:t>Reads text from PDF files</a:t>
            </a:r>
            <a:endParaRPr lang="en-US" sz="1100" dirty="0"/>
          </a:p>
        </p:txBody>
      </p:sp>
      <p:sp>
        <p:nvSpPr>
          <p:cNvPr id="48" name="box-393"/>
          <p:cNvSpPr/>
          <p:nvPr/>
        </p:nvSpPr>
        <p:spPr>
          <a:xfrm>
            <a:off x="7187184" y="2834640"/>
            <a:ext cx="1499616" cy="1691640"/>
          </a:xfrm>
          <a:prstGeom prst="roundRect">
            <a:avLst>
              <a:gd name="adj" fmla="val 4878"/>
            </a:avLst>
          </a:prstGeom>
          <a:solidFill>
            <a:schemeClr val="bg2"/>
          </a:solidFill>
          <a:ln/>
        </p:spPr>
      </p:sp>
      <p:sp>
        <p:nvSpPr>
          <p:cNvPr id="49" name="iconbg-394"/>
          <p:cNvSpPr/>
          <p:nvPr/>
        </p:nvSpPr>
        <p:spPr>
          <a:xfrm>
            <a:off x="7296912" y="2944368"/>
            <a:ext cx="438912" cy="438912"/>
          </a:xfrm>
          <a:prstGeom prst="ellipse">
            <a:avLst/>
          </a:prstGeom>
          <a:solidFill>
            <a:schemeClr val="accent1"/>
          </a:solidFill>
          <a:ln/>
        </p:spPr>
      </p:sp>
      <p:pic>
        <p:nvPicPr>
          <p:cNvPr id="50" name="icon-395" descr="preencoded.png">    </p:cNvPr>
          <p:cNvPicPr>
            <a:picLocks noChangeAspect="1"/>
          </p:cNvPicPr>
          <p:nvPr/>
        </p:nvPicPr>
        <p:blipFill>
          <a:blip r:embed="rId10"/>
          <a:stretch>
            <a:fillRect/>
          </a:stretch>
        </p:blipFill>
        <p:spPr>
          <a:xfrm>
            <a:off x="7393473" y="3040929"/>
            <a:ext cx="245791" cy="245791"/>
          </a:xfrm>
          <a:prstGeom prst="rect">
            <a:avLst/>
          </a:prstGeom>
        </p:spPr>
      </p:pic>
      <p:sp>
        <p:nvSpPr>
          <p:cNvPr id="51" name="text-396"/>
          <p:cNvSpPr txBox="1"/>
          <p:nvPr/>
        </p:nvSpPr>
        <p:spPr>
          <a:xfrm>
            <a:off x="7296912" y="3438144"/>
            <a:ext cx="1298448" cy="384048"/>
          </a:xfrm>
          <a:prstGeom prst="rect">
            <a:avLst/>
          </a:prstGeom>
          <a:noFill/>
          <a:ln/>
        </p:spPr>
        <p:txBody>
          <a:bodyPr wrap="square" lIns="0" tIns="0" rIns="0" bIns="0" rtlCol="0" anchor="ctr"/>
          <a:lstStyle/>
          <a:p>
            <a:pPr indent="0" marL="0">
              <a:buNone/>
            </a:pPr>
            <a:r>
              <a:rPr lang="en-US" sz="1200" b="1" dirty="0">
                <a:solidFill>
                  <a:schemeClr val="tx2"/>
                </a:solidFill>
              </a:rPr>
              <a:t>OCR</a:t>
            </a:r>
            <a:endParaRPr lang="en-US" sz="1200" dirty="0"/>
          </a:p>
        </p:txBody>
      </p:sp>
      <p:sp>
        <p:nvSpPr>
          <p:cNvPr id="52" name="text-397"/>
          <p:cNvSpPr txBox="1"/>
          <p:nvPr/>
        </p:nvSpPr>
        <p:spPr>
          <a:xfrm>
            <a:off x="7296912" y="3840480"/>
            <a:ext cx="1298448" cy="640080"/>
          </a:xfrm>
          <a:prstGeom prst="rect">
            <a:avLst/>
          </a:prstGeom>
          <a:noFill/>
          <a:ln/>
        </p:spPr>
        <p:txBody>
          <a:bodyPr wrap="square" lIns="0" tIns="0" rIns="0" bIns="0" rtlCol="0" anchor="t"/>
          <a:lstStyle/>
          <a:p>
            <a:pPr indent="0" marL="0">
              <a:buNone/>
            </a:pPr>
            <a:r>
              <a:rPr lang="en-US" sz="1100" dirty="0">
                <a:solidFill>
                  <a:schemeClr val="tx1"/>
                </a:solidFill>
              </a:rPr>
              <a:t>Reads text from photos and scans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548640"/>
          </a:xfrm>
          <a:prstGeom prst="rect">
            <a:avLst/>
          </a:prstGeom>
          <a:noFill/>
          <a:ln/>
        </p:spPr>
        <p:txBody>
          <a:bodyPr wrap="square" lIns="0" tIns="0" rIns="0" bIns="0" rtlCol="0" anchor="ctr"/>
          <a:lstStyle/>
          <a:p>
            <a:pPr algn="l" indent="0" marL="0">
              <a:buNone/>
            </a:pPr>
            <a:r>
              <a:rPr lang="en-US" sz="2800" b="1" dirty="0">
                <a:solidFill>
                  <a:schemeClr val="tx2"/>
                </a:solidFill>
              </a:rPr>
              <a:t>Our Seven-Month Plan and Team</a:t>
            </a:r>
            <a:endParaRPr lang="en-US" sz="2800" dirty="0"/>
          </a:p>
        </p:txBody>
      </p:sp>
      <p:sp>
        <p:nvSpPr>
          <p:cNvPr id="3" name="text-398"/>
          <p:cNvSpPr txBox="1"/>
          <p:nvPr/>
        </p:nvSpPr>
        <p:spPr>
          <a:xfrm>
            <a:off x="3566160" y="960120"/>
            <a:ext cx="731520" cy="256032"/>
          </a:xfrm>
          <a:prstGeom prst="rect">
            <a:avLst/>
          </a:prstGeom>
          <a:noFill/>
          <a:ln/>
        </p:spPr>
        <p:txBody>
          <a:bodyPr wrap="square" lIns="0" tIns="0" rIns="0" bIns="0" rtlCol="0" anchor="ctr"/>
          <a:lstStyle/>
          <a:p>
            <a:pPr algn="ctr" indent="0" marL="0">
              <a:buNone/>
            </a:pPr>
            <a:r>
              <a:rPr lang="en-US" sz="1000" b="1" dirty="0">
                <a:solidFill>
                  <a:schemeClr val="tx2"/>
                </a:solidFill>
              </a:rPr>
              <a:t>Month 1</a:t>
            </a:r>
            <a:endParaRPr lang="en-US" sz="1000" dirty="0"/>
          </a:p>
        </p:txBody>
      </p:sp>
      <p:sp>
        <p:nvSpPr>
          <p:cNvPr id="4" name="text-399"/>
          <p:cNvSpPr txBox="1"/>
          <p:nvPr/>
        </p:nvSpPr>
        <p:spPr>
          <a:xfrm>
            <a:off x="4297680" y="960120"/>
            <a:ext cx="731520" cy="256032"/>
          </a:xfrm>
          <a:prstGeom prst="rect">
            <a:avLst/>
          </a:prstGeom>
          <a:noFill/>
          <a:ln/>
        </p:spPr>
        <p:txBody>
          <a:bodyPr wrap="square" lIns="0" tIns="0" rIns="0" bIns="0" rtlCol="0" anchor="ctr"/>
          <a:lstStyle/>
          <a:p>
            <a:pPr algn="ctr" indent="0" marL="0">
              <a:buNone/>
            </a:pPr>
            <a:r>
              <a:rPr lang="en-US" sz="1000" b="1" dirty="0">
                <a:solidFill>
                  <a:schemeClr val="tx2"/>
                </a:solidFill>
              </a:rPr>
              <a:t>Month 2</a:t>
            </a:r>
            <a:endParaRPr lang="en-US" sz="1000" dirty="0"/>
          </a:p>
        </p:txBody>
      </p:sp>
      <p:sp>
        <p:nvSpPr>
          <p:cNvPr id="5" name="text-400"/>
          <p:cNvSpPr txBox="1"/>
          <p:nvPr/>
        </p:nvSpPr>
        <p:spPr>
          <a:xfrm>
            <a:off x="5029200" y="960120"/>
            <a:ext cx="731520" cy="256032"/>
          </a:xfrm>
          <a:prstGeom prst="rect">
            <a:avLst/>
          </a:prstGeom>
          <a:noFill/>
          <a:ln/>
        </p:spPr>
        <p:txBody>
          <a:bodyPr wrap="square" lIns="0" tIns="0" rIns="0" bIns="0" rtlCol="0" anchor="ctr"/>
          <a:lstStyle/>
          <a:p>
            <a:pPr algn="ctr" indent="0" marL="0">
              <a:buNone/>
            </a:pPr>
            <a:r>
              <a:rPr lang="en-US" sz="1000" b="1" dirty="0">
                <a:solidFill>
                  <a:schemeClr val="tx2"/>
                </a:solidFill>
              </a:rPr>
              <a:t>Month 3</a:t>
            </a:r>
            <a:endParaRPr lang="en-US" sz="1000" dirty="0"/>
          </a:p>
        </p:txBody>
      </p:sp>
      <p:sp>
        <p:nvSpPr>
          <p:cNvPr id="6" name="text-401"/>
          <p:cNvSpPr txBox="1"/>
          <p:nvPr/>
        </p:nvSpPr>
        <p:spPr>
          <a:xfrm>
            <a:off x="5760720" y="960120"/>
            <a:ext cx="731520" cy="256032"/>
          </a:xfrm>
          <a:prstGeom prst="rect">
            <a:avLst/>
          </a:prstGeom>
          <a:noFill/>
          <a:ln/>
        </p:spPr>
        <p:txBody>
          <a:bodyPr wrap="square" lIns="0" tIns="0" rIns="0" bIns="0" rtlCol="0" anchor="ctr"/>
          <a:lstStyle/>
          <a:p>
            <a:pPr algn="ctr" indent="0" marL="0">
              <a:buNone/>
            </a:pPr>
            <a:r>
              <a:rPr lang="en-US" sz="1000" b="1" dirty="0">
                <a:solidFill>
                  <a:schemeClr val="tx2"/>
                </a:solidFill>
              </a:rPr>
              <a:t>Month 4</a:t>
            </a:r>
            <a:endParaRPr lang="en-US" sz="1000" dirty="0"/>
          </a:p>
        </p:txBody>
      </p:sp>
      <p:sp>
        <p:nvSpPr>
          <p:cNvPr id="7" name="text-402"/>
          <p:cNvSpPr txBox="1"/>
          <p:nvPr/>
        </p:nvSpPr>
        <p:spPr>
          <a:xfrm>
            <a:off x="6492240" y="960120"/>
            <a:ext cx="731520" cy="256032"/>
          </a:xfrm>
          <a:prstGeom prst="rect">
            <a:avLst/>
          </a:prstGeom>
          <a:noFill/>
          <a:ln/>
        </p:spPr>
        <p:txBody>
          <a:bodyPr wrap="square" lIns="0" tIns="0" rIns="0" bIns="0" rtlCol="0" anchor="ctr"/>
          <a:lstStyle/>
          <a:p>
            <a:pPr algn="ctr" indent="0" marL="0">
              <a:buNone/>
            </a:pPr>
            <a:r>
              <a:rPr lang="en-US" sz="1000" b="1" dirty="0">
                <a:solidFill>
                  <a:schemeClr val="tx2"/>
                </a:solidFill>
              </a:rPr>
              <a:t>Month 5</a:t>
            </a:r>
            <a:endParaRPr lang="en-US" sz="1000" dirty="0"/>
          </a:p>
        </p:txBody>
      </p:sp>
      <p:sp>
        <p:nvSpPr>
          <p:cNvPr id="8" name="text-403"/>
          <p:cNvSpPr txBox="1"/>
          <p:nvPr/>
        </p:nvSpPr>
        <p:spPr>
          <a:xfrm>
            <a:off x="7223760" y="960120"/>
            <a:ext cx="731520" cy="256032"/>
          </a:xfrm>
          <a:prstGeom prst="rect">
            <a:avLst/>
          </a:prstGeom>
          <a:noFill/>
          <a:ln/>
        </p:spPr>
        <p:txBody>
          <a:bodyPr wrap="square" lIns="0" tIns="0" rIns="0" bIns="0" rtlCol="0" anchor="ctr"/>
          <a:lstStyle/>
          <a:p>
            <a:pPr algn="ctr" indent="0" marL="0">
              <a:buNone/>
            </a:pPr>
            <a:r>
              <a:rPr lang="en-US" sz="1000" b="1" dirty="0">
                <a:solidFill>
                  <a:schemeClr val="tx2"/>
                </a:solidFill>
              </a:rPr>
              <a:t>Month 6</a:t>
            </a:r>
            <a:endParaRPr lang="en-US" sz="1000" dirty="0"/>
          </a:p>
        </p:txBody>
      </p:sp>
      <p:sp>
        <p:nvSpPr>
          <p:cNvPr id="9" name="text-404"/>
          <p:cNvSpPr txBox="1"/>
          <p:nvPr/>
        </p:nvSpPr>
        <p:spPr>
          <a:xfrm>
            <a:off x="7955280" y="960120"/>
            <a:ext cx="731520" cy="256032"/>
          </a:xfrm>
          <a:prstGeom prst="rect">
            <a:avLst/>
          </a:prstGeom>
          <a:noFill/>
          <a:ln/>
        </p:spPr>
        <p:txBody>
          <a:bodyPr wrap="square" lIns="0" tIns="0" rIns="0" bIns="0" rtlCol="0" anchor="ctr"/>
          <a:lstStyle/>
          <a:p>
            <a:pPr algn="ctr" indent="0" marL="0">
              <a:buNone/>
            </a:pPr>
            <a:r>
              <a:rPr lang="en-US" sz="1000" b="1" dirty="0">
                <a:solidFill>
                  <a:schemeClr val="tx2"/>
                </a:solidFill>
              </a:rPr>
              <a:t>Month 7</a:t>
            </a:r>
            <a:endParaRPr lang="en-US" sz="1000" dirty="0"/>
          </a:p>
        </p:txBody>
      </p:sp>
      <p:sp>
        <p:nvSpPr>
          <p:cNvPr id="10" name="rowbg-405"/>
          <p:cNvSpPr/>
          <p:nvPr/>
        </p:nvSpPr>
        <p:spPr>
          <a:xfrm>
            <a:off x="457200" y="1252728"/>
            <a:ext cx="8229600" cy="292608"/>
          </a:xfrm>
          <a:prstGeom prst="rect">
            <a:avLst/>
          </a:prstGeom>
          <a:solidFill>
            <a:schemeClr val="bg2"/>
          </a:solidFill>
          <a:ln/>
        </p:spPr>
      </p:sp>
      <p:sp>
        <p:nvSpPr>
          <p:cNvPr id="11" name="text-406"/>
          <p:cNvSpPr txBox="1"/>
          <p:nvPr/>
        </p:nvSpPr>
        <p:spPr>
          <a:xfrm>
            <a:off x="548640" y="1252728"/>
            <a:ext cx="3017520" cy="292608"/>
          </a:xfrm>
          <a:prstGeom prst="rect">
            <a:avLst/>
          </a:prstGeom>
          <a:noFill/>
          <a:ln/>
        </p:spPr>
        <p:txBody>
          <a:bodyPr wrap="square" lIns="0" tIns="0" rIns="0" bIns="0" rtlCol="0" anchor="ctr"/>
          <a:lstStyle/>
          <a:p>
            <a:pPr indent="0" marL="0">
              <a:buNone/>
            </a:pPr>
            <a:r>
              <a:rPr lang="en-US" sz="1100" dirty="0">
                <a:solidFill>
                  <a:schemeClr val="tx1"/>
                </a:solidFill>
              </a:rPr>
              <a:t>Legal research and collecting laws</a:t>
            </a:r>
            <a:endParaRPr lang="en-US" sz="1100" dirty="0"/>
          </a:p>
        </p:txBody>
      </p:sp>
      <p:sp>
        <p:nvSpPr>
          <p:cNvPr id="12" name="bar-407"/>
          <p:cNvSpPr/>
          <p:nvPr/>
        </p:nvSpPr>
        <p:spPr>
          <a:xfrm>
            <a:off x="3611880" y="1307592"/>
            <a:ext cx="1371600" cy="182880"/>
          </a:xfrm>
          <a:prstGeom prst="roundRect">
            <a:avLst>
              <a:gd name="adj" fmla="val 40000"/>
            </a:avLst>
          </a:prstGeom>
          <a:solidFill>
            <a:schemeClr val="accent1"/>
          </a:solidFill>
          <a:ln/>
        </p:spPr>
      </p:sp>
      <p:sp>
        <p:nvSpPr>
          <p:cNvPr id="13" name="text-408"/>
          <p:cNvSpPr txBox="1"/>
          <p:nvPr/>
        </p:nvSpPr>
        <p:spPr>
          <a:xfrm>
            <a:off x="548640" y="1545336"/>
            <a:ext cx="3017520" cy="292608"/>
          </a:xfrm>
          <a:prstGeom prst="rect">
            <a:avLst/>
          </a:prstGeom>
          <a:noFill/>
          <a:ln/>
        </p:spPr>
        <p:txBody>
          <a:bodyPr wrap="square" lIns="0" tIns="0" rIns="0" bIns="0" rtlCol="0" anchor="ctr"/>
          <a:lstStyle/>
          <a:p>
            <a:pPr indent="0" marL="0">
              <a:buNone/>
            </a:pPr>
            <a:r>
              <a:rPr lang="en-US" sz="1100" dirty="0">
                <a:solidFill>
                  <a:schemeClr val="tx1"/>
                </a:solidFill>
              </a:rPr>
              <a:t>Preparing documents and the law library</a:t>
            </a:r>
            <a:endParaRPr lang="en-US" sz="1100" dirty="0"/>
          </a:p>
        </p:txBody>
      </p:sp>
      <p:sp>
        <p:nvSpPr>
          <p:cNvPr id="14" name="bar-409"/>
          <p:cNvSpPr/>
          <p:nvPr/>
        </p:nvSpPr>
        <p:spPr>
          <a:xfrm>
            <a:off x="4343400" y="1600200"/>
            <a:ext cx="1371600" cy="182880"/>
          </a:xfrm>
          <a:prstGeom prst="roundRect">
            <a:avLst>
              <a:gd name="adj" fmla="val 40000"/>
            </a:avLst>
          </a:prstGeom>
          <a:solidFill>
            <a:schemeClr val="accent2"/>
          </a:solidFill>
          <a:ln/>
        </p:spPr>
      </p:sp>
      <p:sp>
        <p:nvSpPr>
          <p:cNvPr id="15" name="rowbg-410"/>
          <p:cNvSpPr/>
          <p:nvPr/>
        </p:nvSpPr>
        <p:spPr>
          <a:xfrm>
            <a:off x="457200" y="1837944"/>
            <a:ext cx="8229600" cy="292608"/>
          </a:xfrm>
          <a:prstGeom prst="rect">
            <a:avLst/>
          </a:prstGeom>
          <a:solidFill>
            <a:schemeClr val="bg2"/>
          </a:solidFill>
          <a:ln/>
        </p:spPr>
      </p:sp>
      <p:sp>
        <p:nvSpPr>
          <p:cNvPr id="16" name="text-411"/>
          <p:cNvSpPr txBox="1"/>
          <p:nvPr/>
        </p:nvSpPr>
        <p:spPr>
          <a:xfrm>
            <a:off x="548640" y="1837944"/>
            <a:ext cx="3017520" cy="292608"/>
          </a:xfrm>
          <a:prstGeom prst="rect">
            <a:avLst/>
          </a:prstGeom>
          <a:noFill/>
          <a:ln/>
        </p:spPr>
        <p:txBody>
          <a:bodyPr wrap="square" lIns="0" tIns="0" rIns="0" bIns="0" rtlCol="0" anchor="ctr"/>
          <a:lstStyle/>
          <a:p>
            <a:pPr indent="0" marL="0">
              <a:buNone/>
            </a:pPr>
            <a:r>
              <a:rPr lang="en-US" sz="1100" dirty="0">
                <a:solidFill>
                  <a:schemeClr val="tx1"/>
                </a:solidFill>
              </a:rPr>
              <a:t>First working AI (RAG) version</a:t>
            </a:r>
            <a:endParaRPr lang="en-US" sz="1100" dirty="0"/>
          </a:p>
        </p:txBody>
      </p:sp>
      <p:sp>
        <p:nvSpPr>
          <p:cNvPr id="17" name="bar-412"/>
          <p:cNvSpPr/>
          <p:nvPr/>
        </p:nvSpPr>
        <p:spPr>
          <a:xfrm>
            <a:off x="5074920" y="1892808"/>
            <a:ext cx="640080" cy="182880"/>
          </a:xfrm>
          <a:prstGeom prst="roundRect">
            <a:avLst>
              <a:gd name="adj" fmla="val 40000"/>
            </a:avLst>
          </a:prstGeom>
          <a:solidFill>
            <a:schemeClr val="accent2"/>
          </a:solidFill>
          <a:ln/>
        </p:spPr>
      </p:sp>
      <p:sp>
        <p:nvSpPr>
          <p:cNvPr id="18" name="text-413"/>
          <p:cNvSpPr txBox="1"/>
          <p:nvPr/>
        </p:nvSpPr>
        <p:spPr>
          <a:xfrm>
            <a:off x="548640" y="2130552"/>
            <a:ext cx="3017520" cy="292608"/>
          </a:xfrm>
          <a:prstGeom prst="rect">
            <a:avLst/>
          </a:prstGeom>
          <a:noFill/>
          <a:ln/>
        </p:spPr>
        <p:txBody>
          <a:bodyPr wrap="square" lIns="0" tIns="0" rIns="0" bIns="0" rtlCol="0" anchor="ctr"/>
          <a:lstStyle/>
          <a:p>
            <a:pPr indent="0" marL="0">
              <a:buNone/>
            </a:pPr>
            <a:r>
              <a:rPr lang="en-US" sz="1100" dirty="0">
                <a:solidFill>
                  <a:schemeClr val="tx1"/>
                </a:solidFill>
              </a:rPr>
              <a:t>Website, server, cases, lawyer directory</a:t>
            </a:r>
            <a:endParaRPr lang="en-US" sz="1100" dirty="0"/>
          </a:p>
        </p:txBody>
      </p:sp>
      <p:sp>
        <p:nvSpPr>
          <p:cNvPr id="19" name="bar-414"/>
          <p:cNvSpPr/>
          <p:nvPr/>
        </p:nvSpPr>
        <p:spPr>
          <a:xfrm>
            <a:off x="5806440" y="2185416"/>
            <a:ext cx="1371600" cy="182880"/>
          </a:xfrm>
          <a:prstGeom prst="roundRect">
            <a:avLst>
              <a:gd name="adj" fmla="val 40000"/>
            </a:avLst>
          </a:prstGeom>
          <a:solidFill>
            <a:schemeClr val="accent1"/>
          </a:solidFill>
          <a:ln/>
        </p:spPr>
      </p:sp>
      <p:sp>
        <p:nvSpPr>
          <p:cNvPr id="20" name="rowbg-415"/>
          <p:cNvSpPr/>
          <p:nvPr/>
        </p:nvSpPr>
        <p:spPr>
          <a:xfrm>
            <a:off x="457200" y="2423160"/>
            <a:ext cx="8229600" cy="292608"/>
          </a:xfrm>
          <a:prstGeom prst="rect">
            <a:avLst/>
          </a:prstGeom>
          <a:solidFill>
            <a:schemeClr val="bg2"/>
          </a:solidFill>
          <a:ln/>
        </p:spPr>
      </p:sp>
      <p:sp>
        <p:nvSpPr>
          <p:cNvPr id="21" name="text-416"/>
          <p:cNvSpPr txBox="1"/>
          <p:nvPr/>
        </p:nvSpPr>
        <p:spPr>
          <a:xfrm>
            <a:off x="548640" y="2423160"/>
            <a:ext cx="3017520" cy="292608"/>
          </a:xfrm>
          <a:prstGeom prst="rect">
            <a:avLst/>
          </a:prstGeom>
          <a:noFill/>
          <a:ln/>
        </p:spPr>
        <p:txBody>
          <a:bodyPr wrap="square" lIns="0" tIns="0" rIns="0" bIns="0" rtlCol="0" anchor="ctr"/>
          <a:lstStyle/>
          <a:p>
            <a:pPr indent="0" marL="0">
              <a:buNone/>
            </a:pPr>
            <a:r>
              <a:rPr lang="en-US" sz="1100" dirty="0">
                <a:solidFill>
                  <a:schemeClr val="tx1"/>
                </a:solidFill>
              </a:rPr>
              <a:t>Joining all parts together</a:t>
            </a:r>
            <a:endParaRPr lang="en-US" sz="1100" dirty="0"/>
          </a:p>
        </p:txBody>
      </p:sp>
      <p:sp>
        <p:nvSpPr>
          <p:cNvPr id="22" name="bar-417"/>
          <p:cNvSpPr/>
          <p:nvPr/>
        </p:nvSpPr>
        <p:spPr>
          <a:xfrm>
            <a:off x="5806440" y="2478024"/>
            <a:ext cx="1371600" cy="182880"/>
          </a:xfrm>
          <a:prstGeom prst="roundRect">
            <a:avLst>
              <a:gd name="adj" fmla="val 40000"/>
            </a:avLst>
          </a:prstGeom>
          <a:solidFill>
            <a:schemeClr val="accent1"/>
          </a:solidFill>
          <a:ln/>
        </p:spPr>
      </p:sp>
      <p:sp>
        <p:nvSpPr>
          <p:cNvPr id="23" name="text-418"/>
          <p:cNvSpPr txBox="1"/>
          <p:nvPr/>
        </p:nvSpPr>
        <p:spPr>
          <a:xfrm>
            <a:off x="548640" y="2715768"/>
            <a:ext cx="3017520" cy="292608"/>
          </a:xfrm>
          <a:prstGeom prst="rect">
            <a:avLst/>
          </a:prstGeom>
          <a:noFill/>
          <a:ln/>
        </p:spPr>
        <p:txBody>
          <a:bodyPr wrap="square" lIns="0" tIns="0" rIns="0" bIns="0" rtlCol="0" anchor="ctr"/>
          <a:lstStyle/>
          <a:p>
            <a:pPr indent="0" marL="0">
              <a:buNone/>
            </a:pPr>
            <a:r>
              <a:rPr lang="en-US" sz="1100" dirty="0">
                <a:solidFill>
                  <a:schemeClr val="tx1"/>
                </a:solidFill>
              </a:rPr>
              <a:t>Testing</a:t>
            </a:r>
            <a:endParaRPr lang="en-US" sz="1100" dirty="0"/>
          </a:p>
        </p:txBody>
      </p:sp>
      <p:sp>
        <p:nvSpPr>
          <p:cNvPr id="24" name="bar-419"/>
          <p:cNvSpPr/>
          <p:nvPr/>
        </p:nvSpPr>
        <p:spPr>
          <a:xfrm>
            <a:off x="5806440" y="2770632"/>
            <a:ext cx="2103120" cy="182880"/>
          </a:xfrm>
          <a:prstGeom prst="roundRect">
            <a:avLst>
              <a:gd name="adj" fmla="val 40000"/>
            </a:avLst>
          </a:prstGeom>
          <a:solidFill>
            <a:schemeClr val="accent1"/>
          </a:solidFill>
          <a:ln/>
        </p:spPr>
      </p:sp>
      <p:sp>
        <p:nvSpPr>
          <p:cNvPr id="25" name="rowbg-420"/>
          <p:cNvSpPr/>
          <p:nvPr/>
        </p:nvSpPr>
        <p:spPr>
          <a:xfrm>
            <a:off x="457200" y="3008376"/>
            <a:ext cx="8229600" cy="292608"/>
          </a:xfrm>
          <a:prstGeom prst="rect">
            <a:avLst/>
          </a:prstGeom>
          <a:solidFill>
            <a:schemeClr val="bg2"/>
          </a:solidFill>
          <a:ln/>
        </p:spPr>
      </p:sp>
      <p:sp>
        <p:nvSpPr>
          <p:cNvPr id="26" name="text-421"/>
          <p:cNvSpPr txBox="1"/>
          <p:nvPr/>
        </p:nvSpPr>
        <p:spPr>
          <a:xfrm>
            <a:off x="548640" y="3008376"/>
            <a:ext cx="3017520" cy="292608"/>
          </a:xfrm>
          <a:prstGeom prst="rect">
            <a:avLst/>
          </a:prstGeom>
          <a:noFill/>
          <a:ln/>
        </p:spPr>
        <p:txBody>
          <a:bodyPr wrap="square" lIns="0" tIns="0" rIns="0" bIns="0" rtlCol="0" anchor="ctr"/>
          <a:lstStyle/>
          <a:p>
            <a:pPr indent="0" marL="0">
              <a:buNone/>
            </a:pPr>
            <a:r>
              <a:rPr lang="en-US" sz="1100" dirty="0">
                <a:solidFill>
                  <a:schemeClr val="tx1"/>
                </a:solidFill>
              </a:rPr>
              <a:t>Security testing and evaluation</a:t>
            </a:r>
            <a:endParaRPr lang="en-US" sz="1100" dirty="0"/>
          </a:p>
        </p:txBody>
      </p:sp>
      <p:sp>
        <p:nvSpPr>
          <p:cNvPr id="27" name="bar-422"/>
          <p:cNvSpPr/>
          <p:nvPr/>
        </p:nvSpPr>
        <p:spPr>
          <a:xfrm>
            <a:off x="7269480" y="3063240"/>
            <a:ext cx="640080" cy="182880"/>
          </a:xfrm>
          <a:prstGeom prst="roundRect">
            <a:avLst>
              <a:gd name="adj" fmla="val 40000"/>
            </a:avLst>
          </a:prstGeom>
          <a:solidFill>
            <a:schemeClr val="accent1"/>
          </a:solidFill>
          <a:ln/>
        </p:spPr>
      </p:sp>
      <p:sp>
        <p:nvSpPr>
          <p:cNvPr id="28" name="text-423"/>
          <p:cNvSpPr txBox="1"/>
          <p:nvPr/>
        </p:nvSpPr>
        <p:spPr>
          <a:xfrm>
            <a:off x="548640" y="3300984"/>
            <a:ext cx="3017520" cy="292608"/>
          </a:xfrm>
          <a:prstGeom prst="rect">
            <a:avLst/>
          </a:prstGeom>
          <a:noFill/>
          <a:ln/>
        </p:spPr>
        <p:txBody>
          <a:bodyPr wrap="square" lIns="0" tIns="0" rIns="0" bIns="0" rtlCol="0" anchor="ctr"/>
          <a:lstStyle/>
          <a:p>
            <a:pPr indent="0" marL="0">
              <a:buNone/>
            </a:pPr>
            <a:r>
              <a:rPr lang="en-US" sz="1100" dirty="0">
                <a:solidFill>
                  <a:schemeClr val="tx1"/>
                </a:solidFill>
              </a:rPr>
              <a:t>Deployment and final defense</a:t>
            </a:r>
            <a:endParaRPr lang="en-US" sz="1100" dirty="0"/>
          </a:p>
        </p:txBody>
      </p:sp>
      <p:sp>
        <p:nvSpPr>
          <p:cNvPr id="29" name="bar-424"/>
          <p:cNvSpPr/>
          <p:nvPr/>
        </p:nvSpPr>
        <p:spPr>
          <a:xfrm>
            <a:off x="8001000" y="3355848"/>
            <a:ext cx="640080" cy="182880"/>
          </a:xfrm>
          <a:prstGeom prst="roundRect">
            <a:avLst>
              <a:gd name="adj" fmla="val 40000"/>
            </a:avLst>
          </a:prstGeom>
          <a:solidFill>
            <a:schemeClr val="accent1"/>
          </a:solidFill>
          <a:ln/>
        </p:spPr>
      </p:sp>
      <p:sp>
        <p:nvSpPr>
          <p:cNvPr id="30" name="rowbg-425"/>
          <p:cNvSpPr/>
          <p:nvPr/>
        </p:nvSpPr>
        <p:spPr>
          <a:xfrm>
            <a:off x="457200" y="3593592"/>
            <a:ext cx="8229600" cy="292608"/>
          </a:xfrm>
          <a:prstGeom prst="rect">
            <a:avLst/>
          </a:prstGeom>
          <a:solidFill>
            <a:schemeClr val="bg2"/>
          </a:solidFill>
          <a:ln/>
        </p:spPr>
      </p:sp>
      <p:sp>
        <p:nvSpPr>
          <p:cNvPr id="31" name="text-426"/>
          <p:cNvSpPr txBox="1"/>
          <p:nvPr/>
        </p:nvSpPr>
        <p:spPr>
          <a:xfrm>
            <a:off x="548640" y="3593592"/>
            <a:ext cx="3017520" cy="292608"/>
          </a:xfrm>
          <a:prstGeom prst="rect">
            <a:avLst/>
          </a:prstGeom>
          <a:noFill/>
          <a:ln/>
        </p:spPr>
        <p:txBody>
          <a:bodyPr wrap="square" lIns="0" tIns="0" rIns="0" bIns="0" rtlCol="0" anchor="ctr"/>
          <a:lstStyle/>
          <a:p>
            <a:pPr indent="0" marL="0">
              <a:buNone/>
            </a:pPr>
            <a:r>
              <a:rPr lang="en-US" sz="1100" dirty="0">
                <a:solidFill>
                  <a:schemeClr val="tx1"/>
                </a:solidFill>
              </a:rPr>
              <a:t>Documentation (throughout)</a:t>
            </a:r>
            <a:endParaRPr lang="en-US" sz="1100" dirty="0"/>
          </a:p>
        </p:txBody>
      </p:sp>
      <p:sp>
        <p:nvSpPr>
          <p:cNvPr id="32" name="bar-427"/>
          <p:cNvSpPr/>
          <p:nvPr/>
        </p:nvSpPr>
        <p:spPr>
          <a:xfrm>
            <a:off x="3611880" y="3648456"/>
            <a:ext cx="5029200" cy="182880"/>
          </a:xfrm>
          <a:prstGeom prst="roundRect">
            <a:avLst>
              <a:gd name="adj" fmla="val 40000"/>
            </a:avLst>
          </a:prstGeom>
          <a:solidFill>
            <a:schemeClr val="accent1"/>
          </a:solidFill>
          <a:ln/>
        </p:spPr>
      </p:sp>
      <p:sp>
        <p:nvSpPr>
          <p:cNvPr id="33" name="iconbg-428"/>
          <p:cNvSpPr/>
          <p:nvPr/>
        </p:nvSpPr>
        <p:spPr>
          <a:xfrm>
            <a:off x="457200" y="4114800"/>
            <a:ext cx="384048" cy="384048"/>
          </a:xfrm>
          <a:prstGeom prst="ellipse">
            <a:avLst/>
          </a:prstGeom>
          <a:solidFill>
            <a:schemeClr val="accent5"/>
          </a:solidFill>
          <a:ln/>
        </p:spPr>
      </p:sp>
      <p:pic>
        <p:nvPicPr>
          <p:cNvPr id="34" name="icon-429" descr="preencoded.png">    </p:cNvPr>
          <p:cNvPicPr>
            <a:picLocks noChangeAspect="1"/>
          </p:cNvPicPr>
          <p:nvPr/>
        </p:nvPicPr>
        <p:blipFill>
          <a:blip r:embed="rId1"/>
          <a:stretch>
            <a:fillRect/>
          </a:stretch>
        </p:blipFill>
        <p:spPr>
          <a:xfrm>
            <a:off x="541691" y="4199291"/>
            <a:ext cx="215067" cy="215067"/>
          </a:xfrm>
          <a:prstGeom prst="rect">
            <a:avLst/>
          </a:prstGeom>
        </p:spPr>
      </p:pic>
      <p:sp>
        <p:nvSpPr>
          <p:cNvPr id="35" name="text-430"/>
          <p:cNvSpPr txBox="1"/>
          <p:nvPr/>
        </p:nvSpPr>
        <p:spPr>
          <a:xfrm>
            <a:off x="932688" y="4069080"/>
            <a:ext cx="2194560" cy="228600"/>
          </a:xfrm>
          <a:prstGeom prst="rect">
            <a:avLst/>
          </a:prstGeom>
          <a:noFill/>
          <a:ln/>
        </p:spPr>
        <p:txBody>
          <a:bodyPr wrap="square" lIns="0" tIns="0" rIns="0" bIns="0" rtlCol="0" anchor="t"/>
          <a:lstStyle/>
          <a:p>
            <a:pPr indent="0" marL="0">
              <a:buNone/>
            </a:pPr>
            <a:r>
              <a:rPr lang="en-US" sz="1200" b="1" dirty="0">
                <a:solidFill>
                  <a:schemeClr val="tx2"/>
                </a:solidFill>
              </a:rPr>
              <a:t>Muhammad Nabeel</a:t>
            </a:r>
            <a:endParaRPr lang="en-US" sz="1200" dirty="0"/>
          </a:p>
        </p:txBody>
      </p:sp>
      <p:sp>
        <p:nvSpPr>
          <p:cNvPr id="36" name="text-431"/>
          <p:cNvSpPr txBox="1"/>
          <p:nvPr/>
        </p:nvSpPr>
        <p:spPr>
          <a:xfrm>
            <a:off x="932688" y="4297680"/>
            <a:ext cx="2194560" cy="365760"/>
          </a:xfrm>
          <a:prstGeom prst="rect">
            <a:avLst/>
          </a:prstGeom>
          <a:noFill/>
          <a:ln/>
        </p:spPr>
        <p:txBody>
          <a:bodyPr wrap="square" lIns="0" tIns="0" rIns="0" bIns="0" rtlCol="0" anchor="t"/>
          <a:lstStyle/>
          <a:p>
            <a:pPr indent="0" marL="0">
              <a:buNone/>
            </a:pPr>
            <a:r>
              <a:rPr lang="en-US" sz="1000" dirty="0">
                <a:solidFill>
                  <a:schemeClr val="tx1"/>
                </a:solidFill>
              </a:rPr>
              <a:t>Full-stack, AI (RAG) and joining all parts</a:t>
            </a:r>
            <a:endParaRPr lang="en-US" sz="1000" dirty="0"/>
          </a:p>
        </p:txBody>
      </p:sp>
      <p:sp>
        <p:nvSpPr>
          <p:cNvPr id="37" name="iconbg-432"/>
          <p:cNvSpPr/>
          <p:nvPr/>
        </p:nvSpPr>
        <p:spPr>
          <a:xfrm>
            <a:off x="3246120" y="4114800"/>
            <a:ext cx="384048" cy="384048"/>
          </a:xfrm>
          <a:prstGeom prst="ellipse">
            <a:avLst/>
          </a:prstGeom>
          <a:solidFill>
            <a:schemeClr val="accent5"/>
          </a:solidFill>
          <a:ln/>
        </p:spPr>
      </p:sp>
      <p:pic>
        <p:nvPicPr>
          <p:cNvPr id="38" name="icon-433" descr="preencoded.png">    </p:cNvPr>
          <p:cNvPicPr>
            <a:picLocks noChangeAspect="1"/>
          </p:cNvPicPr>
          <p:nvPr/>
        </p:nvPicPr>
        <p:blipFill>
          <a:blip r:embed="rId2"/>
          <a:stretch>
            <a:fillRect/>
          </a:stretch>
        </p:blipFill>
        <p:spPr>
          <a:xfrm>
            <a:off x="3330611" y="4199291"/>
            <a:ext cx="215067" cy="215067"/>
          </a:xfrm>
          <a:prstGeom prst="rect">
            <a:avLst/>
          </a:prstGeom>
        </p:spPr>
      </p:pic>
      <p:sp>
        <p:nvSpPr>
          <p:cNvPr id="39" name="text-434"/>
          <p:cNvSpPr txBox="1"/>
          <p:nvPr/>
        </p:nvSpPr>
        <p:spPr>
          <a:xfrm>
            <a:off x="3721608" y="4069080"/>
            <a:ext cx="2194560" cy="228600"/>
          </a:xfrm>
          <a:prstGeom prst="rect">
            <a:avLst/>
          </a:prstGeom>
          <a:noFill/>
          <a:ln/>
        </p:spPr>
        <p:txBody>
          <a:bodyPr wrap="square" lIns="0" tIns="0" rIns="0" bIns="0" rtlCol="0" anchor="t"/>
          <a:lstStyle/>
          <a:p>
            <a:pPr indent="0" marL="0">
              <a:buNone/>
            </a:pPr>
            <a:r>
              <a:rPr lang="en-US" sz="1200" b="1" dirty="0">
                <a:solidFill>
                  <a:schemeClr val="tx2"/>
                </a:solidFill>
              </a:rPr>
              <a:t>Ashir Qureshi</a:t>
            </a:r>
            <a:endParaRPr lang="en-US" sz="1200" dirty="0"/>
          </a:p>
        </p:txBody>
      </p:sp>
      <p:sp>
        <p:nvSpPr>
          <p:cNvPr id="40" name="text-435"/>
          <p:cNvSpPr txBox="1"/>
          <p:nvPr/>
        </p:nvSpPr>
        <p:spPr>
          <a:xfrm>
            <a:off x="3721608" y="4297680"/>
            <a:ext cx="2194560" cy="365760"/>
          </a:xfrm>
          <a:prstGeom prst="rect">
            <a:avLst/>
          </a:prstGeom>
          <a:noFill/>
          <a:ln/>
        </p:spPr>
        <p:txBody>
          <a:bodyPr wrap="square" lIns="0" tIns="0" rIns="0" bIns="0" rtlCol="0" anchor="t"/>
          <a:lstStyle/>
          <a:p>
            <a:pPr indent="0" marL="0">
              <a:buNone/>
            </a:pPr>
            <a:r>
              <a:rPr lang="en-US" sz="1000" dirty="0">
                <a:solidFill>
                  <a:schemeClr val="tx1"/>
                </a:solidFill>
              </a:rPr>
              <a:t>Full-stack, building the features</a:t>
            </a:r>
            <a:endParaRPr lang="en-US" sz="1000" dirty="0"/>
          </a:p>
        </p:txBody>
      </p:sp>
      <p:sp>
        <p:nvSpPr>
          <p:cNvPr id="41" name="iconbg-436"/>
          <p:cNvSpPr/>
          <p:nvPr/>
        </p:nvSpPr>
        <p:spPr>
          <a:xfrm>
            <a:off x="6035040" y="4114800"/>
            <a:ext cx="384048" cy="384048"/>
          </a:xfrm>
          <a:prstGeom prst="ellipse">
            <a:avLst/>
          </a:prstGeom>
          <a:solidFill>
            <a:schemeClr val="accent5"/>
          </a:solidFill>
          <a:ln/>
        </p:spPr>
      </p:sp>
      <p:pic>
        <p:nvPicPr>
          <p:cNvPr id="42" name="icon-437" descr="preencoded.png">    </p:cNvPr>
          <p:cNvPicPr>
            <a:picLocks noChangeAspect="1"/>
          </p:cNvPicPr>
          <p:nvPr/>
        </p:nvPicPr>
        <p:blipFill>
          <a:blip r:embed="rId3"/>
          <a:stretch>
            <a:fillRect/>
          </a:stretch>
        </p:blipFill>
        <p:spPr>
          <a:xfrm>
            <a:off x="6119531" y="4199291"/>
            <a:ext cx="215067" cy="215067"/>
          </a:xfrm>
          <a:prstGeom prst="rect">
            <a:avLst/>
          </a:prstGeom>
        </p:spPr>
      </p:pic>
      <p:sp>
        <p:nvSpPr>
          <p:cNvPr id="43" name="text-438"/>
          <p:cNvSpPr txBox="1"/>
          <p:nvPr/>
        </p:nvSpPr>
        <p:spPr>
          <a:xfrm>
            <a:off x="6510528" y="4069080"/>
            <a:ext cx="2194560" cy="228600"/>
          </a:xfrm>
          <a:prstGeom prst="rect">
            <a:avLst/>
          </a:prstGeom>
          <a:noFill/>
          <a:ln/>
        </p:spPr>
        <p:txBody>
          <a:bodyPr wrap="square" lIns="0" tIns="0" rIns="0" bIns="0" rtlCol="0" anchor="t"/>
          <a:lstStyle/>
          <a:p>
            <a:pPr indent="0" marL="0">
              <a:buNone/>
            </a:pPr>
            <a:r>
              <a:rPr lang="en-US" sz="1200" b="1" dirty="0">
                <a:solidFill>
                  <a:schemeClr val="tx2"/>
                </a:solidFill>
              </a:rPr>
              <a:t>Muhammad Sharjeel</a:t>
            </a:r>
            <a:endParaRPr lang="en-US" sz="1200" dirty="0"/>
          </a:p>
        </p:txBody>
      </p:sp>
      <p:sp>
        <p:nvSpPr>
          <p:cNvPr id="44" name="text-439"/>
          <p:cNvSpPr txBox="1"/>
          <p:nvPr/>
        </p:nvSpPr>
        <p:spPr>
          <a:xfrm>
            <a:off x="6510528" y="4297680"/>
            <a:ext cx="2194560" cy="365760"/>
          </a:xfrm>
          <a:prstGeom prst="rect">
            <a:avLst/>
          </a:prstGeom>
          <a:noFill/>
          <a:ln/>
        </p:spPr>
        <p:txBody>
          <a:bodyPr wrap="square" lIns="0" tIns="0" rIns="0" bIns="0" rtlCol="0" anchor="t"/>
          <a:lstStyle/>
          <a:p>
            <a:pPr indent="0" marL="0">
              <a:buNone/>
            </a:pPr>
            <a:r>
              <a:rPr lang="en-US" sz="1000" dirty="0">
                <a:solidFill>
                  <a:schemeClr val="tx1"/>
                </a:solidFill>
              </a:rPr>
              <a:t>Testing and quality checks</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548640"/>
          </a:xfrm>
          <a:prstGeom prst="rect">
            <a:avLst/>
          </a:prstGeom>
          <a:noFill/>
          <a:ln/>
        </p:spPr>
        <p:txBody>
          <a:bodyPr wrap="square" lIns="0" tIns="0" rIns="0" bIns="0" rtlCol="0" anchor="ctr"/>
          <a:lstStyle/>
          <a:p>
            <a:pPr algn="l" indent="0" marL="0">
              <a:buNone/>
            </a:pPr>
            <a:r>
              <a:rPr lang="en-US" sz="2800" b="1" dirty="0">
                <a:solidFill>
                  <a:schemeClr val="tx2"/>
                </a:solidFill>
              </a:rPr>
              <a:t>Quick Answers to Likely Questions</a:t>
            </a:r>
            <a:endParaRPr lang="en-US" sz="2800" dirty="0"/>
          </a:p>
        </p:txBody>
      </p:sp>
      <p:sp>
        <p:nvSpPr>
          <p:cNvPr id="3" name="box-440"/>
          <p:cNvSpPr/>
          <p:nvPr/>
        </p:nvSpPr>
        <p:spPr>
          <a:xfrm>
            <a:off x="457200" y="1005840"/>
            <a:ext cx="2615184" cy="1691640"/>
          </a:xfrm>
          <a:prstGeom prst="roundRect">
            <a:avLst>
              <a:gd name="adj" fmla="val 4324"/>
            </a:avLst>
          </a:prstGeom>
          <a:solidFill>
            <a:schemeClr val="bg2"/>
          </a:solidFill>
          <a:ln/>
        </p:spPr>
      </p:sp>
      <p:sp>
        <p:nvSpPr>
          <p:cNvPr id="4" name="qbadge-441"/>
          <p:cNvSpPr/>
          <p:nvPr/>
        </p:nvSpPr>
        <p:spPr>
          <a:xfrm>
            <a:off x="594360" y="1143000"/>
            <a:ext cx="329184" cy="329184"/>
          </a:xfrm>
          <a:prstGeom prst="ellipse">
            <a:avLst/>
          </a:prstGeom>
          <a:solidFill>
            <a:schemeClr val="accent2"/>
          </a:solidFill>
          <a:ln/>
        </p:spPr>
      </p:sp>
      <p:sp>
        <p:nvSpPr>
          <p:cNvPr id="5" name="text-442"/>
          <p:cNvSpPr txBox="1"/>
          <p:nvPr/>
        </p:nvSpPr>
        <p:spPr>
          <a:xfrm>
            <a:off x="594360" y="11430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Q</a:t>
            </a:r>
            <a:endParaRPr lang="en-US" sz="1300" dirty="0"/>
          </a:p>
        </p:txBody>
      </p:sp>
      <p:sp>
        <p:nvSpPr>
          <p:cNvPr id="6" name="text-443"/>
          <p:cNvSpPr txBox="1"/>
          <p:nvPr/>
        </p:nvSpPr>
        <p:spPr>
          <a:xfrm>
            <a:off x="1005840" y="1115568"/>
            <a:ext cx="1965960" cy="384048"/>
          </a:xfrm>
          <a:prstGeom prst="rect">
            <a:avLst/>
          </a:prstGeom>
          <a:noFill/>
          <a:ln/>
        </p:spPr>
        <p:txBody>
          <a:bodyPr wrap="square" lIns="0" tIns="0" rIns="0" bIns="0" rtlCol="0" anchor="ctr"/>
          <a:lstStyle/>
          <a:p>
            <a:pPr indent="0" marL="0">
              <a:buNone/>
            </a:pPr>
            <a:r>
              <a:rPr lang="en-US" sz="1300" b="1" dirty="0">
                <a:solidFill>
                  <a:schemeClr val="tx2"/>
                </a:solidFill>
              </a:rPr>
              <a:t>Why two databases?</a:t>
            </a:r>
            <a:endParaRPr lang="en-US" sz="1300" dirty="0"/>
          </a:p>
        </p:txBody>
      </p:sp>
      <p:sp>
        <p:nvSpPr>
          <p:cNvPr id="7" name="text-444"/>
          <p:cNvSpPr txBox="1"/>
          <p:nvPr/>
        </p:nvSpPr>
        <p:spPr>
          <a:xfrm>
            <a:off x="594360" y="1600200"/>
            <a:ext cx="2359152" cy="1051560"/>
          </a:xfrm>
          <a:prstGeom prst="rect">
            <a:avLst/>
          </a:prstGeom>
          <a:noFill/>
          <a:ln/>
        </p:spPr>
        <p:txBody>
          <a:bodyPr wrap="square" lIns="0" tIns="0" rIns="0" bIns="0" rtlCol="0" anchor="t"/>
          <a:lstStyle/>
          <a:p>
            <a:pPr indent="0" marL="0">
              <a:buNone/>
            </a:pPr>
            <a:r>
              <a:rPr lang="en-US" sz="1100" dirty="0">
                <a:solidFill>
                  <a:schemeClr val="tx1"/>
                </a:solidFill>
              </a:rPr>
              <a:t>MongoDB keeps users and cases. The law library keeps law sections for meaning-based search. Each can grow or be swapped on its own.</a:t>
            </a:r>
            <a:endParaRPr lang="en-US" sz="1100" dirty="0"/>
          </a:p>
        </p:txBody>
      </p:sp>
      <p:sp>
        <p:nvSpPr>
          <p:cNvPr id="8" name="box-445"/>
          <p:cNvSpPr/>
          <p:nvPr/>
        </p:nvSpPr>
        <p:spPr>
          <a:xfrm>
            <a:off x="3264408" y="1005840"/>
            <a:ext cx="2615184" cy="1691640"/>
          </a:xfrm>
          <a:prstGeom prst="roundRect">
            <a:avLst>
              <a:gd name="adj" fmla="val 4324"/>
            </a:avLst>
          </a:prstGeom>
          <a:solidFill>
            <a:schemeClr val="bg2"/>
          </a:solidFill>
          <a:ln/>
        </p:spPr>
      </p:sp>
      <p:sp>
        <p:nvSpPr>
          <p:cNvPr id="9" name="qbadge-446"/>
          <p:cNvSpPr/>
          <p:nvPr/>
        </p:nvSpPr>
        <p:spPr>
          <a:xfrm>
            <a:off x="3401568" y="1143000"/>
            <a:ext cx="329184" cy="329184"/>
          </a:xfrm>
          <a:prstGeom prst="ellipse">
            <a:avLst/>
          </a:prstGeom>
          <a:solidFill>
            <a:schemeClr val="accent2"/>
          </a:solidFill>
          <a:ln/>
        </p:spPr>
      </p:sp>
      <p:sp>
        <p:nvSpPr>
          <p:cNvPr id="10" name="text-447"/>
          <p:cNvSpPr txBox="1"/>
          <p:nvPr/>
        </p:nvSpPr>
        <p:spPr>
          <a:xfrm>
            <a:off x="3401568" y="11430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Q</a:t>
            </a:r>
            <a:endParaRPr lang="en-US" sz="1300" dirty="0"/>
          </a:p>
        </p:txBody>
      </p:sp>
      <p:sp>
        <p:nvSpPr>
          <p:cNvPr id="11" name="text-448"/>
          <p:cNvSpPr txBox="1"/>
          <p:nvPr/>
        </p:nvSpPr>
        <p:spPr>
          <a:xfrm>
            <a:off x="3813048" y="1115568"/>
            <a:ext cx="1965960" cy="384048"/>
          </a:xfrm>
          <a:prstGeom prst="rect">
            <a:avLst/>
          </a:prstGeom>
          <a:noFill/>
          <a:ln/>
        </p:spPr>
        <p:txBody>
          <a:bodyPr wrap="square" lIns="0" tIns="0" rIns="0" bIns="0" rtlCol="0" anchor="ctr"/>
          <a:lstStyle/>
          <a:p>
            <a:pPr indent="0" marL="0">
              <a:buNone/>
            </a:pPr>
            <a:r>
              <a:rPr lang="en-US" sz="1300" b="1" dirty="0">
                <a:solidFill>
                  <a:schemeClr val="tx2"/>
                </a:solidFill>
              </a:rPr>
              <a:t>Which AI model?</a:t>
            </a:r>
            <a:endParaRPr lang="en-US" sz="1300" dirty="0"/>
          </a:p>
        </p:txBody>
      </p:sp>
      <p:sp>
        <p:nvSpPr>
          <p:cNvPr id="12" name="text-449"/>
          <p:cNvSpPr txBox="1"/>
          <p:nvPr/>
        </p:nvSpPr>
        <p:spPr>
          <a:xfrm>
            <a:off x="3401568" y="1600200"/>
            <a:ext cx="2359152" cy="1051560"/>
          </a:xfrm>
          <a:prstGeom prst="rect">
            <a:avLst/>
          </a:prstGeom>
          <a:noFill/>
          <a:ln/>
        </p:spPr>
        <p:txBody>
          <a:bodyPr wrap="square" lIns="0" tIns="0" rIns="0" bIns="0" rtlCol="0" anchor="t"/>
          <a:lstStyle/>
          <a:p>
            <a:pPr indent="0" marL="0">
              <a:buNone/>
            </a:pPr>
            <a:r>
              <a:rPr lang="en-US" sz="1100" dirty="0">
                <a:solidFill>
                  <a:schemeClr val="tx1"/>
                </a:solidFill>
              </a:rPr>
              <a:t>An open-source LLM, so it runs without a paid service. The law library will be FAISS, Chroma or Qdrant, chosen after testing.</a:t>
            </a:r>
            <a:endParaRPr lang="en-US" sz="1100" dirty="0"/>
          </a:p>
        </p:txBody>
      </p:sp>
      <p:sp>
        <p:nvSpPr>
          <p:cNvPr id="13" name="box-450"/>
          <p:cNvSpPr/>
          <p:nvPr/>
        </p:nvSpPr>
        <p:spPr>
          <a:xfrm>
            <a:off x="6071616" y="1005840"/>
            <a:ext cx="2615184" cy="1691640"/>
          </a:xfrm>
          <a:prstGeom prst="roundRect">
            <a:avLst>
              <a:gd name="adj" fmla="val 4324"/>
            </a:avLst>
          </a:prstGeom>
          <a:solidFill>
            <a:schemeClr val="bg2"/>
          </a:solidFill>
          <a:ln/>
        </p:spPr>
      </p:sp>
      <p:sp>
        <p:nvSpPr>
          <p:cNvPr id="14" name="qbadge-451"/>
          <p:cNvSpPr/>
          <p:nvPr/>
        </p:nvSpPr>
        <p:spPr>
          <a:xfrm>
            <a:off x="6208776" y="1143000"/>
            <a:ext cx="329184" cy="329184"/>
          </a:xfrm>
          <a:prstGeom prst="ellipse">
            <a:avLst/>
          </a:prstGeom>
          <a:solidFill>
            <a:schemeClr val="accent2"/>
          </a:solidFill>
          <a:ln/>
        </p:spPr>
      </p:sp>
      <p:sp>
        <p:nvSpPr>
          <p:cNvPr id="15" name="text-452"/>
          <p:cNvSpPr txBox="1"/>
          <p:nvPr/>
        </p:nvSpPr>
        <p:spPr>
          <a:xfrm>
            <a:off x="6208776" y="11430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Q</a:t>
            </a:r>
            <a:endParaRPr lang="en-US" sz="1300" dirty="0"/>
          </a:p>
        </p:txBody>
      </p:sp>
      <p:sp>
        <p:nvSpPr>
          <p:cNvPr id="16" name="text-453"/>
          <p:cNvSpPr txBox="1"/>
          <p:nvPr/>
        </p:nvSpPr>
        <p:spPr>
          <a:xfrm>
            <a:off x="6620256" y="1115568"/>
            <a:ext cx="1965960" cy="384048"/>
          </a:xfrm>
          <a:prstGeom prst="rect">
            <a:avLst/>
          </a:prstGeom>
          <a:noFill/>
          <a:ln/>
        </p:spPr>
        <p:txBody>
          <a:bodyPr wrap="square" lIns="0" tIns="0" rIns="0" bIns="0" rtlCol="0" anchor="ctr"/>
          <a:lstStyle/>
          <a:p>
            <a:pPr indent="0" marL="0">
              <a:buNone/>
            </a:pPr>
            <a:r>
              <a:rPr lang="en-US" sz="1300" b="1" dirty="0">
                <a:solidFill>
                  <a:schemeClr val="tx2"/>
                </a:solidFill>
              </a:rPr>
              <a:t>Can the AI make things up?</a:t>
            </a:r>
            <a:endParaRPr lang="en-US" sz="1300" dirty="0"/>
          </a:p>
        </p:txBody>
      </p:sp>
      <p:sp>
        <p:nvSpPr>
          <p:cNvPr id="17" name="text-454"/>
          <p:cNvSpPr txBox="1"/>
          <p:nvPr/>
        </p:nvSpPr>
        <p:spPr>
          <a:xfrm>
            <a:off x="6208776" y="1600200"/>
            <a:ext cx="2359152" cy="1051560"/>
          </a:xfrm>
          <a:prstGeom prst="rect">
            <a:avLst/>
          </a:prstGeom>
          <a:noFill/>
          <a:ln/>
        </p:spPr>
        <p:txBody>
          <a:bodyPr wrap="square" lIns="0" tIns="0" rIns="0" bIns="0" rtlCol="0" anchor="t"/>
          <a:lstStyle/>
          <a:p>
            <a:pPr indent="0" marL="0">
              <a:buNone/>
            </a:pPr>
            <a:r>
              <a:rPr lang="en-US" sz="1100" dirty="0">
                <a:solidFill>
                  <a:schemeClr val="tx1"/>
                </a:solidFill>
              </a:rPr>
              <a:t>It only sees verified law text, must tag every point with a source, and we check those sources before showing the answer.</a:t>
            </a:r>
            <a:endParaRPr lang="en-US" sz="1100" dirty="0"/>
          </a:p>
        </p:txBody>
      </p:sp>
      <p:sp>
        <p:nvSpPr>
          <p:cNvPr id="18" name="box-455"/>
          <p:cNvSpPr/>
          <p:nvPr/>
        </p:nvSpPr>
        <p:spPr>
          <a:xfrm>
            <a:off x="457200" y="2834640"/>
            <a:ext cx="2615184" cy="1691640"/>
          </a:xfrm>
          <a:prstGeom prst="roundRect">
            <a:avLst>
              <a:gd name="adj" fmla="val 4324"/>
            </a:avLst>
          </a:prstGeom>
          <a:solidFill>
            <a:schemeClr val="bg2"/>
          </a:solidFill>
          <a:ln/>
        </p:spPr>
      </p:sp>
      <p:sp>
        <p:nvSpPr>
          <p:cNvPr id="19" name="qbadge-456"/>
          <p:cNvSpPr/>
          <p:nvPr/>
        </p:nvSpPr>
        <p:spPr>
          <a:xfrm>
            <a:off x="594360" y="2971800"/>
            <a:ext cx="329184" cy="329184"/>
          </a:xfrm>
          <a:prstGeom prst="ellipse">
            <a:avLst/>
          </a:prstGeom>
          <a:solidFill>
            <a:schemeClr val="accent2"/>
          </a:solidFill>
          <a:ln/>
        </p:spPr>
      </p:sp>
      <p:sp>
        <p:nvSpPr>
          <p:cNvPr id="20" name="text-457"/>
          <p:cNvSpPr txBox="1"/>
          <p:nvPr/>
        </p:nvSpPr>
        <p:spPr>
          <a:xfrm>
            <a:off x="594360" y="29718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Q</a:t>
            </a:r>
            <a:endParaRPr lang="en-US" sz="1300" dirty="0"/>
          </a:p>
        </p:txBody>
      </p:sp>
      <p:sp>
        <p:nvSpPr>
          <p:cNvPr id="21" name="text-458"/>
          <p:cNvSpPr txBox="1"/>
          <p:nvPr/>
        </p:nvSpPr>
        <p:spPr>
          <a:xfrm>
            <a:off x="1005840" y="2944368"/>
            <a:ext cx="1965960" cy="384048"/>
          </a:xfrm>
          <a:prstGeom prst="rect">
            <a:avLst/>
          </a:prstGeom>
          <a:noFill/>
          <a:ln/>
        </p:spPr>
        <p:txBody>
          <a:bodyPr wrap="square" lIns="0" tIns="0" rIns="0" bIns="0" rtlCol="0" anchor="ctr"/>
          <a:lstStyle/>
          <a:p>
            <a:pPr indent="0" marL="0">
              <a:buNone/>
            </a:pPr>
            <a:r>
              <a:rPr lang="en-US" sz="1300" b="1" dirty="0">
                <a:solidFill>
                  <a:schemeClr val="tx2"/>
                </a:solidFill>
              </a:rPr>
              <a:t>What if no law matches?</a:t>
            </a:r>
            <a:endParaRPr lang="en-US" sz="1300" dirty="0"/>
          </a:p>
        </p:txBody>
      </p:sp>
      <p:sp>
        <p:nvSpPr>
          <p:cNvPr id="22" name="text-459"/>
          <p:cNvSpPr txBox="1"/>
          <p:nvPr/>
        </p:nvSpPr>
        <p:spPr>
          <a:xfrm>
            <a:off x="594360" y="3429000"/>
            <a:ext cx="2359152" cy="1051560"/>
          </a:xfrm>
          <a:prstGeom prst="rect">
            <a:avLst/>
          </a:prstGeom>
          <a:noFill/>
          <a:ln/>
        </p:spPr>
        <p:txBody>
          <a:bodyPr wrap="square" lIns="0" tIns="0" rIns="0" bIns="0" rtlCol="0" anchor="t"/>
          <a:lstStyle/>
          <a:p>
            <a:pPr indent="0" marL="0">
              <a:buNone/>
            </a:pPr>
            <a:r>
              <a:rPr lang="en-US" sz="1100" dirty="0">
                <a:solidFill>
                  <a:schemeClr val="tx1"/>
                </a:solidFill>
              </a:rPr>
              <a:t>Planned: tell the user honestly that no verified source was found, and suggest a verified lawyer instead of guessing.</a:t>
            </a:r>
            <a:endParaRPr lang="en-US" sz="1100" dirty="0"/>
          </a:p>
        </p:txBody>
      </p:sp>
      <p:sp>
        <p:nvSpPr>
          <p:cNvPr id="23" name="box-460"/>
          <p:cNvSpPr/>
          <p:nvPr/>
        </p:nvSpPr>
        <p:spPr>
          <a:xfrm>
            <a:off x="3264408" y="2834640"/>
            <a:ext cx="2615184" cy="1691640"/>
          </a:xfrm>
          <a:prstGeom prst="roundRect">
            <a:avLst>
              <a:gd name="adj" fmla="val 4324"/>
            </a:avLst>
          </a:prstGeom>
          <a:solidFill>
            <a:schemeClr val="bg2"/>
          </a:solidFill>
          <a:ln/>
        </p:spPr>
      </p:sp>
      <p:sp>
        <p:nvSpPr>
          <p:cNvPr id="24" name="qbadge-461"/>
          <p:cNvSpPr/>
          <p:nvPr/>
        </p:nvSpPr>
        <p:spPr>
          <a:xfrm>
            <a:off x="3401568" y="2971800"/>
            <a:ext cx="329184" cy="329184"/>
          </a:xfrm>
          <a:prstGeom prst="ellipse">
            <a:avLst/>
          </a:prstGeom>
          <a:solidFill>
            <a:schemeClr val="accent2"/>
          </a:solidFill>
          <a:ln/>
        </p:spPr>
      </p:sp>
      <p:sp>
        <p:nvSpPr>
          <p:cNvPr id="25" name="text-462"/>
          <p:cNvSpPr txBox="1"/>
          <p:nvPr/>
        </p:nvSpPr>
        <p:spPr>
          <a:xfrm>
            <a:off x="3401568" y="29718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Q</a:t>
            </a:r>
            <a:endParaRPr lang="en-US" sz="1300" dirty="0"/>
          </a:p>
        </p:txBody>
      </p:sp>
      <p:sp>
        <p:nvSpPr>
          <p:cNvPr id="26" name="text-463"/>
          <p:cNvSpPr txBox="1"/>
          <p:nvPr/>
        </p:nvSpPr>
        <p:spPr>
          <a:xfrm>
            <a:off x="3813048" y="2944368"/>
            <a:ext cx="1965960" cy="384048"/>
          </a:xfrm>
          <a:prstGeom prst="rect">
            <a:avLst/>
          </a:prstGeom>
          <a:noFill/>
          <a:ln/>
        </p:spPr>
        <p:txBody>
          <a:bodyPr wrap="square" lIns="0" tIns="0" rIns="0" bIns="0" rtlCol="0" anchor="ctr"/>
          <a:lstStyle/>
          <a:p>
            <a:pPr indent="0" marL="0">
              <a:buNone/>
            </a:pPr>
            <a:r>
              <a:rPr lang="en-US" sz="1300" b="1" dirty="0">
                <a:solidFill>
                  <a:schemeClr val="tx2"/>
                </a:solidFill>
              </a:rPr>
              <a:t>Does it replace lawyers?</a:t>
            </a:r>
            <a:endParaRPr lang="en-US" sz="1300" dirty="0"/>
          </a:p>
        </p:txBody>
      </p:sp>
      <p:sp>
        <p:nvSpPr>
          <p:cNvPr id="27" name="text-464"/>
          <p:cNvSpPr txBox="1"/>
          <p:nvPr/>
        </p:nvSpPr>
        <p:spPr>
          <a:xfrm>
            <a:off x="3401568" y="3429000"/>
            <a:ext cx="2359152" cy="1051560"/>
          </a:xfrm>
          <a:prstGeom prst="rect">
            <a:avLst/>
          </a:prstGeom>
          <a:noFill/>
          <a:ln/>
        </p:spPr>
        <p:txBody>
          <a:bodyPr wrap="square" lIns="0" tIns="0" rIns="0" bIns="0" rtlCol="0" anchor="t"/>
          <a:lstStyle/>
          <a:p>
            <a:pPr indent="0" marL="0">
              <a:buNone/>
            </a:pPr>
            <a:r>
              <a:rPr lang="en-US" sz="1100" dirty="0">
                <a:solidFill>
                  <a:schemeClr val="tx1"/>
                </a:solidFill>
              </a:rPr>
              <a:t>No. It helps people understand their situation. Anything needing professional judgment should go to a lawyer.</a:t>
            </a:r>
            <a:endParaRPr lang="en-US" sz="1100" dirty="0"/>
          </a:p>
        </p:txBody>
      </p:sp>
      <p:sp>
        <p:nvSpPr>
          <p:cNvPr id="28" name="box-465"/>
          <p:cNvSpPr/>
          <p:nvPr/>
        </p:nvSpPr>
        <p:spPr>
          <a:xfrm>
            <a:off x="6071616" y="2834640"/>
            <a:ext cx="2615184" cy="1691640"/>
          </a:xfrm>
          <a:prstGeom prst="roundRect">
            <a:avLst>
              <a:gd name="adj" fmla="val 4324"/>
            </a:avLst>
          </a:prstGeom>
          <a:solidFill>
            <a:schemeClr val="bg2"/>
          </a:solidFill>
          <a:ln/>
        </p:spPr>
      </p:sp>
      <p:sp>
        <p:nvSpPr>
          <p:cNvPr id="29" name="qbadge-466"/>
          <p:cNvSpPr/>
          <p:nvPr/>
        </p:nvSpPr>
        <p:spPr>
          <a:xfrm>
            <a:off x="6208776" y="2971800"/>
            <a:ext cx="329184" cy="329184"/>
          </a:xfrm>
          <a:prstGeom prst="ellipse">
            <a:avLst/>
          </a:prstGeom>
          <a:solidFill>
            <a:schemeClr val="accent2"/>
          </a:solidFill>
          <a:ln/>
        </p:spPr>
      </p:sp>
      <p:sp>
        <p:nvSpPr>
          <p:cNvPr id="30" name="text-467"/>
          <p:cNvSpPr txBox="1"/>
          <p:nvPr/>
        </p:nvSpPr>
        <p:spPr>
          <a:xfrm>
            <a:off x="6208776" y="29718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Q</a:t>
            </a:r>
            <a:endParaRPr lang="en-US" sz="1300" dirty="0"/>
          </a:p>
        </p:txBody>
      </p:sp>
      <p:sp>
        <p:nvSpPr>
          <p:cNvPr id="31" name="text-468"/>
          <p:cNvSpPr txBox="1"/>
          <p:nvPr/>
        </p:nvSpPr>
        <p:spPr>
          <a:xfrm>
            <a:off x="6620256" y="2944368"/>
            <a:ext cx="1965960" cy="384048"/>
          </a:xfrm>
          <a:prstGeom prst="rect">
            <a:avLst/>
          </a:prstGeom>
          <a:noFill/>
          <a:ln/>
        </p:spPr>
        <p:txBody>
          <a:bodyPr wrap="square" lIns="0" tIns="0" rIns="0" bIns="0" rtlCol="0" anchor="ctr"/>
          <a:lstStyle/>
          <a:p>
            <a:pPr indent="0" marL="0">
              <a:buNone/>
            </a:pPr>
            <a:r>
              <a:rPr lang="en-US" sz="1300" b="1" dirty="0">
                <a:solidFill>
                  <a:schemeClr val="tx2"/>
                </a:solidFill>
              </a:rPr>
              <a:t>Why only property and family?</a:t>
            </a:r>
            <a:endParaRPr lang="en-US" sz="1300" dirty="0"/>
          </a:p>
        </p:txBody>
      </p:sp>
      <p:sp>
        <p:nvSpPr>
          <p:cNvPr id="32" name="text-469"/>
          <p:cNvSpPr txBox="1"/>
          <p:nvPr/>
        </p:nvSpPr>
        <p:spPr>
          <a:xfrm>
            <a:off x="6208776" y="3429000"/>
            <a:ext cx="2359152" cy="1051560"/>
          </a:xfrm>
          <a:prstGeom prst="rect">
            <a:avLst/>
          </a:prstGeom>
          <a:noFill/>
          <a:ln/>
        </p:spPr>
        <p:txBody>
          <a:bodyPr wrap="square" lIns="0" tIns="0" rIns="0" bIns="0" rtlCol="0" anchor="t"/>
          <a:lstStyle/>
          <a:p>
            <a:pPr indent="0" marL="0">
              <a:buNone/>
            </a:pPr>
            <a:r>
              <a:rPr lang="en-US" sz="1100" dirty="0">
                <a:solidFill>
                  <a:schemeClr val="tx1"/>
                </a:solidFill>
              </a:rPr>
              <a:t>A small, checked set of laws is more reliable. More areas can be added later by adding more verified laws.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Legal Teal">
  <a:themeElements>
    <a:clrScheme name="Legal Teal">
      <a:dk1>
        <a:srgbClr val="1F2A2E"/>
      </a:dk1>
      <a:lt1>
        <a:srgbClr val="FFFFFF"/>
      </a:lt1>
      <a:dk2>
        <a:srgbClr val="0F3D3A"/>
      </a:dk2>
      <a:lt2>
        <a:srgbClr val="EAF4F2"/>
      </a:lt2>
      <a:accent1>
        <a:srgbClr val="2A8C7E"/>
      </a:accent1>
      <a:accent2>
        <a:srgbClr val="C99A2E"/>
      </a:accent2>
      <a:accent3>
        <a:srgbClr val="BFDDD7"/>
      </a:accent3>
      <a:accent4>
        <a:srgbClr val="F6EBD1"/>
      </a:accent4>
      <a:accent5>
        <a:srgbClr val="5B6B70"/>
      </a:accent5>
      <a:accent6>
        <a:srgbClr val="B5523B"/>
      </a:accent6>
      <a:hlink>
        <a:srgbClr val="2A8C7E"/>
      </a:hlink>
      <a:folHlink>
        <a:srgbClr val="5B6B70"/>
      </a:folHlink>
    </a:clrScheme>
    <a:fontScheme name="Legal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Powered Legal Advisor and Analyzer</dc:title>
  <dc:subject>PptxGenJS Presentation</dc:subject>
  <dc:creator>Muhammad Nabeel, Ashir Qureshi, Muhammad Sharjeel</dc:creator>
  <cp:lastModifiedBy>Muhammad Nabeel, Ashir Qureshi, Muhammad Sharjeel</cp:lastModifiedBy>
  <cp:revision>1</cp:revision>
  <dcterms:created xsi:type="dcterms:W3CDTF">2026-10-06T15:48:02Z</dcterms:created>
  <dcterms:modified xsi:type="dcterms:W3CDTF">2026-10-06T15:48:02Z</dcterms:modified>
</cp:coreProperties>
</file>